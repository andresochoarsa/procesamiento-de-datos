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61" r:id="rId5"/>
    <p:sldId id="262" r:id="rId6"/>
    <p:sldId id="263" r:id="rId7"/>
    <p:sldId id="264" r:id="rId8"/>
    <p:sldId id="265" r:id="rId9"/>
    <p:sldId id="258" r:id="rId10"/>
    <p:sldId id="259" r:id="rId11"/>
    <p:sldId id="267" r:id="rId12"/>
    <p:sldId id="266" r:id="rId13"/>
    <p:sldId id="268" r:id="rId14"/>
    <p:sldId id="270" r:id="rId15"/>
    <p:sldId id="269" r:id="rId16"/>
    <p:sldId id="279" r:id="rId17"/>
    <p:sldId id="271" r:id="rId18"/>
    <p:sldId id="272" r:id="rId19"/>
    <p:sldId id="273" r:id="rId20"/>
    <p:sldId id="274" r:id="rId21"/>
    <p:sldId id="275" r:id="rId22"/>
    <p:sldId id="276" r:id="rId23"/>
    <p:sldId id="278" r:id="rId24"/>
    <p:sldId id="277" r:id="rId25"/>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4"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2A7460-9C84-B344-92C0-DEA69C4ACF5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49679E94-686E-AA6A-B053-0183888342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D0955E44-0DE6-2E04-B8DB-4D6BE54E83E0}"/>
              </a:ext>
            </a:extLst>
          </p:cNvPr>
          <p:cNvSpPr>
            <a:spLocks noGrp="1"/>
          </p:cNvSpPr>
          <p:nvPr>
            <p:ph type="dt" sz="half" idx="10"/>
          </p:nvPr>
        </p:nvSpPr>
        <p:spPr/>
        <p:txBody>
          <a:bodyPr/>
          <a:lstStyle/>
          <a:p>
            <a:fld id="{E0528AFA-0C1B-47D7-83B1-FA53DB5E02F4}" type="datetimeFigureOut">
              <a:rPr lang="es-EC" smtClean="0"/>
              <a:t>19/2/2026</a:t>
            </a:fld>
            <a:endParaRPr lang="es-EC"/>
          </a:p>
        </p:txBody>
      </p:sp>
      <p:sp>
        <p:nvSpPr>
          <p:cNvPr id="5" name="Marcador de pie de página 4">
            <a:extLst>
              <a:ext uri="{FF2B5EF4-FFF2-40B4-BE49-F238E27FC236}">
                <a16:creationId xmlns:a16="http://schemas.microsoft.com/office/drawing/2014/main" id="{EC30E484-4A1D-2806-1FBD-AC7C3CCF7E7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5D95353D-3D44-586F-C36D-449DFD65084E}"/>
              </a:ext>
            </a:extLst>
          </p:cNvPr>
          <p:cNvSpPr>
            <a:spLocks noGrp="1"/>
          </p:cNvSpPr>
          <p:nvPr>
            <p:ph type="sldNum" sz="quarter" idx="12"/>
          </p:nvPr>
        </p:nvSpPr>
        <p:spPr/>
        <p:txBody>
          <a:bodyPr/>
          <a:lstStyle/>
          <a:p>
            <a:fld id="{2BB5E24F-3A84-47EC-A2A0-C839D4B89844}" type="slidenum">
              <a:rPr lang="es-EC" smtClean="0"/>
              <a:t>‹Nº›</a:t>
            </a:fld>
            <a:endParaRPr lang="es-EC"/>
          </a:p>
        </p:txBody>
      </p:sp>
    </p:spTree>
    <p:extLst>
      <p:ext uri="{BB962C8B-B14F-4D97-AF65-F5344CB8AC3E}">
        <p14:creationId xmlns:p14="http://schemas.microsoft.com/office/powerpoint/2010/main" val="1115529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F0770B-D8A7-2CB0-846E-F047FD1E5290}"/>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78CF48A-3258-9CEA-9EA7-4842539CA29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513EBE7-FE59-71FA-7EFD-CA65FE423655}"/>
              </a:ext>
            </a:extLst>
          </p:cNvPr>
          <p:cNvSpPr>
            <a:spLocks noGrp="1"/>
          </p:cNvSpPr>
          <p:nvPr>
            <p:ph type="dt" sz="half" idx="10"/>
          </p:nvPr>
        </p:nvSpPr>
        <p:spPr/>
        <p:txBody>
          <a:bodyPr/>
          <a:lstStyle/>
          <a:p>
            <a:fld id="{E0528AFA-0C1B-47D7-83B1-FA53DB5E02F4}" type="datetimeFigureOut">
              <a:rPr lang="es-EC" smtClean="0"/>
              <a:t>19/2/2026</a:t>
            </a:fld>
            <a:endParaRPr lang="es-EC"/>
          </a:p>
        </p:txBody>
      </p:sp>
      <p:sp>
        <p:nvSpPr>
          <p:cNvPr id="5" name="Marcador de pie de página 4">
            <a:extLst>
              <a:ext uri="{FF2B5EF4-FFF2-40B4-BE49-F238E27FC236}">
                <a16:creationId xmlns:a16="http://schemas.microsoft.com/office/drawing/2014/main" id="{20B393E2-8992-A9B7-2AD2-F4B4818EF932}"/>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59889922-C04D-E3EA-0F66-2C0E403ECDFD}"/>
              </a:ext>
            </a:extLst>
          </p:cNvPr>
          <p:cNvSpPr>
            <a:spLocks noGrp="1"/>
          </p:cNvSpPr>
          <p:nvPr>
            <p:ph type="sldNum" sz="quarter" idx="12"/>
          </p:nvPr>
        </p:nvSpPr>
        <p:spPr/>
        <p:txBody>
          <a:bodyPr/>
          <a:lstStyle/>
          <a:p>
            <a:fld id="{2BB5E24F-3A84-47EC-A2A0-C839D4B89844}" type="slidenum">
              <a:rPr lang="es-EC" smtClean="0"/>
              <a:t>‹Nº›</a:t>
            </a:fld>
            <a:endParaRPr lang="es-EC"/>
          </a:p>
        </p:txBody>
      </p:sp>
    </p:spTree>
    <p:extLst>
      <p:ext uri="{BB962C8B-B14F-4D97-AF65-F5344CB8AC3E}">
        <p14:creationId xmlns:p14="http://schemas.microsoft.com/office/powerpoint/2010/main" val="991877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6FE214-F584-AD5A-2E7C-8AEEAB89B89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33FE33E0-1718-BF32-970F-FBE44CF744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8A8D227-E8A8-F99D-E64F-A2B3FB45D230}"/>
              </a:ext>
            </a:extLst>
          </p:cNvPr>
          <p:cNvSpPr>
            <a:spLocks noGrp="1"/>
          </p:cNvSpPr>
          <p:nvPr>
            <p:ph type="dt" sz="half" idx="10"/>
          </p:nvPr>
        </p:nvSpPr>
        <p:spPr/>
        <p:txBody>
          <a:bodyPr/>
          <a:lstStyle/>
          <a:p>
            <a:fld id="{E0528AFA-0C1B-47D7-83B1-FA53DB5E02F4}" type="datetimeFigureOut">
              <a:rPr lang="es-EC" smtClean="0"/>
              <a:t>19/2/2026</a:t>
            </a:fld>
            <a:endParaRPr lang="es-EC"/>
          </a:p>
        </p:txBody>
      </p:sp>
      <p:sp>
        <p:nvSpPr>
          <p:cNvPr id="5" name="Marcador de pie de página 4">
            <a:extLst>
              <a:ext uri="{FF2B5EF4-FFF2-40B4-BE49-F238E27FC236}">
                <a16:creationId xmlns:a16="http://schemas.microsoft.com/office/drawing/2014/main" id="{EC6BAD59-9C71-DF3B-0698-F6E34CEFFA0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F6973770-3019-C21D-304D-2715B18CCF30}"/>
              </a:ext>
            </a:extLst>
          </p:cNvPr>
          <p:cNvSpPr>
            <a:spLocks noGrp="1"/>
          </p:cNvSpPr>
          <p:nvPr>
            <p:ph type="sldNum" sz="quarter" idx="12"/>
          </p:nvPr>
        </p:nvSpPr>
        <p:spPr/>
        <p:txBody>
          <a:bodyPr/>
          <a:lstStyle/>
          <a:p>
            <a:fld id="{2BB5E24F-3A84-47EC-A2A0-C839D4B89844}" type="slidenum">
              <a:rPr lang="es-EC" smtClean="0"/>
              <a:t>‹Nº›</a:t>
            </a:fld>
            <a:endParaRPr lang="es-EC"/>
          </a:p>
        </p:txBody>
      </p:sp>
    </p:spTree>
    <p:extLst>
      <p:ext uri="{BB962C8B-B14F-4D97-AF65-F5344CB8AC3E}">
        <p14:creationId xmlns:p14="http://schemas.microsoft.com/office/powerpoint/2010/main" val="3866741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9155B7-83AC-CA45-3ADD-45129387973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178F1232-93E5-7AC8-F79A-DB46E68C900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4725C253-AFB6-D394-D596-A05B7CDD806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99B97091-A404-2198-F995-3D3B1C85991E}"/>
              </a:ext>
            </a:extLst>
          </p:cNvPr>
          <p:cNvSpPr>
            <a:spLocks noGrp="1"/>
          </p:cNvSpPr>
          <p:nvPr>
            <p:ph type="dt" sz="half" idx="10"/>
          </p:nvPr>
        </p:nvSpPr>
        <p:spPr/>
        <p:txBody>
          <a:bodyPr/>
          <a:lstStyle/>
          <a:p>
            <a:fld id="{E0528AFA-0C1B-47D7-83B1-FA53DB5E02F4}" type="datetimeFigureOut">
              <a:rPr lang="es-EC" smtClean="0"/>
              <a:t>19/2/2026</a:t>
            </a:fld>
            <a:endParaRPr lang="es-EC"/>
          </a:p>
        </p:txBody>
      </p:sp>
      <p:sp>
        <p:nvSpPr>
          <p:cNvPr id="6" name="Marcador de pie de página 5">
            <a:extLst>
              <a:ext uri="{FF2B5EF4-FFF2-40B4-BE49-F238E27FC236}">
                <a16:creationId xmlns:a16="http://schemas.microsoft.com/office/drawing/2014/main" id="{EE9F2A23-F4E4-1521-5A90-94FFA08215F7}"/>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71C85EF6-FD27-5886-BEA7-B50ACD14F968}"/>
              </a:ext>
            </a:extLst>
          </p:cNvPr>
          <p:cNvSpPr>
            <a:spLocks noGrp="1"/>
          </p:cNvSpPr>
          <p:nvPr>
            <p:ph type="sldNum" sz="quarter" idx="12"/>
          </p:nvPr>
        </p:nvSpPr>
        <p:spPr/>
        <p:txBody>
          <a:bodyPr/>
          <a:lstStyle/>
          <a:p>
            <a:fld id="{2BB5E24F-3A84-47EC-A2A0-C839D4B89844}" type="slidenum">
              <a:rPr lang="es-EC" smtClean="0"/>
              <a:t>‹Nº›</a:t>
            </a:fld>
            <a:endParaRPr lang="es-EC"/>
          </a:p>
        </p:txBody>
      </p:sp>
    </p:spTree>
    <p:extLst>
      <p:ext uri="{BB962C8B-B14F-4D97-AF65-F5344CB8AC3E}">
        <p14:creationId xmlns:p14="http://schemas.microsoft.com/office/powerpoint/2010/main" val="1042400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C737E4-F3C5-DE96-927A-BB35C2ECB16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580C9175-29B2-914B-E1F3-AC04AE2788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F27022E-D5C1-AE33-6CE4-E08306D81B9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1F45E17E-AD6C-0D97-E422-A225E39970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18CF85F-8BB3-D928-81E3-CEA450549B6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4CCDEFB7-3139-B356-26D8-6E74C636141B}"/>
              </a:ext>
            </a:extLst>
          </p:cNvPr>
          <p:cNvSpPr>
            <a:spLocks noGrp="1"/>
          </p:cNvSpPr>
          <p:nvPr>
            <p:ph type="dt" sz="half" idx="10"/>
          </p:nvPr>
        </p:nvSpPr>
        <p:spPr/>
        <p:txBody>
          <a:bodyPr/>
          <a:lstStyle/>
          <a:p>
            <a:fld id="{E0528AFA-0C1B-47D7-83B1-FA53DB5E02F4}" type="datetimeFigureOut">
              <a:rPr lang="es-EC" smtClean="0"/>
              <a:t>19/2/2026</a:t>
            </a:fld>
            <a:endParaRPr lang="es-EC"/>
          </a:p>
        </p:txBody>
      </p:sp>
      <p:sp>
        <p:nvSpPr>
          <p:cNvPr id="8" name="Marcador de pie de página 7">
            <a:extLst>
              <a:ext uri="{FF2B5EF4-FFF2-40B4-BE49-F238E27FC236}">
                <a16:creationId xmlns:a16="http://schemas.microsoft.com/office/drawing/2014/main" id="{2B207EBD-AA1C-5AF3-96BE-48B24A4F3944}"/>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E09D4907-9667-79FF-49C4-EF62136B96A9}"/>
              </a:ext>
            </a:extLst>
          </p:cNvPr>
          <p:cNvSpPr>
            <a:spLocks noGrp="1"/>
          </p:cNvSpPr>
          <p:nvPr>
            <p:ph type="sldNum" sz="quarter" idx="12"/>
          </p:nvPr>
        </p:nvSpPr>
        <p:spPr/>
        <p:txBody>
          <a:bodyPr/>
          <a:lstStyle/>
          <a:p>
            <a:fld id="{2BB5E24F-3A84-47EC-A2A0-C839D4B89844}" type="slidenum">
              <a:rPr lang="es-EC" smtClean="0"/>
              <a:t>‹Nº›</a:t>
            </a:fld>
            <a:endParaRPr lang="es-EC"/>
          </a:p>
        </p:txBody>
      </p:sp>
    </p:spTree>
    <p:extLst>
      <p:ext uri="{BB962C8B-B14F-4D97-AF65-F5344CB8AC3E}">
        <p14:creationId xmlns:p14="http://schemas.microsoft.com/office/powerpoint/2010/main" val="2257234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30C4AA-D62F-984B-E581-962A01FBD9E4}"/>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F96E247D-7A1E-67FE-A8CF-2EDCBE1D2EA8}"/>
              </a:ext>
            </a:extLst>
          </p:cNvPr>
          <p:cNvSpPr>
            <a:spLocks noGrp="1"/>
          </p:cNvSpPr>
          <p:nvPr>
            <p:ph type="dt" sz="half" idx="10"/>
          </p:nvPr>
        </p:nvSpPr>
        <p:spPr/>
        <p:txBody>
          <a:bodyPr/>
          <a:lstStyle/>
          <a:p>
            <a:fld id="{E0528AFA-0C1B-47D7-83B1-FA53DB5E02F4}" type="datetimeFigureOut">
              <a:rPr lang="es-EC" smtClean="0"/>
              <a:t>19/2/2026</a:t>
            </a:fld>
            <a:endParaRPr lang="es-EC"/>
          </a:p>
        </p:txBody>
      </p:sp>
      <p:sp>
        <p:nvSpPr>
          <p:cNvPr id="4" name="Marcador de pie de página 3">
            <a:extLst>
              <a:ext uri="{FF2B5EF4-FFF2-40B4-BE49-F238E27FC236}">
                <a16:creationId xmlns:a16="http://schemas.microsoft.com/office/drawing/2014/main" id="{CE1AA95A-42C0-B5EE-F3BA-F9E542301B4B}"/>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0A0F7A60-50FF-902E-2ECF-C31F6ED3CC3E}"/>
              </a:ext>
            </a:extLst>
          </p:cNvPr>
          <p:cNvSpPr>
            <a:spLocks noGrp="1"/>
          </p:cNvSpPr>
          <p:nvPr>
            <p:ph type="sldNum" sz="quarter" idx="12"/>
          </p:nvPr>
        </p:nvSpPr>
        <p:spPr/>
        <p:txBody>
          <a:bodyPr/>
          <a:lstStyle/>
          <a:p>
            <a:fld id="{2BB5E24F-3A84-47EC-A2A0-C839D4B89844}" type="slidenum">
              <a:rPr lang="es-EC" smtClean="0"/>
              <a:t>‹Nº›</a:t>
            </a:fld>
            <a:endParaRPr lang="es-EC"/>
          </a:p>
        </p:txBody>
      </p:sp>
    </p:spTree>
    <p:extLst>
      <p:ext uri="{BB962C8B-B14F-4D97-AF65-F5344CB8AC3E}">
        <p14:creationId xmlns:p14="http://schemas.microsoft.com/office/powerpoint/2010/main" val="4265104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B90A7C3-07A0-635A-5892-8186125B1ECF}"/>
              </a:ext>
            </a:extLst>
          </p:cNvPr>
          <p:cNvSpPr>
            <a:spLocks noGrp="1"/>
          </p:cNvSpPr>
          <p:nvPr>
            <p:ph type="dt" sz="half" idx="10"/>
          </p:nvPr>
        </p:nvSpPr>
        <p:spPr/>
        <p:txBody>
          <a:bodyPr/>
          <a:lstStyle/>
          <a:p>
            <a:fld id="{E0528AFA-0C1B-47D7-83B1-FA53DB5E02F4}" type="datetimeFigureOut">
              <a:rPr lang="es-EC" smtClean="0"/>
              <a:t>19/2/2026</a:t>
            </a:fld>
            <a:endParaRPr lang="es-EC"/>
          </a:p>
        </p:txBody>
      </p:sp>
      <p:sp>
        <p:nvSpPr>
          <p:cNvPr id="3" name="Marcador de pie de página 2">
            <a:extLst>
              <a:ext uri="{FF2B5EF4-FFF2-40B4-BE49-F238E27FC236}">
                <a16:creationId xmlns:a16="http://schemas.microsoft.com/office/drawing/2014/main" id="{BEE023A9-09B6-CA6A-71DF-D081304580A7}"/>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991DAC8D-B97F-716B-8BA1-1BF4E63C8540}"/>
              </a:ext>
            </a:extLst>
          </p:cNvPr>
          <p:cNvSpPr>
            <a:spLocks noGrp="1"/>
          </p:cNvSpPr>
          <p:nvPr>
            <p:ph type="sldNum" sz="quarter" idx="12"/>
          </p:nvPr>
        </p:nvSpPr>
        <p:spPr/>
        <p:txBody>
          <a:bodyPr/>
          <a:lstStyle/>
          <a:p>
            <a:fld id="{2BB5E24F-3A84-47EC-A2A0-C839D4B89844}" type="slidenum">
              <a:rPr lang="es-EC" smtClean="0"/>
              <a:t>‹Nº›</a:t>
            </a:fld>
            <a:endParaRPr lang="es-EC"/>
          </a:p>
        </p:txBody>
      </p:sp>
    </p:spTree>
    <p:extLst>
      <p:ext uri="{BB962C8B-B14F-4D97-AF65-F5344CB8AC3E}">
        <p14:creationId xmlns:p14="http://schemas.microsoft.com/office/powerpoint/2010/main" val="1694564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48B495-1293-3E71-5548-8B5BD86530C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D3C3C7FC-4301-7E69-1FE9-5353CDE921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F63A4E72-079F-11C1-3540-79CA9AA7ED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3B504FC-76B2-7A76-93F7-9734AC9B44C8}"/>
              </a:ext>
            </a:extLst>
          </p:cNvPr>
          <p:cNvSpPr>
            <a:spLocks noGrp="1"/>
          </p:cNvSpPr>
          <p:nvPr>
            <p:ph type="dt" sz="half" idx="10"/>
          </p:nvPr>
        </p:nvSpPr>
        <p:spPr/>
        <p:txBody>
          <a:bodyPr/>
          <a:lstStyle/>
          <a:p>
            <a:fld id="{E0528AFA-0C1B-47D7-83B1-FA53DB5E02F4}" type="datetimeFigureOut">
              <a:rPr lang="es-EC" smtClean="0"/>
              <a:t>19/2/2026</a:t>
            </a:fld>
            <a:endParaRPr lang="es-EC"/>
          </a:p>
        </p:txBody>
      </p:sp>
      <p:sp>
        <p:nvSpPr>
          <p:cNvPr id="6" name="Marcador de pie de página 5">
            <a:extLst>
              <a:ext uri="{FF2B5EF4-FFF2-40B4-BE49-F238E27FC236}">
                <a16:creationId xmlns:a16="http://schemas.microsoft.com/office/drawing/2014/main" id="{D7A137DD-F1CC-0A69-76B4-67B165FF3A26}"/>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153CEAF0-85B4-7834-5D03-81F80DE3FA4A}"/>
              </a:ext>
            </a:extLst>
          </p:cNvPr>
          <p:cNvSpPr>
            <a:spLocks noGrp="1"/>
          </p:cNvSpPr>
          <p:nvPr>
            <p:ph type="sldNum" sz="quarter" idx="12"/>
          </p:nvPr>
        </p:nvSpPr>
        <p:spPr/>
        <p:txBody>
          <a:bodyPr/>
          <a:lstStyle/>
          <a:p>
            <a:fld id="{2BB5E24F-3A84-47EC-A2A0-C839D4B89844}" type="slidenum">
              <a:rPr lang="es-EC" smtClean="0"/>
              <a:t>‹Nº›</a:t>
            </a:fld>
            <a:endParaRPr lang="es-EC"/>
          </a:p>
        </p:txBody>
      </p:sp>
    </p:spTree>
    <p:extLst>
      <p:ext uri="{BB962C8B-B14F-4D97-AF65-F5344CB8AC3E}">
        <p14:creationId xmlns:p14="http://schemas.microsoft.com/office/powerpoint/2010/main" val="3998009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3D053A-E91B-0FA2-F518-FD831A14DB1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BF2F10DA-9D8F-14BA-0821-2D37768082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4F09B7AC-47B8-E00E-EA4F-256089FC0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97CF0B6-9806-79D0-0DE8-975A5419279E}"/>
              </a:ext>
            </a:extLst>
          </p:cNvPr>
          <p:cNvSpPr>
            <a:spLocks noGrp="1"/>
          </p:cNvSpPr>
          <p:nvPr>
            <p:ph type="dt" sz="half" idx="10"/>
          </p:nvPr>
        </p:nvSpPr>
        <p:spPr/>
        <p:txBody>
          <a:bodyPr/>
          <a:lstStyle/>
          <a:p>
            <a:fld id="{E0528AFA-0C1B-47D7-83B1-FA53DB5E02F4}" type="datetimeFigureOut">
              <a:rPr lang="es-EC" smtClean="0"/>
              <a:t>19/2/2026</a:t>
            </a:fld>
            <a:endParaRPr lang="es-EC"/>
          </a:p>
        </p:txBody>
      </p:sp>
      <p:sp>
        <p:nvSpPr>
          <p:cNvPr id="6" name="Marcador de pie de página 5">
            <a:extLst>
              <a:ext uri="{FF2B5EF4-FFF2-40B4-BE49-F238E27FC236}">
                <a16:creationId xmlns:a16="http://schemas.microsoft.com/office/drawing/2014/main" id="{9FF0917C-633E-F837-84CE-3EE4428EDF63}"/>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E820EC2F-BCC8-021E-3E18-75419FCF9D1A}"/>
              </a:ext>
            </a:extLst>
          </p:cNvPr>
          <p:cNvSpPr>
            <a:spLocks noGrp="1"/>
          </p:cNvSpPr>
          <p:nvPr>
            <p:ph type="sldNum" sz="quarter" idx="12"/>
          </p:nvPr>
        </p:nvSpPr>
        <p:spPr/>
        <p:txBody>
          <a:bodyPr/>
          <a:lstStyle/>
          <a:p>
            <a:fld id="{2BB5E24F-3A84-47EC-A2A0-C839D4B89844}" type="slidenum">
              <a:rPr lang="es-EC" smtClean="0"/>
              <a:t>‹Nº›</a:t>
            </a:fld>
            <a:endParaRPr lang="es-EC"/>
          </a:p>
        </p:txBody>
      </p:sp>
    </p:spTree>
    <p:extLst>
      <p:ext uri="{BB962C8B-B14F-4D97-AF65-F5344CB8AC3E}">
        <p14:creationId xmlns:p14="http://schemas.microsoft.com/office/powerpoint/2010/main" val="2692432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1CE68D-B53A-53C2-D321-1F9CAF77141F}"/>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1DFF5A2-2FA2-598D-1490-09B8E37DC78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5ECA9292-62E2-3315-99FD-9D7EDB1FB6F2}"/>
              </a:ext>
            </a:extLst>
          </p:cNvPr>
          <p:cNvSpPr>
            <a:spLocks noGrp="1"/>
          </p:cNvSpPr>
          <p:nvPr>
            <p:ph type="dt" sz="half" idx="10"/>
          </p:nvPr>
        </p:nvSpPr>
        <p:spPr/>
        <p:txBody>
          <a:bodyPr/>
          <a:lstStyle/>
          <a:p>
            <a:fld id="{E0528AFA-0C1B-47D7-83B1-FA53DB5E02F4}" type="datetimeFigureOut">
              <a:rPr lang="es-EC" smtClean="0"/>
              <a:t>19/2/2026</a:t>
            </a:fld>
            <a:endParaRPr lang="es-EC"/>
          </a:p>
        </p:txBody>
      </p:sp>
      <p:sp>
        <p:nvSpPr>
          <p:cNvPr id="5" name="Marcador de pie de página 4">
            <a:extLst>
              <a:ext uri="{FF2B5EF4-FFF2-40B4-BE49-F238E27FC236}">
                <a16:creationId xmlns:a16="http://schemas.microsoft.com/office/drawing/2014/main" id="{D0D043A5-7299-058B-55FE-A2D37FAA0BC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3127355-1BE4-2371-FF7F-25657D554920}"/>
              </a:ext>
            </a:extLst>
          </p:cNvPr>
          <p:cNvSpPr>
            <a:spLocks noGrp="1"/>
          </p:cNvSpPr>
          <p:nvPr>
            <p:ph type="sldNum" sz="quarter" idx="12"/>
          </p:nvPr>
        </p:nvSpPr>
        <p:spPr/>
        <p:txBody>
          <a:bodyPr/>
          <a:lstStyle/>
          <a:p>
            <a:fld id="{2BB5E24F-3A84-47EC-A2A0-C839D4B89844}" type="slidenum">
              <a:rPr lang="es-EC" smtClean="0"/>
              <a:t>‹Nº›</a:t>
            </a:fld>
            <a:endParaRPr lang="es-EC"/>
          </a:p>
        </p:txBody>
      </p:sp>
    </p:spTree>
    <p:extLst>
      <p:ext uri="{BB962C8B-B14F-4D97-AF65-F5344CB8AC3E}">
        <p14:creationId xmlns:p14="http://schemas.microsoft.com/office/powerpoint/2010/main" val="1849522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2972332-5DDC-F6D5-3C26-44263F12BA5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1AEFF967-35C1-2057-BBFC-98D1CC77BC6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D3D85FD8-3D9C-48C5-0231-961F76DF1178}"/>
              </a:ext>
            </a:extLst>
          </p:cNvPr>
          <p:cNvSpPr>
            <a:spLocks noGrp="1"/>
          </p:cNvSpPr>
          <p:nvPr>
            <p:ph type="dt" sz="half" idx="10"/>
          </p:nvPr>
        </p:nvSpPr>
        <p:spPr/>
        <p:txBody>
          <a:bodyPr/>
          <a:lstStyle/>
          <a:p>
            <a:fld id="{E0528AFA-0C1B-47D7-83B1-FA53DB5E02F4}" type="datetimeFigureOut">
              <a:rPr lang="es-EC" smtClean="0"/>
              <a:t>19/2/2026</a:t>
            </a:fld>
            <a:endParaRPr lang="es-EC"/>
          </a:p>
        </p:txBody>
      </p:sp>
      <p:sp>
        <p:nvSpPr>
          <p:cNvPr id="5" name="Marcador de pie de página 4">
            <a:extLst>
              <a:ext uri="{FF2B5EF4-FFF2-40B4-BE49-F238E27FC236}">
                <a16:creationId xmlns:a16="http://schemas.microsoft.com/office/drawing/2014/main" id="{53B2CBBD-8942-EE51-DE20-58197B118DDF}"/>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9330F72E-2F95-416C-50F0-4B5937AAB041}"/>
              </a:ext>
            </a:extLst>
          </p:cNvPr>
          <p:cNvSpPr>
            <a:spLocks noGrp="1"/>
          </p:cNvSpPr>
          <p:nvPr>
            <p:ph type="sldNum" sz="quarter" idx="12"/>
          </p:nvPr>
        </p:nvSpPr>
        <p:spPr/>
        <p:txBody>
          <a:bodyPr/>
          <a:lstStyle/>
          <a:p>
            <a:fld id="{2BB5E24F-3A84-47EC-A2A0-C839D4B89844}" type="slidenum">
              <a:rPr lang="es-EC" smtClean="0"/>
              <a:t>‹Nº›</a:t>
            </a:fld>
            <a:endParaRPr lang="es-EC"/>
          </a:p>
        </p:txBody>
      </p:sp>
    </p:spTree>
    <p:extLst>
      <p:ext uri="{BB962C8B-B14F-4D97-AF65-F5344CB8AC3E}">
        <p14:creationId xmlns:p14="http://schemas.microsoft.com/office/powerpoint/2010/main" val="1415303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17445E6-AEE0-6450-E841-17C5987CFA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2D83D341-6171-C81C-2119-F19AF521CD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AFA2C45E-F4FB-6B2A-8721-C38C3C0C1C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528AFA-0C1B-47D7-83B1-FA53DB5E02F4}" type="datetimeFigureOut">
              <a:rPr lang="es-EC" smtClean="0"/>
              <a:t>19/2/2026</a:t>
            </a:fld>
            <a:endParaRPr lang="es-EC"/>
          </a:p>
        </p:txBody>
      </p:sp>
      <p:sp>
        <p:nvSpPr>
          <p:cNvPr id="5" name="Marcador de pie de página 4">
            <a:extLst>
              <a:ext uri="{FF2B5EF4-FFF2-40B4-BE49-F238E27FC236}">
                <a16:creationId xmlns:a16="http://schemas.microsoft.com/office/drawing/2014/main" id="{800F99F7-10EF-E6FF-F447-8CF68F0841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5FF48F9C-86E4-9071-D4CB-039603F973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B5E24F-3A84-47EC-A2A0-C839D4B89844}" type="slidenum">
              <a:rPr lang="es-EC" smtClean="0"/>
              <a:t>‹Nº›</a:t>
            </a:fld>
            <a:endParaRPr lang="es-EC"/>
          </a:p>
        </p:txBody>
      </p:sp>
    </p:spTree>
    <p:extLst>
      <p:ext uri="{BB962C8B-B14F-4D97-AF65-F5344CB8AC3E}">
        <p14:creationId xmlns:p14="http://schemas.microsoft.com/office/powerpoint/2010/main" val="1841851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4AEC8D-0E67-6059-2756-6ABBB1EABB0B}"/>
              </a:ext>
            </a:extLst>
          </p:cNvPr>
          <p:cNvSpPr>
            <a:spLocks noGrp="1"/>
          </p:cNvSpPr>
          <p:nvPr>
            <p:ph type="ctrTitle"/>
          </p:nvPr>
        </p:nvSpPr>
        <p:spPr/>
        <p:txBody>
          <a:bodyPr/>
          <a:lstStyle/>
          <a:p>
            <a:r>
              <a:rPr lang="es-ES" b="1" dirty="0">
                <a:solidFill>
                  <a:schemeClr val="accent1"/>
                </a:solidFill>
              </a:rPr>
              <a:t>Clase 2 – Excel</a:t>
            </a:r>
            <a:br>
              <a:rPr lang="es-ES" b="1" dirty="0">
                <a:solidFill>
                  <a:schemeClr val="accent1"/>
                </a:solidFill>
              </a:rPr>
            </a:br>
            <a:r>
              <a:rPr lang="es-ES" b="1" dirty="0">
                <a:solidFill>
                  <a:schemeClr val="accent1"/>
                </a:solidFill>
              </a:rPr>
              <a:t>Procesamiento de datos.</a:t>
            </a:r>
            <a:endParaRPr lang="es-EC" b="1" dirty="0">
              <a:solidFill>
                <a:schemeClr val="accent1"/>
              </a:solidFill>
            </a:endParaRPr>
          </a:p>
        </p:txBody>
      </p:sp>
      <p:sp>
        <p:nvSpPr>
          <p:cNvPr id="3" name="Subtítulo 2">
            <a:extLst>
              <a:ext uri="{FF2B5EF4-FFF2-40B4-BE49-F238E27FC236}">
                <a16:creationId xmlns:a16="http://schemas.microsoft.com/office/drawing/2014/main" id="{E7276499-4573-F82A-CCD4-89196429DDA8}"/>
              </a:ext>
            </a:extLst>
          </p:cNvPr>
          <p:cNvSpPr>
            <a:spLocks noGrp="1"/>
          </p:cNvSpPr>
          <p:nvPr>
            <p:ph type="subTitle" idx="1"/>
          </p:nvPr>
        </p:nvSpPr>
        <p:spPr>
          <a:xfrm>
            <a:off x="1636541" y="3813054"/>
            <a:ext cx="9144000" cy="1655762"/>
          </a:xfrm>
        </p:spPr>
        <p:txBody>
          <a:bodyPr/>
          <a:lstStyle/>
          <a:p>
            <a:r>
              <a:rPr lang="es-ES" dirty="0"/>
              <a:t>Andrés Felipe Ochoa Muñoz</a:t>
            </a:r>
          </a:p>
          <a:p>
            <a:endParaRPr lang="es-ES" dirty="0"/>
          </a:p>
          <a:p>
            <a:r>
              <a:rPr lang="es-ES" dirty="0"/>
              <a:t>andres.ochoa@correounivalle.edu.co</a:t>
            </a:r>
            <a:endParaRPr lang="es-EC" dirty="0"/>
          </a:p>
        </p:txBody>
      </p:sp>
    </p:spTree>
    <p:extLst>
      <p:ext uri="{BB962C8B-B14F-4D97-AF65-F5344CB8AC3E}">
        <p14:creationId xmlns:p14="http://schemas.microsoft.com/office/powerpoint/2010/main" val="4202517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3EF72C-EC4E-EBCE-CA1B-827675496160}"/>
              </a:ext>
            </a:extLst>
          </p:cNvPr>
          <p:cNvSpPr>
            <a:spLocks noGrp="1"/>
          </p:cNvSpPr>
          <p:nvPr>
            <p:ph type="title"/>
          </p:nvPr>
        </p:nvSpPr>
        <p:spPr/>
        <p:txBody>
          <a:bodyPr/>
          <a:lstStyle/>
          <a:p>
            <a:r>
              <a:rPr lang="es-ES" b="1" dirty="0">
                <a:solidFill>
                  <a:schemeClr val="accent1"/>
                </a:solidFill>
              </a:rPr>
              <a:t>Tabla de contenido.</a:t>
            </a:r>
            <a:endParaRPr lang="es-EC" b="1" dirty="0">
              <a:solidFill>
                <a:schemeClr val="accent1"/>
              </a:solidFill>
            </a:endParaRPr>
          </a:p>
        </p:txBody>
      </p:sp>
      <p:sp>
        <p:nvSpPr>
          <p:cNvPr id="3" name="Marcador de contenido 2">
            <a:extLst>
              <a:ext uri="{FF2B5EF4-FFF2-40B4-BE49-F238E27FC236}">
                <a16:creationId xmlns:a16="http://schemas.microsoft.com/office/drawing/2014/main" id="{E041E968-0370-0453-6AD2-6373360B7D50}"/>
              </a:ext>
            </a:extLst>
          </p:cNvPr>
          <p:cNvSpPr>
            <a:spLocks noGrp="1"/>
          </p:cNvSpPr>
          <p:nvPr>
            <p:ph idx="1"/>
          </p:nvPr>
        </p:nvSpPr>
        <p:spPr/>
        <p:txBody>
          <a:bodyPr/>
          <a:lstStyle/>
          <a:p>
            <a:r>
              <a:rPr lang="es-ES" dirty="0"/>
              <a:t>Ingreso y validación de datos.</a:t>
            </a:r>
          </a:p>
          <a:p>
            <a:r>
              <a:rPr lang="es-ES" dirty="0"/>
              <a:t>Filtros.</a:t>
            </a:r>
          </a:p>
          <a:p>
            <a:r>
              <a:rPr lang="es-ES" dirty="0"/>
              <a:t>Formulas.</a:t>
            </a:r>
          </a:p>
          <a:p>
            <a:r>
              <a:rPr lang="es-ES" dirty="0"/>
              <a:t>Gráficos.</a:t>
            </a:r>
          </a:p>
          <a:p>
            <a:r>
              <a:rPr lang="es-ES" dirty="0"/>
              <a:t>Módulo Análisis de Datos.</a:t>
            </a:r>
            <a:endParaRPr lang="es-EC" dirty="0"/>
          </a:p>
        </p:txBody>
      </p:sp>
    </p:spTree>
    <p:extLst>
      <p:ext uri="{BB962C8B-B14F-4D97-AF65-F5344CB8AC3E}">
        <p14:creationId xmlns:p14="http://schemas.microsoft.com/office/powerpoint/2010/main" val="2103551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19B67D-07F0-DAC0-5C67-9019AD764081}"/>
              </a:ext>
            </a:extLst>
          </p:cNvPr>
          <p:cNvSpPr>
            <a:spLocks noGrp="1"/>
          </p:cNvSpPr>
          <p:nvPr>
            <p:ph type="title"/>
          </p:nvPr>
        </p:nvSpPr>
        <p:spPr/>
        <p:txBody>
          <a:bodyPr/>
          <a:lstStyle/>
          <a:p>
            <a:r>
              <a:rPr lang="es-ES" b="1" dirty="0">
                <a:solidFill>
                  <a:schemeClr val="accent1"/>
                </a:solidFill>
              </a:rPr>
              <a:t>Ingreso de datos.</a:t>
            </a:r>
            <a:endParaRPr lang="es-EC" b="1" dirty="0">
              <a:solidFill>
                <a:schemeClr val="accent1"/>
              </a:solidFill>
            </a:endParaRPr>
          </a:p>
        </p:txBody>
      </p:sp>
      <p:sp>
        <p:nvSpPr>
          <p:cNvPr id="3" name="Marcador de contenido 2">
            <a:extLst>
              <a:ext uri="{FF2B5EF4-FFF2-40B4-BE49-F238E27FC236}">
                <a16:creationId xmlns:a16="http://schemas.microsoft.com/office/drawing/2014/main" id="{2E2F05B8-46AC-24A8-17B8-2E562DA995C2}"/>
              </a:ext>
            </a:extLst>
          </p:cNvPr>
          <p:cNvSpPr>
            <a:spLocks noGrp="1"/>
          </p:cNvSpPr>
          <p:nvPr>
            <p:ph idx="1"/>
          </p:nvPr>
        </p:nvSpPr>
        <p:spPr/>
        <p:txBody>
          <a:bodyPr/>
          <a:lstStyle/>
          <a:p>
            <a:pPr algn="just"/>
            <a:r>
              <a:rPr lang="es-ES" dirty="0"/>
              <a:t>Usualmente los conjuntos de datos se estructuran de forma que las filas se dejan para unidades de observación y las columnas se dejan para las variables.</a:t>
            </a:r>
          </a:p>
          <a:p>
            <a:pPr algn="just"/>
            <a:r>
              <a:rPr lang="es-ES" dirty="0"/>
              <a:t>La primera fila del conjunto de datos usualmente se utiliza para el encabezado del nombre de las variables. Además, la primera columna para el id, la cuál es el identificador de cada unidad de observación o código de la encuesta realizada.</a:t>
            </a:r>
          </a:p>
          <a:p>
            <a:pPr algn="just"/>
            <a:r>
              <a:rPr lang="es-ES" dirty="0"/>
              <a:t>Antes de ingresar los datos, se recomienda utilizar reglas de </a:t>
            </a:r>
            <a:r>
              <a:rPr lang="es-ES" b="1" dirty="0">
                <a:solidFill>
                  <a:schemeClr val="accent1"/>
                </a:solidFill>
              </a:rPr>
              <a:t>validación de datos </a:t>
            </a:r>
            <a:r>
              <a:rPr lang="es-ES" dirty="0"/>
              <a:t>con el fin de que se ingrese correctamente la información.</a:t>
            </a:r>
            <a:endParaRPr lang="es-EC" dirty="0"/>
          </a:p>
        </p:txBody>
      </p:sp>
    </p:spTree>
    <p:extLst>
      <p:ext uri="{BB962C8B-B14F-4D97-AF65-F5344CB8AC3E}">
        <p14:creationId xmlns:p14="http://schemas.microsoft.com/office/powerpoint/2010/main" val="3698626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0C785-E408-0A58-616C-EDD734A8EFCD}"/>
              </a:ext>
            </a:extLst>
          </p:cNvPr>
          <p:cNvSpPr>
            <a:spLocks noGrp="1"/>
          </p:cNvSpPr>
          <p:nvPr>
            <p:ph type="title"/>
          </p:nvPr>
        </p:nvSpPr>
        <p:spPr/>
        <p:txBody>
          <a:bodyPr>
            <a:normAutofit/>
          </a:bodyPr>
          <a:lstStyle/>
          <a:p>
            <a:r>
              <a:rPr lang="es-ES" sz="4000" b="1" dirty="0">
                <a:solidFill>
                  <a:schemeClr val="accent1"/>
                </a:solidFill>
              </a:rPr>
              <a:t>Ejemplo 1: Tiempo de espera en una sucursal bancaria.</a:t>
            </a:r>
            <a:endParaRPr lang="es-EC" sz="4000" b="1" dirty="0">
              <a:solidFill>
                <a:schemeClr val="accent1"/>
              </a:solidFill>
            </a:endParaRPr>
          </a:p>
        </p:txBody>
      </p:sp>
      <p:sp>
        <p:nvSpPr>
          <p:cNvPr id="3" name="Marcador de contenido 2">
            <a:extLst>
              <a:ext uri="{FF2B5EF4-FFF2-40B4-BE49-F238E27FC236}">
                <a16:creationId xmlns:a16="http://schemas.microsoft.com/office/drawing/2014/main" id="{B28A012F-02E6-020C-DCB0-BE1710CED877}"/>
              </a:ext>
            </a:extLst>
          </p:cNvPr>
          <p:cNvSpPr>
            <a:spLocks noGrp="1"/>
          </p:cNvSpPr>
          <p:nvPr>
            <p:ph idx="1"/>
          </p:nvPr>
        </p:nvSpPr>
        <p:spPr/>
        <p:txBody>
          <a:bodyPr/>
          <a:lstStyle/>
          <a:p>
            <a:pPr marL="514350" indent="-514350">
              <a:buFont typeface="+mj-lt"/>
              <a:buAutoNum type="arabicPeriod"/>
            </a:pPr>
            <a:r>
              <a:rPr lang="es-ES" sz="2400" dirty="0"/>
              <a:t>Crear un archivo Excel, el cuál tenga el nombre “TiemposSucursal.xlsx”.</a:t>
            </a:r>
          </a:p>
          <a:p>
            <a:pPr marL="514350" indent="-514350">
              <a:buFont typeface="+mj-lt"/>
              <a:buAutoNum type="arabicPeriod"/>
            </a:pPr>
            <a:r>
              <a:rPr lang="es-EC" sz="2400" dirty="0"/>
              <a:t>Crear en el encabezado (primer fila) los siguientes nombres: id, genero, edad, </a:t>
            </a:r>
            <a:r>
              <a:rPr lang="es-EC" sz="2400" dirty="0" err="1"/>
              <a:t>ClaseSocial</a:t>
            </a:r>
            <a:r>
              <a:rPr lang="es-EC" sz="2400" dirty="0"/>
              <a:t>, Tiempo.</a:t>
            </a:r>
          </a:p>
          <a:p>
            <a:pPr marL="514350" indent="-514350">
              <a:buFont typeface="+mj-lt"/>
              <a:buAutoNum type="arabicPeriod"/>
            </a:pPr>
            <a:r>
              <a:rPr lang="es-EC" sz="2400" dirty="0"/>
              <a:t>Para todas las columnas (menos el id) crear reglas de validación de datos, el genero que tenga tres categorías (femenino, masculino, otro). Edad sea una variable entre 18 y 100 años, </a:t>
            </a:r>
            <a:r>
              <a:rPr lang="es-EC" sz="2400" dirty="0" err="1"/>
              <a:t>ClaseSocial</a:t>
            </a:r>
            <a:r>
              <a:rPr lang="es-EC" sz="2400" dirty="0"/>
              <a:t> tenga tres categorías (baja, media, alta). La variable tiempo definida en minutos se encuentre en el rango de 0 a 300 minutos.</a:t>
            </a:r>
          </a:p>
          <a:p>
            <a:pPr marL="514350" indent="-514350">
              <a:buFont typeface="+mj-lt"/>
              <a:buAutoNum type="arabicPeriod"/>
            </a:pPr>
            <a:r>
              <a:rPr lang="es-EC" sz="2400" dirty="0"/>
              <a:t>Ingresar datos simulados.</a:t>
            </a:r>
          </a:p>
          <a:p>
            <a:pPr marL="0" indent="0">
              <a:buNone/>
            </a:pPr>
            <a:endParaRPr lang="es-EC" dirty="0"/>
          </a:p>
          <a:p>
            <a:endParaRPr lang="es-EC" dirty="0"/>
          </a:p>
          <a:p>
            <a:endParaRPr lang="es-EC" dirty="0"/>
          </a:p>
        </p:txBody>
      </p:sp>
    </p:spTree>
    <p:extLst>
      <p:ext uri="{BB962C8B-B14F-4D97-AF65-F5344CB8AC3E}">
        <p14:creationId xmlns:p14="http://schemas.microsoft.com/office/powerpoint/2010/main" val="1610375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585A23-B6C3-826C-4E7C-E2D868826661}"/>
              </a:ext>
            </a:extLst>
          </p:cNvPr>
          <p:cNvSpPr>
            <a:spLocks noGrp="1"/>
          </p:cNvSpPr>
          <p:nvPr>
            <p:ph type="title"/>
          </p:nvPr>
        </p:nvSpPr>
        <p:spPr/>
        <p:txBody>
          <a:bodyPr/>
          <a:lstStyle/>
          <a:p>
            <a:r>
              <a:rPr lang="es-ES" b="1" dirty="0">
                <a:solidFill>
                  <a:schemeClr val="accent1"/>
                </a:solidFill>
              </a:rPr>
              <a:t>Validación de datos: opción Lista.</a:t>
            </a:r>
            <a:endParaRPr lang="es-EC" b="1" dirty="0">
              <a:solidFill>
                <a:schemeClr val="accent1"/>
              </a:solidFill>
            </a:endParaRPr>
          </a:p>
        </p:txBody>
      </p:sp>
      <p:pic>
        <p:nvPicPr>
          <p:cNvPr id="5" name="Marcador de contenido 4" descr="Interfaz de usuario gráfica, Texto, Aplicación, Correo electrónico&#10;&#10;El contenido generado por IA puede ser incorrecto.">
            <a:extLst>
              <a:ext uri="{FF2B5EF4-FFF2-40B4-BE49-F238E27FC236}">
                <a16:creationId xmlns:a16="http://schemas.microsoft.com/office/drawing/2014/main" id="{8019EF2D-DE7D-AE0C-D196-5CCA646627E4}"/>
              </a:ext>
            </a:extLst>
          </p:cNvPr>
          <p:cNvPicPr>
            <a:picLocks noGrp="1" noChangeAspect="1"/>
          </p:cNvPicPr>
          <p:nvPr>
            <p:ph idx="1"/>
          </p:nvPr>
        </p:nvPicPr>
        <p:blipFill>
          <a:blip r:embed="rId2"/>
          <a:stretch>
            <a:fillRect/>
          </a:stretch>
        </p:blipFill>
        <p:spPr>
          <a:xfrm>
            <a:off x="575603" y="1690688"/>
            <a:ext cx="5257801" cy="4351338"/>
          </a:xfrm>
          <a:prstGeom prst="rect">
            <a:avLst/>
          </a:prstGeom>
        </p:spPr>
      </p:pic>
      <p:pic>
        <p:nvPicPr>
          <p:cNvPr id="7" name="Imagen 6" descr="Captura de pantalla de computadora&#10;&#10;El contenido generado por IA puede ser incorrecto.">
            <a:extLst>
              <a:ext uri="{FF2B5EF4-FFF2-40B4-BE49-F238E27FC236}">
                <a16:creationId xmlns:a16="http://schemas.microsoft.com/office/drawing/2014/main" id="{C64433D0-05EA-A293-A95E-AD7AC8AE4805}"/>
              </a:ext>
            </a:extLst>
          </p:cNvPr>
          <p:cNvPicPr>
            <a:picLocks noChangeAspect="1"/>
          </p:cNvPicPr>
          <p:nvPr/>
        </p:nvPicPr>
        <p:blipFill>
          <a:blip r:embed="rId3"/>
          <a:stretch>
            <a:fillRect/>
          </a:stretch>
        </p:blipFill>
        <p:spPr>
          <a:xfrm>
            <a:off x="6358597" y="1690688"/>
            <a:ext cx="5622387" cy="4351338"/>
          </a:xfrm>
          <a:prstGeom prst="rect">
            <a:avLst/>
          </a:prstGeom>
        </p:spPr>
      </p:pic>
    </p:spTree>
    <p:extLst>
      <p:ext uri="{BB962C8B-B14F-4D97-AF65-F5344CB8AC3E}">
        <p14:creationId xmlns:p14="http://schemas.microsoft.com/office/powerpoint/2010/main" val="1952503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AF878C-C61D-5B01-59EC-5614DDC027D6}"/>
              </a:ext>
            </a:extLst>
          </p:cNvPr>
          <p:cNvSpPr>
            <a:spLocks noGrp="1"/>
          </p:cNvSpPr>
          <p:nvPr>
            <p:ph type="title"/>
          </p:nvPr>
        </p:nvSpPr>
        <p:spPr/>
        <p:txBody>
          <a:bodyPr/>
          <a:lstStyle/>
          <a:p>
            <a:r>
              <a:rPr lang="es-ES" b="1" dirty="0">
                <a:solidFill>
                  <a:schemeClr val="accent1"/>
                </a:solidFill>
              </a:rPr>
              <a:t>Validación de datos: opción Lista.</a:t>
            </a:r>
            <a:endParaRPr lang="es-EC" b="1" dirty="0">
              <a:solidFill>
                <a:schemeClr val="accent1"/>
              </a:solidFill>
            </a:endParaRPr>
          </a:p>
        </p:txBody>
      </p:sp>
      <p:pic>
        <p:nvPicPr>
          <p:cNvPr id="5" name="Marcador de contenido 4" descr="Interfaz de usuario gráfica, Texto, Aplicación, Correo electrónico&#10;&#10;El contenido generado por IA puede ser incorrecto.">
            <a:extLst>
              <a:ext uri="{FF2B5EF4-FFF2-40B4-BE49-F238E27FC236}">
                <a16:creationId xmlns:a16="http://schemas.microsoft.com/office/drawing/2014/main" id="{19C0A92E-95FC-B0FC-A9FE-B16A85C0A85C}"/>
              </a:ext>
            </a:extLst>
          </p:cNvPr>
          <p:cNvPicPr>
            <a:picLocks noGrp="1" noChangeAspect="1"/>
          </p:cNvPicPr>
          <p:nvPr>
            <p:ph idx="1"/>
          </p:nvPr>
        </p:nvPicPr>
        <p:blipFill>
          <a:blip r:embed="rId2"/>
          <a:stretch>
            <a:fillRect/>
          </a:stretch>
        </p:blipFill>
        <p:spPr>
          <a:xfrm>
            <a:off x="2226255" y="1825625"/>
            <a:ext cx="7739489" cy="4351338"/>
          </a:xfrm>
          <a:prstGeom prst="rect">
            <a:avLst/>
          </a:prstGeom>
        </p:spPr>
      </p:pic>
    </p:spTree>
    <p:extLst>
      <p:ext uri="{BB962C8B-B14F-4D97-AF65-F5344CB8AC3E}">
        <p14:creationId xmlns:p14="http://schemas.microsoft.com/office/powerpoint/2010/main" val="3945113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C0E324-D272-E181-1592-8B835B90F548}"/>
              </a:ext>
            </a:extLst>
          </p:cNvPr>
          <p:cNvSpPr>
            <a:spLocks noGrp="1"/>
          </p:cNvSpPr>
          <p:nvPr>
            <p:ph type="title"/>
          </p:nvPr>
        </p:nvSpPr>
        <p:spPr/>
        <p:txBody>
          <a:bodyPr/>
          <a:lstStyle/>
          <a:p>
            <a:r>
              <a:rPr lang="es-ES" b="1" dirty="0">
                <a:solidFill>
                  <a:schemeClr val="accent1"/>
                </a:solidFill>
              </a:rPr>
              <a:t>Validación de datos: opción decimal. </a:t>
            </a:r>
            <a:endParaRPr lang="es-EC" b="1" dirty="0">
              <a:solidFill>
                <a:schemeClr val="accent1"/>
              </a:solidFill>
            </a:endParaRPr>
          </a:p>
        </p:txBody>
      </p:sp>
      <p:pic>
        <p:nvPicPr>
          <p:cNvPr id="5" name="Imagen 4" descr="Interfaz de usuario gráfica, Aplicación&#10;&#10;El contenido generado por IA puede ser incorrecto.">
            <a:extLst>
              <a:ext uri="{FF2B5EF4-FFF2-40B4-BE49-F238E27FC236}">
                <a16:creationId xmlns:a16="http://schemas.microsoft.com/office/drawing/2014/main" id="{86164079-FA13-1DC2-E8EC-D95EB2C14953}"/>
              </a:ext>
            </a:extLst>
          </p:cNvPr>
          <p:cNvPicPr>
            <a:picLocks noChangeAspect="1"/>
          </p:cNvPicPr>
          <p:nvPr/>
        </p:nvPicPr>
        <p:blipFill>
          <a:blip r:embed="rId2"/>
          <a:stretch>
            <a:fillRect/>
          </a:stretch>
        </p:blipFill>
        <p:spPr>
          <a:xfrm>
            <a:off x="964809" y="1690688"/>
            <a:ext cx="6420729" cy="4802187"/>
          </a:xfrm>
          <a:prstGeom prst="rect">
            <a:avLst/>
          </a:prstGeom>
        </p:spPr>
      </p:pic>
      <p:sp>
        <p:nvSpPr>
          <p:cNvPr id="6" name="CuadroTexto 5">
            <a:extLst>
              <a:ext uri="{FF2B5EF4-FFF2-40B4-BE49-F238E27FC236}">
                <a16:creationId xmlns:a16="http://schemas.microsoft.com/office/drawing/2014/main" id="{79B22324-1F98-D087-FA24-610D807A7CF1}"/>
              </a:ext>
            </a:extLst>
          </p:cNvPr>
          <p:cNvSpPr txBox="1"/>
          <p:nvPr/>
        </p:nvSpPr>
        <p:spPr>
          <a:xfrm>
            <a:off x="7748695" y="2734269"/>
            <a:ext cx="4058227" cy="1938992"/>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pPr algn="just"/>
            <a:r>
              <a:rPr lang="es-ES" sz="2400" dirty="0"/>
              <a:t>Para que la regla de validación</a:t>
            </a:r>
          </a:p>
          <a:p>
            <a:pPr algn="just"/>
            <a:r>
              <a:rPr lang="es-ES" sz="2400" dirty="0"/>
              <a:t>quede en las demás celdas se</a:t>
            </a:r>
          </a:p>
          <a:p>
            <a:pPr algn="just"/>
            <a:r>
              <a:rPr lang="es-ES" sz="2400" dirty="0"/>
              <a:t>recomienda copiar y pegar </a:t>
            </a:r>
          </a:p>
          <a:p>
            <a:pPr algn="just"/>
            <a:r>
              <a:rPr lang="es-ES" sz="2400" dirty="0"/>
              <a:t>(pegado especial) y seleccionar</a:t>
            </a:r>
          </a:p>
          <a:p>
            <a:pPr algn="just"/>
            <a:r>
              <a:rPr lang="es-ES" sz="2400" dirty="0"/>
              <a:t>la casilla validación.</a:t>
            </a:r>
            <a:endParaRPr lang="es-EC" sz="2400" dirty="0"/>
          </a:p>
        </p:txBody>
      </p:sp>
    </p:spTree>
    <p:extLst>
      <p:ext uri="{BB962C8B-B14F-4D97-AF65-F5344CB8AC3E}">
        <p14:creationId xmlns:p14="http://schemas.microsoft.com/office/powerpoint/2010/main" val="2068806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E0F549-62FB-8B45-9FE1-82EA6B974215}"/>
              </a:ext>
            </a:extLst>
          </p:cNvPr>
          <p:cNvSpPr>
            <a:spLocks noGrp="1"/>
          </p:cNvSpPr>
          <p:nvPr>
            <p:ph type="title"/>
          </p:nvPr>
        </p:nvSpPr>
        <p:spPr/>
        <p:txBody>
          <a:bodyPr/>
          <a:lstStyle/>
          <a:p>
            <a:r>
              <a:rPr lang="es-ES" b="1">
                <a:solidFill>
                  <a:schemeClr val="accent1"/>
                </a:solidFill>
              </a:rPr>
              <a:t>Validación de datos: opción decimal. </a:t>
            </a:r>
            <a:endParaRPr lang="es-EC"/>
          </a:p>
        </p:txBody>
      </p:sp>
      <p:pic>
        <p:nvPicPr>
          <p:cNvPr id="5" name="Imagen 4" descr="Interfaz de usuario gráfica, Aplicación&#10;&#10;El contenido generado por IA puede ser incorrecto.">
            <a:extLst>
              <a:ext uri="{FF2B5EF4-FFF2-40B4-BE49-F238E27FC236}">
                <a16:creationId xmlns:a16="http://schemas.microsoft.com/office/drawing/2014/main" id="{94E122AE-922D-3748-59E8-262124D6043B}"/>
              </a:ext>
            </a:extLst>
          </p:cNvPr>
          <p:cNvPicPr>
            <a:picLocks noChangeAspect="1"/>
          </p:cNvPicPr>
          <p:nvPr/>
        </p:nvPicPr>
        <p:blipFill>
          <a:blip r:embed="rId2"/>
          <a:stretch>
            <a:fillRect/>
          </a:stretch>
        </p:blipFill>
        <p:spPr>
          <a:xfrm>
            <a:off x="974036" y="1609799"/>
            <a:ext cx="7382174" cy="4883076"/>
          </a:xfrm>
          <a:prstGeom prst="rect">
            <a:avLst/>
          </a:prstGeom>
        </p:spPr>
      </p:pic>
      <p:sp>
        <p:nvSpPr>
          <p:cNvPr id="3" name="CuadroTexto 2">
            <a:extLst>
              <a:ext uri="{FF2B5EF4-FFF2-40B4-BE49-F238E27FC236}">
                <a16:creationId xmlns:a16="http://schemas.microsoft.com/office/drawing/2014/main" id="{E691EBE6-D963-5619-AF7F-0817AC91A802}"/>
              </a:ext>
            </a:extLst>
          </p:cNvPr>
          <p:cNvSpPr txBox="1"/>
          <p:nvPr/>
        </p:nvSpPr>
        <p:spPr>
          <a:xfrm>
            <a:off x="8674926" y="3234408"/>
            <a:ext cx="3078133" cy="120032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s-ES" sz="2400" dirty="0"/>
              <a:t>Si se digita mal un dato</a:t>
            </a:r>
          </a:p>
          <a:p>
            <a:r>
              <a:rPr lang="es-ES" sz="2400" dirty="0"/>
              <a:t>se pueda generar una alerta.</a:t>
            </a:r>
            <a:endParaRPr lang="es-EC" sz="2400" dirty="0"/>
          </a:p>
        </p:txBody>
      </p:sp>
    </p:spTree>
    <p:extLst>
      <p:ext uri="{BB962C8B-B14F-4D97-AF65-F5344CB8AC3E}">
        <p14:creationId xmlns:p14="http://schemas.microsoft.com/office/powerpoint/2010/main" val="1109780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A881DD-1049-79AA-3399-2578EE96799D}"/>
              </a:ext>
            </a:extLst>
          </p:cNvPr>
          <p:cNvSpPr>
            <a:spLocks noGrp="1"/>
          </p:cNvSpPr>
          <p:nvPr>
            <p:ph type="title"/>
          </p:nvPr>
        </p:nvSpPr>
        <p:spPr/>
        <p:txBody>
          <a:bodyPr/>
          <a:lstStyle/>
          <a:p>
            <a:r>
              <a:rPr lang="es-ES" b="1" dirty="0">
                <a:solidFill>
                  <a:schemeClr val="accent1"/>
                </a:solidFill>
              </a:rPr>
              <a:t>Validación de datos.</a:t>
            </a:r>
            <a:endParaRPr lang="es-EC" b="1" dirty="0">
              <a:solidFill>
                <a:schemeClr val="accent1"/>
              </a:solidFill>
            </a:endParaRPr>
          </a:p>
        </p:txBody>
      </p:sp>
      <p:sp>
        <p:nvSpPr>
          <p:cNvPr id="3" name="Marcador de contenido 2">
            <a:extLst>
              <a:ext uri="{FF2B5EF4-FFF2-40B4-BE49-F238E27FC236}">
                <a16:creationId xmlns:a16="http://schemas.microsoft.com/office/drawing/2014/main" id="{17C0F92B-2216-EB7A-C074-BD0E332D1D6C}"/>
              </a:ext>
            </a:extLst>
          </p:cNvPr>
          <p:cNvSpPr>
            <a:spLocks noGrp="1"/>
          </p:cNvSpPr>
          <p:nvPr>
            <p:ph idx="1"/>
          </p:nvPr>
        </p:nvSpPr>
        <p:spPr>
          <a:xfrm>
            <a:off x="542779" y="1825625"/>
            <a:ext cx="5393788" cy="4351338"/>
          </a:xfrm>
        </p:spPr>
        <p:txBody>
          <a:bodyPr/>
          <a:lstStyle/>
          <a:p>
            <a:r>
              <a:rPr lang="es-ES" dirty="0"/>
              <a:t>Utilice validación de datos con la opción lista para crear las categorías de clase social (baja, media, alta).</a:t>
            </a:r>
          </a:p>
          <a:p>
            <a:r>
              <a:rPr lang="es-ES" dirty="0"/>
              <a:t>Utilice validación de datos con la opción decimal para ingresar los tiempos de espera en minutos, rango de 0 a 300 minutos.</a:t>
            </a:r>
            <a:endParaRPr lang="es-EC" dirty="0"/>
          </a:p>
        </p:txBody>
      </p:sp>
      <p:pic>
        <p:nvPicPr>
          <p:cNvPr id="5" name="Imagen 4" descr="Captura de pantalla de computadora&#10;&#10;El contenido generado por IA puede ser incorrecto.">
            <a:extLst>
              <a:ext uri="{FF2B5EF4-FFF2-40B4-BE49-F238E27FC236}">
                <a16:creationId xmlns:a16="http://schemas.microsoft.com/office/drawing/2014/main" id="{B174A61F-D526-9F1B-FAB6-067E4168E5D4}"/>
              </a:ext>
            </a:extLst>
          </p:cNvPr>
          <p:cNvPicPr>
            <a:picLocks noChangeAspect="1"/>
          </p:cNvPicPr>
          <p:nvPr/>
        </p:nvPicPr>
        <p:blipFill>
          <a:blip r:embed="rId2"/>
          <a:stretch>
            <a:fillRect/>
          </a:stretch>
        </p:blipFill>
        <p:spPr>
          <a:xfrm>
            <a:off x="6096000" y="1027906"/>
            <a:ext cx="5833403" cy="5030701"/>
          </a:xfrm>
          <a:prstGeom prst="rect">
            <a:avLst/>
          </a:prstGeom>
        </p:spPr>
      </p:pic>
    </p:spTree>
    <p:extLst>
      <p:ext uri="{BB962C8B-B14F-4D97-AF65-F5344CB8AC3E}">
        <p14:creationId xmlns:p14="http://schemas.microsoft.com/office/powerpoint/2010/main" val="3008798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4DBE2E58-74EC-DD1D-99BE-9DD0852FB73D}"/>
              </a:ext>
            </a:extLst>
          </p:cNvPr>
          <p:cNvSpPr>
            <a:spLocks noGrp="1"/>
          </p:cNvSpPr>
          <p:nvPr>
            <p:ph type="title"/>
          </p:nvPr>
        </p:nvSpPr>
        <p:spPr>
          <a:xfrm>
            <a:off x="838200" y="2419008"/>
            <a:ext cx="10515600" cy="1325563"/>
          </a:xfrm>
        </p:spPr>
        <p:txBody>
          <a:bodyPr/>
          <a:lstStyle/>
          <a:p>
            <a:pPr algn="ctr"/>
            <a:r>
              <a:rPr lang="es-ES" b="1" dirty="0">
                <a:solidFill>
                  <a:schemeClr val="accent1"/>
                </a:solidFill>
              </a:rPr>
              <a:t>Filtros.</a:t>
            </a:r>
            <a:endParaRPr lang="es-EC" b="1" dirty="0">
              <a:solidFill>
                <a:schemeClr val="accent1"/>
              </a:solidFill>
            </a:endParaRPr>
          </a:p>
        </p:txBody>
      </p:sp>
    </p:spTree>
    <p:extLst>
      <p:ext uri="{BB962C8B-B14F-4D97-AF65-F5344CB8AC3E}">
        <p14:creationId xmlns:p14="http://schemas.microsoft.com/office/powerpoint/2010/main" val="1928221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4C25BD-8CF0-6A7B-589F-5653CAEB188B}"/>
              </a:ext>
            </a:extLst>
          </p:cNvPr>
          <p:cNvSpPr>
            <a:spLocks noGrp="1"/>
          </p:cNvSpPr>
          <p:nvPr>
            <p:ph type="title"/>
          </p:nvPr>
        </p:nvSpPr>
        <p:spPr/>
        <p:txBody>
          <a:bodyPr/>
          <a:lstStyle/>
          <a:p>
            <a:r>
              <a:rPr lang="es-ES" b="1" dirty="0">
                <a:solidFill>
                  <a:schemeClr val="accent1"/>
                </a:solidFill>
              </a:rPr>
              <a:t>Filtros.</a:t>
            </a:r>
            <a:endParaRPr lang="es-EC" b="1" dirty="0">
              <a:solidFill>
                <a:schemeClr val="accent1"/>
              </a:solidFill>
            </a:endParaRPr>
          </a:p>
        </p:txBody>
      </p:sp>
      <p:sp>
        <p:nvSpPr>
          <p:cNvPr id="3" name="Marcador de contenido 2">
            <a:extLst>
              <a:ext uri="{FF2B5EF4-FFF2-40B4-BE49-F238E27FC236}">
                <a16:creationId xmlns:a16="http://schemas.microsoft.com/office/drawing/2014/main" id="{5C9B47FF-4559-646C-685C-0D912FD63CA2}"/>
              </a:ext>
            </a:extLst>
          </p:cNvPr>
          <p:cNvSpPr>
            <a:spLocks noGrp="1"/>
          </p:cNvSpPr>
          <p:nvPr>
            <p:ph idx="1"/>
          </p:nvPr>
        </p:nvSpPr>
        <p:spPr>
          <a:xfrm>
            <a:off x="838200" y="1825625"/>
            <a:ext cx="5028028" cy="4351338"/>
          </a:xfrm>
        </p:spPr>
        <p:txBody>
          <a:bodyPr/>
          <a:lstStyle/>
          <a:p>
            <a:pPr algn="just"/>
            <a:r>
              <a:rPr lang="es-ES" dirty="0"/>
              <a:t>Los filtros en Excel permiten visualizar rápidamente filas específicas en conjuntos de datos grandes, ocultando temporalmente la información no deseada. Se activan en la pestaña </a:t>
            </a:r>
            <a:r>
              <a:rPr lang="es-ES" b="1" dirty="0"/>
              <a:t>Datos &gt; Filtro</a:t>
            </a:r>
            <a:r>
              <a:rPr lang="es-ES" dirty="0"/>
              <a:t> o con </a:t>
            </a:r>
            <a:r>
              <a:rPr lang="es-ES" dirty="0" err="1"/>
              <a:t>Ctrl</a:t>
            </a:r>
            <a:r>
              <a:rPr lang="es-ES" dirty="0"/>
              <a:t> + Shift + L.</a:t>
            </a:r>
            <a:endParaRPr lang="es-EC" dirty="0"/>
          </a:p>
        </p:txBody>
      </p:sp>
      <p:pic>
        <p:nvPicPr>
          <p:cNvPr id="5" name="Imagen 4" descr="Captura de pantalla de computadora&#10;&#10;El contenido generado por IA puede ser incorrecto.">
            <a:extLst>
              <a:ext uri="{FF2B5EF4-FFF2-40B4-BE49-F238E27FC236}">
                <a16:creationId xmlns:a16="http://schemas.microsoft.com/office/drawing/2014/main" id="{27458B8A-F7E4-5D25-0760-71FAA660880B}"/>
              </a:ext>
            </a:extLst>
          </p:cNvPr>
          <p:cNvPicPr>
            <a:picLocks noChangeAspect="1"/>
          </p:cNvPicPr>
          <p:nvPr/>
        </p:nvPicPr>
        <p:blipFill>
          <a:blip r:embed="rId2"/>
          <a:stretch>
            <a:fillRect/>
          </a:stretch>
        </p:blipFill>
        <p:spPr>
          <a:xfrm>
            <a:off x="6213232" y="1027906"/>
            <a:ext cx="5860888" cy="4978997"/>
          </a:xfrm>
          <a:prstGeom prst="rect">
            <a:avLst/>
          </a:prstGeom>
        </p:spPr>
      </p:pic>
    </p:spTree>
    <p:extLst>
      <p:ext uri="{BB962C8B-B14F-4D97-AF65-F5344CB8AC3E}">
        <p14:creationId xmlns:p14="http://schemas.microsoft.com/office/powerpoint/2010/main" val="51645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AC1ADA-7413-91C5-C098-EC7209013C2A}"/>
              </a:ext>
            </a:extLst>
          </p:cNvPr>
          <p:cNvSpPr>
            <a:spLocks noGrp="1"/>
          </p:cNvSpPr>
          <p:nvPr>
            <p:ph type="title"/>
          </p:nvPr>
        </p:nvSpPr>
        <p:spPr/>
        <p:txBody>
          <a:bodyPr/>
          <a:lstStyle/>
          <a:p>
            <a:r>
              <a:rPr lang="es-ES" b="1" dirty="0">
                <a:solidFill>
                  <a:schemeClr val="accent1"/>
                </a:solidFill>
              </a:rPr>
              <a:t>Filtros.</a:t>
            </a:r>
            <a:endParaRPr lang="es-EC" b="1" dirty="0">
              <a:solidFill>
                <a:schemeClr val="accent1"/>
              </a:solidFill>
            </a:endParaRPr>
          </a:p>
        </p:txBody>
      </p:sp>
      <p:sp>
        <p:nvSpPr>
          <p:cNvPr id="3" name="Marcador de contenido 2">
            <a:extLst>
              <a:ext uri="{FF2B5EF4-FFF2-40B4-BE49-F238E27FC236}">
                <a16:creationId xmlns:a16="http://schemas.microsoft.com/office/drawing/2014/main" id="{963824D4-3F75-3829-92C8-695E0114EDCE}"/>
              </a:ext>
            </a:extLst>
          </p:cNvPr>
          <p:cNvSpPr>
            <a:spLocks noGrp="1"/>
          </p:cNvSpPr>
          <p:nvPr>
            <p:ph idx="1"/>
          </p:nvPr>
        </p:nvSpPr>
        <p:spPr>
          <a:xfrm>
            <a:off x="838200" y="1825625"/>
            <a:ext cx="4423117" cy="4351338"/>
          </a:xfrm>
        </p:spPr>
        <p:txBody>
          <a:bodyPr>
            <a:normAutofit lnSpcReduction="10000"/>
          </a:bodyPr>
          <a:lstStyle/>
          <a:p>
            <a:pPr algn="just"/>
            <a:r>
              <a:rPr lang="es-ES" dirty="0"/>
              <a:t>Es posible filtrar variables </a:t>
            </a:r>
            <a:r>
              <a:rPr lang="es-ES" b="1" dirty="0">
                <a:solidFill>
                  <a:schemeClr val="accent1"/>
                </a:solidFill>
              </a:rPr>
              <a:t>cuantitativas</a:t>
            </a:r>
            <a:r>
              <a:rPr lang="es-ES" dirty="0"/>
              <a:t> con base alguna condición, por ejemplo: mayor que, menor que, mayor o igual a, etc.</a:t>
            </a:r>
          </a:p>
          <a:p>
            <a:pPr algn="just"/>
            <a:r>
              <a:rPr lang="es-ES" dirty="0"/>
              <a:t>Para las variables </a:t>
            </a:r>
            <a:r>
              <a:rPr lang="es-ES" b="1" dirty="0">
                <a:solidFill>
                  <a:schemeClr val="accent1"/>
                </a:solidFill>
              </a:rPr>
              <a:t>cualitativas</a:t>
            </a:r>
            <a:r>
              <a:rPr lang="es-ES" dirty="0"/>
              <a:t> podemos filtrar con base a alguna categoría, por ejemplo: sólo género femenino.</a:t>
            </a:r>
            <a:endParaRPr lang="es-EC" dirty="0"/>
          </a:p>
        </p:txBody>
      </p:sp>
      <p:pic>
        <p:nvPicPr>
          <p:cNvPr id="5" name="Imagen 4" descr="Captura de pantalla de computadora&#10;&#10;El contenido generado por IA puede ser incorrecto.">
            <a:extLst>
              <a:ext uri="{FF2B5EF4-FFF2-40B4-BE49-F238E27FC236}">
                <a16:creationId xmlns:a16="http://schemas.microsoft.com/office/drawing/2014/main" id="{31CA7C9A-7BBC-F78C-03B8-1512E50B642B}"/>
              </a:ext>
            </a:extLst>
          </p:cNvPr>
          <p:cNvPicPr>
            <a:picLocks noChangeAspect="1"/>
          </p:cNvPicPr>
          <p:nvPr/>
        </p:nvPicPr>
        <p:blipFill>
          <a:blip r:embed="rId2"/>
          <a:stretch>
            <a:fillRect/>
          </a:stretch>
        </p:blipFill>
        <p:spPr>
          <a:xfrm>
            <a:off x="5838093" y="365125"/>
            <a:ext cx="6049107" cy="5913791"/>
          </a:xfrm>
          <a:prstGeom prst="rect">
            <a:avLst/>
          </a:prstGeom>
        </p:spPr>
      </p:pic>
    </p:spTree>
    <p:extLst>
      <p:ext uri="{BB962C8B-B14F-4D97-AF65-F5344CB8AC3E}">
        <p14:creationId xmlns:p14="http://schemas.microsoft.com/office/powerpoint/2010/main" val="2212559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54208F-FEB2-8026-D743-1FEB958A230A}"/>
              </a:ext>
            </a:extLst>
          </p:cNvPr>
          <p:cNvSpPr>
            <a:spLocks noGrp="1"/>
          </p:cNvSpPr>
          <p:nvPr>
            <p:ph type="title"/>
          </p:nvPr>
        </p:nvSpPr>
        <p:spPr>
          <a:xfrm>
            <a:off x="838200" y="2766218"/>
            <a:ext cx="10515600" cy="1325563"/>
          </a:xfrm>
        </p:spPr>
        <p:txBody>
          <a:bodyPr/>
          <a:lstStyle/>
          <a:p>
            <a:pPr algn="ctr"/>
            <a:r>
              <a:rPr lang="es-ES" b="1" dirty="0">
                <a:solidFill>
                  <a:schemeClr val="accent1"/>
                </a:solidFill>
              </a:rPr>
              <a:t>Fórmulas.</a:t>
            </a:r>
            <a:endParaRPr lang="es-EC" b="1" dirty="0">
              <a:solidFill>
                <a:schemeClr val="accent1"/>
              </a:solidFill>
            </a:endParaRPr>
          </a:p>
        </p:txBody>
      </p:sp>
    </p:spTree>
    <p:extLst>
      <p:ext uri="{BB962C8B-B14F-4D97-AF65-F5344CB8AC3E}">
        <p14:creationId xmlns:p14="http://schemas.microsoft.com/office/powerpoint/2010/main" val="2628269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9D3F85-7C42-CD8D-D6AE-A2EDE62257C7}"/>
              </a:ext>
            </a:extLst>
          </p:cNvPr>
          <p:cNvSpPr>
            <a:spLocks noGrp="1"/>
          </p:cNvSpPr>
          <p:nvPr>
            <p:ph type="title"/>
          </p:nvPr>
        </p:nvSpPr>
        <p:spPr/>
        <p:txBody>
          <a:bodyPr/>
          <a:lstStyle/>
          <a:p>
            <a:r>
              <a:rPr lang="es-ES" b="1" dirty="0">
                <a:solidFill>
                  <a:schemeClr val="accent1"/>
                </a:solidFill>
              </a:rPr>
              <a:t>Fórmulas.</a:t>
            </a:r>
            <a:endParaRPr lang="es-EC" b="1" dirty="0">
              <a:solidFill>
                <a:schemeClr val="accent1"/>
              </a:solidFill>
            </a:endParaRPr>
          </a:p>
        </p:txBody>
      </p:sp>
      <p:sp>
        <p:nvSpPr>
          <p:cNvPr id="3" name="Marcador de contenido 2">
            <a:extLst>
              <a:ext uri="{FF2B5EF4-FFF2-40B4-BE49-F238E27FC236}">
                <a16:creationId xmlns:a16="http://schemas.microsoft.com/office/drawing/2014/main" id="{7C35FD16-31BB-BF9D-B6A3-C3601A549CE0}"/>
              </a:ext>
            </a:extLst>
          </p:cNvPr>
          <p:cNvSpPr>
            <a:spLocks noGrp="1"/>
          </p:cNvSpPr>
          <p:nvPr>
            <p:ph idx="1"/>
          </p:nvPr>
        </p:nvSpPr>
        <p:spPr>
          <a:xfrm>
            <a:off x="739727" y="1690688"/>
            <a:ext cx="5465298" cy="4351338"/>
          </a:xfrm>
        </p:spPr>
        <p:txBody>
          <a:bodyPr>
            <a:normAutofit fontScale="92500"/>
          </a:bodyPr>
          <a:lstStyle/>
          <a:p>
            <a:pPr algn="just"/>
            <a:r>
              <a:rPr lang="es-ES" dirty="0"/>
              <a:t>Las fórmulas en Excel, que siempre inician con un signo igual (=), permiten realizar cálculos matemáticos, lógicos y de búsqueda utilizando operadores básicos (+, -, *, /) o funciones integradas (como </a:t>
            </a:r>
            <a:r>
              <a:rPr lang="es-ES" b="1" dirty="0">
                <a:solidFill>
                  <a:schemeClr val="accent1"/>
                </a:solidFill>
              </a:rPr>
              <a:t>SUMA, PROMEDIO, BUSCAR</a:t>
            </a:r>
            <a:r>
              <a:rPr lang="es-ES" dirty="0"/>
              <a:t>). </a:t>
            </a:r>
          </a:p>
          <a:p>
            <a:pPr algn="just"/>
            <a:r>
              <a:rPr lang="es-ES" dirty="0"/>
              <a:t>Son fundamentales para automatizar tareas, trabajando con referencias de celdas para actualizar resultados automáticamente.</a:t>
            </a:r>
            <a:endParaRPr lang="es-EC" dirty="0"/>
          </a:p>
        </p:txBody>
      </p:sp>
      <p:pic>
        <p:nvPicPr>
          <p:cNvPr id="5" name="Imagen 4" descr="Interfaz de usuario gráfica, Aplicación, Tabla, Excel&#10;&#10;El contenido generado por IA puede ser incorrecto.">
            <a:extLst>
              <a:ext uri="{FF2B5EF4-FFF2-40B4-BE49-F238E27FC236}">
                <a16:creationId xmlns:a16="http://schemas.microsoft.com/office/drawing/2014/main" id="{F6CEFAAF-2706-C5E7-7093-D2E57BFB9B97}"/>
              </a:ext>
            </a:extLst>
          </p:cNvPr>
          <p:cNvPicPr>
            <a:picLocks noChangeAspect="1"/>
          </p:cNvPicPr>
          <p:nvPr/>
        </p:nvPicPr>
        <p:blipFill>
          <a:blip r:embed="rId2"/>
          <a:stretch>
            <a:fillRect/>
          </a:stretch>
        </p:blipFill>
        <p:spPr>
          <a:xfrm>
            <a:off x="6414868" y="872196"/>
            <a:ext cx="5570806" cy="5416061"/>
          </a:xfrm>
          <a:prstGeom prst="rect">
            <a:avLst/>
          </a:prstGeom>
        </p:spPr>
      </p:pic>
    </p:spTree>
    <p:extLst>
      <p:ext uri="{BB962C8B-B14F-4D97-AF65-F5344CB8AC3E}">
        <p14:creationId xmlns:p14="http://schemas.microsoft.com/office/powerpoint/2010/main" val="3901620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967362-B4E3-10B9-3BFF-8F38DAFC2AFD}"/>
              </a:ext>
            </a:extLst>
          </p:cNvPr>
          <p:cNvSpPr>
            <a:spLocks noGrp="1"/>
          </p:cNvSpPr>
          <p:nvPr>
            <p:ph type="title"/>
          </p:nvPr>
        </p:nvSpPr>
        <p:spPr/>
        <p:txBody>
          <a:bodyPr/>
          <a:lstStyle/>
          <a:p>
            <a:r>
              <a:rPr lang="es-ES" b="1" dirty="0">
                <a:solidFill>
                  <a:schemeClr val="accent1"/>
                </a:solidFill>
              </a:rPr>
              <a:t>Fórmulas - - - SI().</a:t>
            </a:r>
            <a:endParaRPr lang="es-EC" b="1" dirty="0">
              <a:solidFill>
                <a:schemeClr val="accent1"/>
              </a:solidFill>
            </a:endParaRPr>
          </a:p>
        </p:txBody>
      </p:sp>
      <p:sp>
        <p:nvSpPr>
          <p:cNvPr id="3" name="Marcador de contenido 2">
            <a:extLst>
              <a:ext uri="{FF2B5EF4-FFF2-40B4-BE49-F238E27FC236}">
                <a16:creationId xmlns:a16="http://schemas.microsoft.com/office/drawing/2014/main" id="{CC4F36DC-F165-DC03-D15A-A6414E750564}"/>
              </a:ext>
            </a:extLst>
          </p:cNvPr>
          <p:cNvSpPr>
            <a:spLocks noGrp="1"/>
          </p:cNvSpPr>
          <p:nvPr>
            <p:ph idx="1"/>
          </p:nvPr>
        </p:nvSpPr>
        <p:spPr/>
        <p:txBody>
          <a:bodyPr/>
          <a:lstStyle/>
          <a:p>
            <a:r>
              <a:rPr lang="es-ES" dirty="0"/>
              <a:t>Una de las fórmulas bastante útiles es: SI(), la cuál permite trabajar estructuras condicionales. </a:t>
            </a:r>
          </a:p>
          <a:p>
            <a:r>
              <a:rPr lang="es-ES" dirty="0"/>
              <a:t>Ejemplo: Construya una columna llamada “</a:t>
            </a:r>
            <a:r>
              <a:rPr lang="es-ES" dirty="0" err="1"/>
              <a:t>TiempoCod</a:t>
            </a:r>
            <a:r>
              <a:rPr lang="es-ES" dirty="0"/>
              <a:t>”, utilice la fórmula SI para crear una condición, donde si es mayor o igual 20 minutos indique “demorado” y menor de 20 minutos indique “normal”.</a:t>
            </a:r>
          </a:p>
          <a:p>
            <a:pPr marL="0" indent="0">
              <a:buNone/>
            </a:pPr>
            <a:endParaRPr lang="es-ES" dirty="0"/>
          </a:p>
          <a:p>
            <a:pPr marL="0" indent="0">
              <a:buNone/>
            </a:pPr>
            <a:r>
              <a:rPr lang="es-EC" dirty="0"/>
              <a:t>=SI(E2&gt;=20;"demorado";"normal")</a:t>
            </a:r>
          </a:p>
        </p:txBody>
      </p:sp>
    </p:spTree>
    <p:extLst>
      <p:ext uri="{BB962C8B-B14F-4D97-AF65-F5344CB8AC3E}">
        <p14:creationId xmlns:p14="http://schemas.microsoft.com/office/powerpoint/2010/main" val="3586608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B2383A-4D41-6A39-DD8F-D61424CCAE1C}"/>
              </a:ext>
            </a:extLst>
          </p:cNvPr>
          <p:cNvSpPr>
            <a:spLocks noGrp="1"/>
          </p:cNvSpPr>
          <p:nvPr>
            <p:ph type="title"/>
          </p:nvPr>
        </p:nvSpPr>
        <p:spPr/>
        <p:txBody>
          <a:bodyPr/>
          <a:lstStyle/>
          <a:p>
            <a:r>
              <a:rPr lang="es-ES" b="1" dirty="0">
                <a:solidFill>
                  <a:schemeClr val="accent1"/>
                </a:solidFill>
              </a:rPr>
              <a:t>Fórmulas - - - BUSCAR()</a:t>
            </a:r>
            <a:endParaRPr lang="es-EC" dirty="0"/>
          </a:p>
        </p:txBody>
      </p:sp>
      <p:sp>
        <p:nvSpPr>
          <p:cNvPr id="3" name="Marcador de contenido 2">
            <a:extLst>
              <a:ext uri="{FF2B5EF4-FFF2-40B4-BE49-F238E27FC236}">
                <a16:creationId xmlns:a16="http://schemas.microsoft.com/office/drawing/2014/main" id="{0A921E3F-13A0-17DA-8560-F72E3F63153A}"/>
              </a:ext>
            </a:extLst>
          </p:cNvPr>
          <p:cNvSpPr>
            <a:spLocks noGrp="1"/>
          </p:cNvSpPr>
          <p:nvPr>
            <p:ph idx="1"/>
          </p:nvPr>
        </p:nvSpPr>
        <p:spPr>
          <a:xfrm>
            <a:off x="500575" y="1690688"/>
            <a:ext cx="5998698" cy="4351338"/>
          </a:xfrm>
        </p:spPr>
        <p:txBody>
          <a:bodyPr>
            <a:normAutofit lnSpcReduction="10000"/>
          </a:bodyPr>
          <a:lstStyle/>
          <a:p>
            <a:pPr marL="0" indent="0" algn="just">
              <a:buNone/>
            </a:pPr>
            <a:r>
              <a:rPr lang="es-ES" sz="2600" dirty="0"/>
              <a:t>La función BUSCAR() nos puede ayudar a codificar una variable numérica a una variable categórica. Por ejemplo, recodificar la variable tiempo en tres categorías:</a:t>
            </a:r>
          </a:p>
          <a:p>
            <a:pPr marL="0" indent="0" algn="just">
              <a:buNone/>
            </a:pPr>
            <a:endParaRPr lang="es-ES" sz="2600" dirty="0"/>
          </a:p>
          <a:p>
            <a:pPr algn="just"/>
            <a:r>
              <a:rPr lang="es-EC" sz="2600" dirty="0"/>
              <a:t>Eficiente --- (0;10]</a:t>
            </a:r>
          </a:p>
          <a:p>
            <a:pPr algn="just"/>
            <a:r>
              <a:rPr lang="es-EC" sz="2600" dirty="0"/>
              <a:t>Normal --- (10;20]</a:t>
            </a:r>
          </a:p>
          <a:p>
            <a:pPr algn="just"/>
            <a:r>
              <a:rPr lang="es-EC" sz="2600" dirty="0"/>
              <a:t>Demorado --- (20;30]</a:t>
            </a:r>
          </a:p>
          <a:p>
            <a:pPr marL="0" indent="0" algn="just">
              <a:buNone/>
            </a:pPr>
            <a:endParaRPr lang="es-EC" sz="2600" dirty="0"/>
          </a:p>
          <a:p>
            <a:pPr marL="0" indent="0" algn="just">
              <a:buNone/>
            </a:pPr>
            <a:r>
              <a:rPr lang="pt-BR" sz="2600" dirty="0"/>
              <a:t>=BUSCAR(E2;$J$5:$K$7;$L$5:$L$7)</a:t>
            </a:r>
            <a:endParaRPr lang="es-EC" sz="2600" dirty="0"/>
          </a:p>
          <a:p>
            <a:pPr algn="just"/>
            <a:endParaRPr lang="es-EC" dirty="0"/>
          </a:p>
          <a:p>
            <a:pPr algn="just"/>
            <a:endParaRPr lang="es-EC" dirty="0"/>
          </a:p>
        </p:txBody>
      </p:sp>
      <p:pic>
        <p:nvPicPr>
          <p:cNvPr id="5" name="Imagen 4" descr="Pantalla de computadora&#10;&#10;El contenido generado por IA puede ser incorrecto.">
            <a:extLst>
              <a:ext uri="{FF2B5EF4-FFF2-40B4-BE49-F238E27FC236}">
                <a16:creationId xmlns:a16="http://schemas.microsoft.com/office/drawing/2014/main" id="{922A38E7-508E-421D-22A9-FF2D62104BCE}"/>
              </a:ext>
            </a:extLst>
          </p:cNvPr>
          <p:cNvPicPr>
            <a:picLocks noChangeAspect="1"/>
          </p:cNvPicPr>
          <p:nvPr/>
        </p:nvPicPr>
        <p:blipFill>
          <a:blip r:embed="rId2"/>
          <a:stretch>
            <a:fillRect/>
          </a:stretch>
        </p:blipFill>
        <p:spPr>
          <a:xfrm>
            <a:off x="6639950" y="1477109"/>
            <a:ext cx="5359792" cy="4564918"/>
          </a:xfrm>
          <a:prstGeom prst="rect">
            <a:avLst/>
          </a:prstGeom>
        </p:spPr>
      </p:pic>
    </p:spTree>
    <p:extLst>
      <p:ext uri="{BB962C8B-B14F-4D97-AF65-F5344CB8AC3E}">
        <p14:creationId xmlns:p14="http://schemas.microsoft.com/office/powerpoint/2010/main" val="1995441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C801A0-431B-5A03-FE14-97D78B26943E}"/>
              </a:ext>
            </a:extLst>
          </p:cNvPr>
          <p:cNvSpPr>
            <a:spLocks noGrp="1"/>
          </p:cNvSpPr>
          <p:nvPr>
            <p:ph type="title"/>
          </p:nvPr>
        </p:nvSpPr>
        <p:spPr>
          <a:xfrm>
            <a:off x="739726" y="1673421"/>
            <a:ext cx="10515600" cy="1325563"/>
          </a:xfrm>
        </p:spPr>
        <p:txBody>
          <a:bodyPr/>
          <a:lstStyle/>
          <a:p>
            <a:pPr algn="ctr"/>
            <a:r>
              <a:rPr lang="es-ES" b="1" dirty="0">
                <a:solidFill>
                  <a:schemeClr val="accent1"/>
                </a:solidFill>
              </a:rPr>
              <a:t>Gráficos.</a:t>
            </a:r>
            <a:endParaRPr lang="es-EC" b="1" dirty="0">
              <a:solidFill>
                <a:schemeClr val="accent1"/>
              </a:solidFill>
            </a:endParaRPr>
          </a:p>
        </p:txBody>
      </p:sp>
    </p:spTree>
    <p:extLst>
      <p:ext uri="{BB962C8B-B14F-4D97-AF65-F5344CB8AC3E}">
        <p14:creationId xmlns:p14="http://schemas.microsoft.com/office/powerpoint/2010/main" val="4222917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A838EC-F603-2F2A-D33C-BA35FD958580}"/>
              </a:ext>
            </a:extLst>
          </p:cNvPr>
          <p:cNvSpPr>
            <a:spLocks noGrp="1"/>
          </p:cNvSpPr>
          <p:nvPr>
            <p:ph type="title"/>
          </p:nvPr>
        </p:nvSpPr>
        <p:spPr/>
        <p:txBody>
          <a:bodyPr/>
          <a:lstStyle/>
          <a:p>
            <a:r>
              <a:rPr lang="es-ES" b="1" dirty="0">
                <a:solidFill>
                  <a:schemeClr val="accent1"/>
                </a:solidFill>
              </a:rPr>
              <a:t>Gráficos.</a:t>
            </a:r>
            <a:endParaRPr lang="es-EC" b="1" dirty="0">
              <a:solidFill>
                <a:schemeClr val="accent1"/>
              </a:solidFill>
            </a:endParaRPr>
          </a:p>
        </p:txBody>
      </p:sp>
      <p:sp>
        <p:nvSpPr>
          <p:cNvPr id="3" name="Marcador de contenido 2">
            <a:extLst>
              <a:ext uri="{FF2B5EF4-FFF2-40B4-BE49-F238E27FC236}">
                <a16:creationId xmlns:a16="http://schemas.microsoft.com/office/drawing/2014/main" id="{E66C7221-35D9-5D6B-3D9A-96ADC7F29C38}"/>
              </a:ext>
            </a:extLst>
          </p:cNvPr>
          <p:cNvSpPr>
            <a:spLocks noGrp="1"/>
          </p:cNvSpPr>
          <p:nvPr>
            <p:ph idx="1"/>
          </p:nvPr>
        </p:nvSpPr>
        <p:spPr>
          <a:xfrm>
            <a:off x="838200" y="1825625"/>
            <a:ext cx="5379720" cy="4351338"/>
          </a:xfrm>
        </p:spPr>
        <p:txBody>
          <a:bodyPr/>
          <a:lstStyle/>
          <a:p>
            <a:pPr marL="0" indent="0">
              <a:buNone/>
            </a:pPr>
            <a:r>
              <a:rPr lang="es-ES" dirty="0"/>
              <a:t>Una manera sencilla de realizar un gráfico es con la siguiente ruta:</a:t>
            </a:r>
          </a:p>
          <a:p>
            <a:pPr marL="0" indent="0">
              <a:buNone/>
            </a:pPr>
            <a:endParaRPr lang="es-ES" dirty="0"/>
          </a:p>
          <a:p>
            <a:pPr marL="514350" indent="-514350">
              <a:buAutoNum type="arabicPeriod"/>
            </a:pPr>
            <a:r>
              <a:rPr lang="es-ES" dirty="0"/>
              <a:t>Seleccionar una variable.</a:t>
            </a:r>
          </a:p>
          <a:p>
            <a:pPr marL="514350" indent="-514350">
              <a:buAutoNum type="arabicPeriod"/>
            </a:pPr>
            <a:r>
              <a:rPr lang="es-ES" dirty="0"/>
              <a:t>Insertar. </a:t>
            </a:r>
          </a:p>
          <a:p>
            <a:pPr marL="514350" indent="-514350">
              <a:buAutoNum type="arabicPeriod"/>
            </a:pPr>
            <a:r>
              <a:rPr lang="es-ES" dirty="0"/>
              <a:t>Gráficos recomendados</a:t>
            </a:r>
          </a:p>
          <a:p>
            <a:pPr marL="514350" indent="-514350">
              <a:buAutoNum type="arabicPeriod"/>
            </a:pPr>
            <a:r>
              <a:rPr lang="es-ES" dirty="0"/>
              <a:t>Todos los gráficos. </a:t>
            </a:r>
            <a:endParaRPr lang="es-EC" dirty="0"/>
          </a:p>
        </p:txBody>
      </p:sp>
      <p:pic>
        <p:nvPicPr>
          <p:cNvPr id="5" name="Imagen 4" descr="Una captura de pantalla de una computadora&#10;&#10;El contenido generado por IA puede ser incorrecto.">
            <a:extLst>
              <a:ext uri="{FF2B5EF4-FFF2-40B4-BE49-F238E27FC236}">
                <a16:creationId xmlns:a16="http://schemas.microsoft.com/office/drawing/2014/main" id="{58DA3BC8-B286-C623-0382-7F92319777EB}"/>
              </a:ext>
            </a:extLst>
          </p:cNvPr>
          <p:cNvPicPr>
            <a:picLocks noChangeAspect="1"/>
          </p:cNvPicPr>
          <p:nvPr/>
        </p:nvPicPr>
        <p:blipFill>
          <a:blip r:embed="rId2"/>
          <a:stretch>
            <a:fillRect/>
          </a:stretch>
        </p:blipFill>
        <p:spPr>
          <a:xfrm>
            <a:off x="6217920" y="971508"/>
            <a:ext cx="5739618" cy="4914984"/>
          </a:xfrm>
          <a:prstGeom prst="rect">
            <a:avLst/>
          </a:prstGeom>
        </p:spPr>
      </p:pic>
    </p:spTree>
    <p:extLst>
      <p:ext uri="{BB962C8B-B14F-4D97-AF65-F5344CB8AC3E}">
        <p14:creationId xmlns:p14="http://schemas.microsoft.com/office/powerpoint/2010/main" val="2834068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B140A-28CF-57C8-6769-CE0C6D1D9C18}"/>
              </a:ext>
            </a:extLst>
          </p:cNvPr>
          <p:cNvSpPr>
            <a:spLocks noGrp="1"/>
          </p:cNvSpPr>
          <p:nvPr>
            <p:ph type="title"/>
          </p:nvPr>
        </p:nvSpPr>
        <p:spPr>
          <a:xfrm>
            <a:off x="838200" y="211357"/>
            <a:ext cx="10515600" cy="1082872"/>
          </a:xfrm>
        </p:spPr>
        <p:txBody>
          <a:bodyPr/>
          <a:lstStyle/>
          <a:p>
            <a:r>
              <a:rPr lang="es-ES" b="1" dirty="0">
                <a:solidFill>
                  <a:schemeClr val="accent1"/>
                </a:solidFill>
              </a:rPr>
              <a:t>Tipos de Gráficos.</a:t>
            </a:r>
            <a:endParaRPr lang="es-EC" b="1" dirty="0">
              <a:solidFill>
                <a:schemeClr val="accent1"/>
              </a:solidFill>
            </a:endParaRPr>
          </a:p>
        </p:txBody>
      </p:sp>
      <p:sp>
        <p:nvSpPr>
          <p:cNvPr id="3" name="Marcador de contenido 2">
            <a:extLst>
              <a:ext uri="{FF2B5EF4-FFF2-40B4-BE49-F238E27FC236}">
                <a16:creationId xmlns:a16="http://schemas.microsoft.com/office/drawing/2014/main" id="{A23BEEA4-4CAF-BDDB-7684-484559C27785}"/>
              </a:ext>
            </a:extLst>
          </p:cNvPr>
          <p:cNvSpPr>
            <a:spLocks noGrp="1"/>
          </p:cNvSpPr>
          <p:nvPr>
            <p:ph idx="1"/>
          </p:nvPr>
        </p:nvSpPr>
        <p:spPr>
          <a:xfrm>
            <a:off x="838200" y="1294229"/>
            <a:ext cx="10515600" cy="889440"/>
          </a:xfrm>
        </p:spPr>
        <p:txBody>
          <a:bodyPr/>
          <a:lstStyle/>
          <a:p>
            <a:pPr marL="0" indent="0">
              <a:buNone/>
            </a:pPr>
            <a:r>
              <a:rPr lang="es-ES" sz="2400" dirty="0"/>
              <a:t>Algunos de los gráficos más utilizados en estadística son:</a:t>
            </a:r>
          </a:p>
          <a:p>
            <a:pPr marL="0" indent="0">
              <a:buNone/>
            </a:pPr>
            <a:endParaRPr lang="es-ES" dirty="0"/>
          </a:p>
        </p:txBody>
      </p:sp>
      <p:graphicFrame>
        <p:nvGraphicFramePr>
          <p:cNvPr id="4" name="Tabla 3">
            <a:extLst>
              <a:ext uri="{FF2B5EF4-FFF2-40B4-BE49-F238E27FC236}">
                <a16:creationId xmlns:a16="http://schemas.microsoft.com/office/drawing/2014/main" id="{8D81049D-ECA9-687A-2066-CFF707BA6523}"/>
              </a:ext>
            </a:extLst>
          </p:cNvPr>
          <p:cNvGraphicFramePr>
            <a:graphicFrameLocks noGrp="1"/>
          </p:cNvGraphicFramePr>
          <p:nvPr>
            <p:extLst>
              <p:ext uri="{D42A27DB-BD31-4B8C-83A1-F6EECF244321}">
                <p14:modId xmlns:p14="http://schemas.microsoft.com/office/powerpoint/2010/main" val="154754459"/>
              </p:ext>
            </p:extLst>
          </p:nvPr>
        </p:nvGraphicFramePr>
        <p:xfrm>
          <a:off x="1835053" y="1738949"/>
          <a:ext cx="8127999" cy="47599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889706156"/>
                    </a:ext>
                  </a:extLst>
                </a:gridCol>
                <a:gridCol w="2709333">
                  <a:extLst>
                    <a:ext uri="{9D8B030D-6E8A-4147-A177-3AD203B41FA5}">
                      <a16:colId xmlns:a16="http://schemas.microsoft.com/office/drawing/2014/main" val="3929135723"/>
                    </a:ext>
                  </a:extLst>
                </a:gridCol>
                <a:gridCol w="2709333">
                  <a:extLst>
                    <a:ext uri="{9D8B030D-6E8A-4147-A177-3AD203B41FA5}">
                      <a16:colId xmlns:a16="http://schemas.microsoft.com/office/drawing/2014/main" val="367895610"/>
                    </a:ext>
                  </a:extLst>
                </a:gridCol>
              </a:tblGrid>
              <a:tr h="370840">
                <a:tc>
                  <a:txBody>
                    <a:bodyPr/>
                    <a:lstStyle/>
                    <a:p>
                      <a:r>
                        <a:rPr lang="es-ES" dirty="0"/>
                        <a:t>Gráfico</a:t>
                      </a:r>
                      <a:endParaRPr lang="es-EC" dirty="0"/>
                    </a:p>
                  </a:txBody>
                  <a:tcPr/>
                </a:tc>
                <a:tc>
                  <a:txBody>
                    <a:bodyPr/>
                    <a:lstStyle/>
                    <a:p>
                      <a:r>
                        <a:rPr lang="es-ES" dirty="0"/>
                        <a:t>Equivalencia</a:t>
                      </a:r>
                      <a:endParaRPr lang="es-EC" dirty="0"/>
                    </a:p>
                  </a:txBody>
                  <a:tcPr/>
                </a:tc>
                <a:tc>
                  <a:txBody>
                    <a:bodyPr/>
                    <a:lstStyle/>
                    <a:p>
                      <a:r>
                        <a:rPr lang="es-ES" dirty="0"/>
                        <a:t>Tipo de variable</a:t>
                      </a:r>
                      <a:endParaRPr lang="es-EC" dirty="0"/>
                    </a:p>
                  </a:txBody>
                  <a:tcPr/>
                </a:tc>
                <a:extLst>
                  <a:ext uri="{0D108BD9-81ED-4DB2-BD59-A6C34878D82A}">
                    <a16:rowId xmlns:a16="http://schemas.microsoft.com/office/drawing/2014/main" val="3495410431"/>
                  </a:ext>
                </a:extLst>
              </a:tr>
              <a:tr h="370840">
                <a:tc>
                  <a:txBody>
                    <a:bodyPr/>
                    <a:lstStyle/>
                    <a:p>
                      <a:r>
                        <a:rPr lang="es-ES" dirty="0"/>
                        <a:t>Columnas</a:t>
                      </a:r>
                      <a:endParaRPr lang="es-EC" dirty="0"/>
                    </a:p>
                  </a:txBody>
                  <a:tcPr/>
                </a:tc>
                <a:tc>
                  <a:txBody>
                    <a:bodyPr/>
                    <a:lstStyle/>
                    <a:p>
                      <a:r>
                        <a:rPr lang="es-ES" dirty="0"/>
                        <a:t>Diagrama de Barras</a:t>
                      </a:r>
                      <a:endParaRPr lang="es-EC" dirty="0"/>
                    </a:p>
                  </a:txBody>
                  <a:tcPr/>
                </a:tc>
                <a:tc>
                  <a:txBody>
                    <a:bodyPr/>
                    <a:lstStyle/>
                    <a:p>
                      <a:r>
                        <a:rPr lang="es-ES" dirty="0"/>
                        <a:t>Variable cualitativa y cuantitativa discreta.</a:t>
                      </a:r>
                      <a:endParaRPr lang="es-EC" dirty="0"/>
                    </a:p>
                  </a:txBody>
                  <a:tcPr/>
                </a:tc>
                <a:extLst>
                  <a:ext uri="{0D108BD9-81ED-4DB2-BD59-A6C34878D82A}">
                    <a16:rowId xmlns:a16="http://schemas.microsoft.com/office/drawing/2014/main" val="3259712221"/>
                  </a:ext>
                </a:extLst>
              </a:tr>
              <a:tr h="370840">
                <a:tc>
                  <a:txBody>
                    <a:bodyPr/>
                    <a:lstStyle/>
                    <a:p>
                      <a:r>
                        <a:rPr lang="es-ES" dirty="0"/>
                        <a:t>Circular</a:t>
                      </a:r>
                      <a:endParaRPr lang="es-EC" dirty="0"/>
                    </a:p>
                  </a:txBody>
                  <a:tcPr/>
                </a:tc>
                <a:tc>
                  <a:txBody>
                    <a:bodyPr/>
                    <a:lstStyle/>
                    <a:p>
                      <a:r>
                        <a:rPr lang="es-ES" dirty="0"/>
                        <a:t>Diagrama circular o de sectores.</a:t>
                      </a:r>
                      <a:endParaRPr lang="es-EC" dirty="0"/>
                    </a:p>
                  </a:txBody>
                  <a:tcPr/>
                </a:tc>
                <a:tc>
                  <a:txBody>
                    <a:bodyPr/>
                    <a:lstStyle/>
                    <a:p>
                      <a:r>
                        <a:rPr lang="es-ES" dirty="0"/>
                        <a:t>Variable cualitativa.</a:t>
                      </a:r>
                      <a:endParaRPr lang="es-EC" dirty="0"/>
                    </a:p>
                  </a:txBody>
                  <a:tcPr/>
                </a:tc>
                <a:extLst>
                  <a:ext uri="{0D108BD9-81ED-4DB2-BD59-A6C34878D82A}">
                    <a16:rowId xmlns:a16="http://schemas.microsoft.com/office/drawing/2014/main" val="2125107108"/>
                  </a:ext>
                </a:extLst>
              </a:tr>
              <a:tr h="370840">
                <a:tc>
                  <a:txBody>
                    <a:bodyPr/>
                    <a:lstStyle/>
                    <a:p>
                      <a:r>
                        <a:rPr lang="es-ES" dirty="0"/>
                        <a:t>Líneas</a:t>
                      </a:r>
                      <a:endParaRPr lang="es-EC" dirty="0"/>
                    </a:p>
                  </a:txBody>
                  <a:tcPr/>
                </a:tc>
                <a:tc>
                  <a:txBody>
                    <a:bodyPr/>
                    <a:lstStyle/>
                    <a:p>
                      <a:r>
                        <a:rPr lang="es-ES" dirty="0"/>
                        <a:t>Series de Tiempo</a:t>
                      </a:r>
                      <a:endParaRPr lang="es-EC" dirty="0"/>
                    </a:p>
                  </a:txBody>
                  <a:tcPr/>
                </a:tc>
                <a:tc>
                  <a:txBody>
                    <a:bodyPr/>
                    <a:lstStyle/>
                    <a:p>
                      <a:r>
                        <a:rPr lang="es-ES" dirty="0"/>
                        <a:t>Variable cuantitativa eje y, en el eje x se coloca una variable temporal.</a:t>
                      </a:r>
                      <a:endParaRPr lang="es-EC" dirty="0"/>
                    </a:p>
                  </a:txBody>
                  <a:tcPr/>
                </a:tc>
                <a:extLst>
                  <a:ext uri="{0D108BD9-81ED-4DB2-BD59-A6C34878D82A}">
                    <a16:rowId xmlns:a16="http://schemas.microsoft.com/office/drawing/2014/main" val="220877221"/>
                  </a:ext>
                </a:extLst>
              </a:tr>
              <a:tr h="370840">
                <a:tc>
                  <a:txBody>
                    <a:bodyPr/>
                    <a:lstStyle/>
                    <a:p>
                      <a:r>
                        <a:rPr lang="es-ES" dirty="0"/>
                        <a:t>XY (Dispersión)</a:t>
                      </a:r>
                      <a:endParaRPr lang="es-EC" dirty="0"/>
                    </a:p>
                  </a:txBody>
                  <a:tcPr/>
                </a:tc>
                <a:tc>
                  <a:txBody>
                    <a:bodyPr/>
                    <a:lstStyle/>
                    <a:p>
                      <a:r>
                        <a:rPr lang="es-ES" dirty="0"/>
                        <a:t>Diagrama de Dispersión</a:t>
                      </a:r>
                      <a:endParaRPr lang="es-EC" dirty="0"/>
                    </a:p>
                  </a:txBody>
                  <a:tcPr/>
                </a:tc>
                <a:tc>
                  <a:txBody>
                    <a:bodyPr/>
                    <a:lstStyle/>
                    <a:p>
                      <a:r>
                        <a:rPr lang="es-ES" dirty="0"/>
                        <a:t>Variable cuantitativa eje y </a:t>
                      </a:r>
                      <a:r>
                        <a:rPr lang="es-ES" dirty="0" err="1"/>
                        <a:t>y</a:t>
                      </a:r>
                      <a:r>
                        <a:rPr lang="es-ES" dirty="0"/>
                        <a:t> otra cuantitativa en el eje x.</a:t>
                      </a:r>
                      <a:endParaRPr lang="es-EC" dirty="0"/>
                    </a:p>
                  </a:txBody>
                  <a:tcPr/>
                </a:tc>
                <a:extLst>
                  <a:ext uri="{0D108BD9-81ED-4DB2-BD59-A6C34878D82A}">
                    <a16:rowId xmlns:a16="http://schemas.microsoft.com/office/drawing/2014/main" val="332303649"/>
                  </a:ext>
                </a:extLst>
              </a:tr>
              <a:tr h="370840">
                <a:tc>
                  <a:txBody>
                    <a:bodyPr/>
                    <a:lstStyle/>
                    <a:p>
                      <a:r>
                        <a:rPr lang="es-ES" dirty="0"/>
                        <a:t>Histograma</a:t>
                      </a:r>
                      <a:endParaRPr lang="es-EC" dirty="0"/>
                    </a:p>
                  </a:txBody>
                  <a:tcPr/>
                </a:tc>
                <a:tc>
                  <a:txBody>
                    <a:bodyPr/>
                    <a:lstStyle/>
                    <a:p>
                      <a:r>
                        <a:rPr lang="es-ES" dirty="0"/>
                        <a:t>Histograma</a:t>
                      </a:r>
                      <a:endParaRPr lang="es-EC" dirty="0"/>
                    </a:p>
                  </a:txBody>
                  <a:tcPr/>
                </a:tc>
                <a:tc>
                  <a:txBody>
                    <a:bodyPr/>
                    <a:lstStyle/>
                    <a:p>
                      <a:r>
                        <a:rPr lang="es-ES" dirty="0"/>
                        <a:t>Variable cuantitativa continua.</a:t>
                      </a:r>
                      <a:endParaRPr lang="es-EC" dirty="0"/>
                    </a:p>
                  </a:txBody>
                  <a:tcPr/>
                </a:tc>
                <a:extLst>
                  <a:ext uri="{0D108BD9-81ED-4DB2-BD59-A6C34878D82A}">
                    <a16:rowId xmlns:a16="http://schemas.microsoft.com/office/drawing/2014/main" val="1430329477"/>
                  </a:ext>
                </a:extLst>
              </a:tr>
              <a:tr h="370840">
                <a:tc>
                  <a:txBody>
                    <a:bodyPr/>
                    <a:lstStyle/>
                    <a:p>
                      <a:r>
                        <a:rPr lang="es-ES" dirty="0"/>
                        <a:t>Diagrama de cajas y bigotes.</a:t>
                      </a:r>
                      <a:endParaRPr lang="es-EC"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Diagrama de cajas y bigotes (</a:t>
                      </a:r>
                      <a:r>
                        <a:rPr lang="es-ES" dirty="0" err="1"/>
                        <a:t>boxplot</a:t>
                      </a:r>
                      <a:r>
                        <a:rPr lang="es-ES" dirty="0"/>
                        <a:t>).</a:t>
                      </a:r>
                      <a:endParaRPr lang="es-EC" dirty="0"/>
                    </a:p>
                  </a:txBody>
                  <a:tcPr/>
                </a:tc>
                <a:tc>
                  <a:txBody>
                    <a:bodyPr/>
                    <a:lstStyle/>
                    <a:p>
                      <a:r>
                        <a:rPr lang="es-ES" dirty="0"/>
                        <a:t>Variable cuantitativa eje y, variable cualitativa eje x.</a:t>
                      </a:r>
                      <a:endParaRPr lang="es-EC" dirty="0"/>
                    </a:p>
                  </a:txBody>
                  <a:tcPr/>
                </a:tc>
                <a:extLst>
                  <a:ext uri="{0D108BD9-81ED-4DB2-BD59-A6C34878D82A}">
                    <a16:rowId xmlns:a16="http://schemas.microsoft.com/office/drawing/2014/main" val="2312393407"/>
                  </a:ext>
                </a:extLst>
              </a:tr>
            </a:tbl>
          </a:graphicData>
        </a:graphic>
      </p:graphicFrame>
    </p:spTree>
    <p:extLst>
      <p:ext uri="{BB962C8B-B14F-4D97-AF65-F5344CB8AC3E}">
        <p14:creationId xmlns:p14="http://schemas.microsoft.com/office/powerpoint/2010/main" val="9474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A9B36D-E891-CE96-B074-A254F5439C4D}"/>
              </a:ext>
            </a:extLst>
          </p:cNvPr>
          <p:cNvSpPr>
            <a:spLocks noGrp="1"/>
          </p:cNvSpPr>
          <p:nvPr>
            <p:ph type="title"/>
          </p:nvPr>
        </p:nvSpPr>
        <p:spPr>
          <a:xfrm>
            <a:off x="838200" y="2625541"/>
            <a:ext cx="10515600" cy="1325563"/>
          </a:xfrm>
        </p:spPr>
        <p:txBody>
          <a:bodyPr/>
          <a:lstStyle/>
          <a:p>
            <a:pPr algn="ctr"/>
            <a:r>
              <a:rPr lang="es-ES" b="1" dirty="0">
                <a:solidFill>
                  <a:schemeClr val="accent1"/>
                </a:solidFill>
              </a:rPr>
              <a:t>Módulo análisis de datos.</a:t>
            </a:r>
            <a:endParaRPr lang="es-EC" b="1" dirty="0">
              <a:solidFill>
                <a:schemeClr val="accent1"/>
              </a:solidFill>
            </a:endParaRPr>
          </a:p>
        </p:txBody>
      </p:sp>
    </p:spTree>
    <p:extLst>
      <p:ext uri="{BB962C8B-B14F-4D97-AF65-F5344CB8AC3E}">
        <p14:creationId xmlns:p14="http://schemas.microsoft.com/office/powerpoint/2010/main" val="7969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EAE34F-F586-2777-CC0C-4C1DBF95E8AE}"/>
              </a:ext>
            </a:extLst>
          </p:cNvPr>
          <p:cNvSpPr>
            <a:spLocks noGrp="1"/>
          </p:cNvSpPr>
          <p:nvPr>
            <p:ph type="title"/>
          </p:nvPr>
        </p:nvSpPr>
        <p:spPr/>
        <p:txBody>
          <a:bodyPr/>
          <a:lstStyle/>
          <a:p>
            <a:r>
              <a:rPr lang="es-ES" b="1" dirty="0">
                <a:solidFill>
                  <a:schemeClr val="accent1"/>
                </a:solidFill>
              </a:rPr>
              <a:t>Módulo análisis de datos.</a:t>
            </a:r>
            <a:endParaRPr lang="es-EC" b="1" dirty="0">
              <a:solidFill>
                <a:schemeClr val="accent1"/>
              </a:solidFill>
            </a:endParaRPr>
          </a:p>
        </p:txBody>
      </p:sp>
      <p:sp>
        <p:nvSpPr>
          <p:cNvPr id="3" name="Marcador de contenido 2">
            <a:extLst>
              <a:ext uri="{FF2B5EF4-FFF2-40B4-BE49-F238E27FC236}">
                <a16:creationId xmlns:a16="http://schemas.microsoft.com/office/drawing/2014/main" id="{9C389106-1A90-2A18-427C-F40769BC3AFB}"/>
              </a:ext>
            </a:extLst>
          </p:cNvPr>
          <p:cNvSpPr>
            <a:spLocks noGrp="1"/>
          </p:cNvSpPr>
          <p:nvPr>
            <p:ph idx="1"/>
          </p:nvPr>
        </p:nvSpPr>
        <p:spPr>
          <a:xfrm>
            <a:off x="838200" y="1825625"/>
            <a:ext cx="5801751" cy="4351338"/>
          </a:xfrm>
        </p:spPr>
        <p:txBody>
          <a:bodyPr>
            <a:normAutofit/>
          </a:bodyPr>
          <a:lstStyle/>
          <a:p>
            <a:pPr marL="0" indent="0">
              <a:buNone/>
            </a:pPr>
            <a:r>
              <a:rPr lang="es-ES" sz="2000" dirty="0"/>
              <a:t>Para utilizar el módulo de análisis de datos es necesario activar desde la siguiente ruta:</a:t>
            </a:r>
          </a:p>
          <a:p>
            <a:pPr marL="0" indent="0">
              <a:buNone/>
            </a:pPr>
            <a:endParaRPr lang="es-ES" sz="2000" dirty="0"/>
          </a:p>
          <a:p>
            <a:pPr marL="514350" indent="-514350">
              <a:buFont typeface="+mj-lt"/>
              <a:buAutoNum type="arabicPeriod"/>
            </a:pPr>
            <a:r>
              <a:rPr lang="es-ES" sz="2000" dirty="0"/>
              <a:t>Haz clic en archivo.</a:t>
            </a:r>
          </a:p>
          <a:p>
            <a:pPr marL="514350" indent="-514350">
              <a:buFont typeface="+mj-lt"/>
              <a:buAutoNum type="arabicPeriod"/>
            </a:pPr>
            <a:r>
              <a:rPr lang="es-ES" sz="2000" dirty="0"/>
              <a:t>Selecciona opciones.</a:t>
            </a:r>
          </a:p>
          <a:p>
            <a:pPr marL="514350" indent="-514350">
              <a:buFont typeface="+mj-lt"/>
              <a:buAutoNum type="arabicPeriod"/>
            </a:pPr>
            <a:r>
              <a:rPr lang="es-ES" sz="2000" dirty="0"/>
              <a:t>En el menú lateral, haz clic en complementos.</a:t>
            </a:r>
          </a:p>
          <a:p>
            <a:pPr marL="514350" indent="-514350">
              <a:buFont typeface="+mj-lt"/>
              <a:buAutoNum type="arabicPeriod"/>
            </a:pPr>
            <a:r>
              <a:rPr lang="es-ES" sz="2000" dirty="0"/>
              <a:t>En la parte inferior, donde dice administrar, selecciona: Complementos de Excel, luego haz clic donde ir…</a:t>
            </a:r>
          </a:p>
          <a:p>
            <a:pPr marL="514350" indent="-514350">
              <a:buFont typeface="+mj-lt"/>
              <a:buAutoNum type="arabicPeriod"/>
            </a:pPr>
            <a:r>
              <a:rPr lang="es-ES" sz="2000" dirty="0"/>
              <a:t>Marca la casilla herramientas para análisis.</a:t>
            </a:r>
          </a:p>
          <a:p>
            <a:pPr marL="514350" indent="-514350">
              <a:buFont typeface="+mj-lt"/>
              <a:buAutoNum type="arabicPeriod"/>
            </a:pPr>
            <a:r>
              <a:rPr lang="es-ES" sz="2000" dirty="0"/>
              <a:t>Haz clic en aceptar.</a:t>
            </a:r>
          </a:p>
          <a:p>
            <a:pPr marL="0" indent="0">
              <a:buNone/>
            </a:pPr>
            <a:endParaRPr lang="es-ES" sz="2000" dirty="0"/>
          </a:p>
        </p:txBody>
      </p:sp>
      <p:pic>
        <p:nvPicPr>
          <p:cNvPr id="8" name="Imagen 7" descr="Captura de pantalla de computadora&#10;&#10;El contenido generado por IA puede ser incorrecto.">
            <a:extLst>
              <a:ext uri="{FF2B5EF4-FFF2-40B4-BE49-F238E27FC236}">
                <a16:creationId xmlns:a16="http://schemas.microsoft.com/office/drawing/2014/main" id="{007976CF-A46A-7A1B-CC53-91D1C4DBD83C}"/>
              </a:ext>
            </a:extLst>
          </p:cNvPr>
          <p:cNvPicPr>
            <a:picLocks noChangeAspect="1"/>
          </p:cNvPicPr>
          <p:nvPr/>
        </p:nvPicPr>
        <p:blipFill>
          <a:blip r:embed="rId2"/>
          <a:stretch>
            <a:fillRect/>
          </a:stretch>
        </p:blipFill>
        <p:spPr>
          <a:xfrm>
            <a:off x="6527410" y="1392703"/>
            <a:ext cx="5289452" cy="5100172"/>
          </a:xfrm>
          <a:prstGeom prst="rect">
            <a:avLst/>
          </a:prstGeom>
        </p:spPr>
      </p:pic>
    </p:spTree>
    <p:extLst>
      <p:ext uri="{BB962C8B-B14F-4D97-AF65-F5344CB8AC3E}">
        <p14:creationId xmlns:p14="http://schemas.microsoft.com/office/powerpoint/2010/main" val="1685920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5BB4D8-F114-BA1A-C7C0-D465D79F494D}"/>
              </a:ext>
            </a:extLst>
          </p:cNvPr>
          <p:cNvSpPr>
            <a:spLocks noGrp="1"/>
          </p:cNvSpPr>
          <p:nvPr>
            <p:ph type="title"/>
          </p:nvPr>
        </p:nvSpPr>
        <p:spPr>
          <a:xfrm>
            <a:off x="756139" y="154109"/>
            <a:ext cx="10515600" cy="1325563"/>
          </a:xfrm>
        </p:spPr>
        <p:txBody>
          <a:bodyPr/>
          <a:lstStyle/>
          <a:p>
            <a:r>
              <a:rPr lang="es-ES" b="1" dirty="0">
                <a:solidFill>
                  <a:schemeClr val="accent1"/>
                </a:solidFill>
              </a:rPr>
              <a:t>Módulo de análisis de datos.</a:t>
            </a:r>
            <a:endParaRPr lang="es-EC" b="1" dirty="0">
              <a:solidFill>
                <a:schemeClr val="accent1"/>
              </a:solidFill>
            </a:endParaRPr>
          </a:p>
        </p:txBody>
      </p:sp>
      <p:sp>
        <p:nvSpPr>
          <p:cNvPr id="3" name="Marcador de contenido 2">
            <a:extLst>
              <a:ext uri="{FF2B5EF4-FFF2-40B4-BE49-F238E27FC236}">
                <a16:creationId xmlns:a16="http://schemas.microsoft.com/office/drawing/2014/main" id="{46F225EB-83B6-A275-F9A3-A5BF25526D32}"/>
              </a:ext>
            </a:extLst>
          </p:cNvPr>
          <p:cNvSpPr>
            <a:spLocks noGrp="1"/>
          </p:cNvSpPr>
          <p:nvPr>
            <p:ph idx="1"/>
          </p:nvPr>
        </p:nvSpPr>
        <p:spPr>
          <a:xfrm>
            <a:off x="838200" y="1825625"/>
            <a:ext cx="4971757" cy="4351338"/>
          </a:xfrm>
        </p:spPr>
        <p:txBody>
          <a:bodyPr/>
          <a:lstStyle/>
          <a:p>
            <a:pPr algn="just"/>
            <a:r>
              <a:rPr lang="es-ES" dirty="0"/>
              <a:t>Una herramienta útil dentro del módulo, es la herramienta de Regresión.</a:t>
            </a:r>
          </a:p>
          <a:p>
            <a:pPr algn="just"/>
            <a:r>
              <a:rPr lang="es-ES" dirty="0"/>
              <a:t>Por ejemplo, podemos realizar una regresión lineal del Tiempo en función de la Edad, con el fin de analizar si existe una correlación entre la Edad y el Tiempo de espera en la sucursal del banco.</a:t>
            </a:r>
            <a:endParaRPr lang="es-EC" dirty="0"/>
          </a:p>
        </p:txBody>
      </p:sp>
      <p:pic>
        <p:nvPicPr>
          <p:cNvPr id="5" name="Imagen 4" descr="Interfaz de usuario gráfica, Aplicación, Tabla, Excel&#10;&#10;El contenido generado por IA puede ser incorrecto.">
            <a:extLst>
              <a:ext uri="{FF2B5EF4-FFF2-40B4-BE49-F238E27FC236}">
                <a16:creationId xmlns:a16="http://schemas.microsoft.com/office/drawing/2014/main" id="{9611AA2E-C3BA-1960-DB7A-F6726467B496}"/>
              </a:ext>
            </a:extLst>
          </p:cNvPr>
          <p:cNvPicPr>
            <a:picLocks noChangeAspect="1"/>
          </p:cNvPicPr>
          <p:nvPr/>
        </p:nvPicPr>
        <p:blipFill>
          <a:blip r:embed="rId2"/>
          <a:stretch>
            <a:fillRect/>
          </a:stretch>
        </p:blipFill>
        <p:spPr>
          <a:xfrm>
            <a:off x="6217920" y="1589648"/>
            <a:ext cx="5725551" cy="4930017"/>
          </a:xfrm>
          <a:prstGeom prst="rect">
            <a:avLst/>
          </a:prstGeom>
        </p:spPr>
      </p:pic>
    </p:spTree>
    <p:extLst>
      <p:ext uri="{BB962C8B-B14F-4D97-AF65-F5344CB8AC3E}">
        <p14:creationId xmlns:p14="http://schemas.microsoft.com/office/powerpoint/2010/main" val="3549539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0D7AD1-31F2-9B0A-3828-E7428BECE4B7}"/>
              </a:ext>
            </a:extLst>
          </p:cNvPr>
          <p:cNvSpPr>
            <a:spLocks noGrp="1"/>
          </p:cNvSpPr>
          <p:nvPr>
            <p:ph type="title"/>
          </p:nvPr>
        </p:nvSpPr>
        <p:spPr/>
        <p:txBody>
          <a:bodyPr/>
          <a:lstStyle/>
          <a:p>
            <a:r>
              <a:rPr lang="es-ES" b="1" dirty="0">
                <a:solidFill>
                  <a:schemeClr val="accent1"/>
                </a:solidFill>
              </a:rPr>
              <a:t>Módulo de análisis de datos.</a:t>
            </a:r>
            <a:endParaRPr lang="es-EC" dirty="0"/>
          </a:p>
        </p:txBody>
      </p:sp>
      <p:sp>
        <p:nvSpPr>
          <p:cNvPr id="3" name="Marcador de contenido 2">
            <a:extLst>
              <a:ext uri="{FF2B5EF4-FFF2-40B4-BE49-F238E27FC236}">
                <a16:creationId xmlns:a16="http://schemas.microsoft.com/office/drawing/2014/main" id="{81BF6CDE-116E-3533-1014-A9069F73C0EE}"/>
              </a:ext>
            </a:extLst>
          </p:cNvPr>
          <p:cNvSpPr>
            <a:spLocks noGrp="1"/>
          </p:cNvSpPr>
          <p:nvPr>
            <p:ph idx="1"/>
          </p:nvPr>
        </p:nvSpPr>
        <p:spPr/>
        <p:txBody>
          <a:bodyPr/>
          <a:lstStyle/>
          <a:p>
            <a:pPr marL="0" indent="0">
              <a:buNone/>
            </a:pPr>
            <a:r>
              <a:rPr lang="es-ES" dirty="0"/>
              <a:t>Explora las siguientes herramientas:</a:t>
            </a:r>
          </a:p>
          <a:p>
            <a:pPr marL="0" indent="0">
              <a:buNone/>
            </a:pPr>
            <a:endParaRPr lang="es-ES" dirty="0"/>
          </a:p>
          <a:p>
            <a:r>
              <a:rPr lang="es-ES" dirty="0"/>
              <a:t>Generación de números aleatorios &gt; distribución normal.</a:t>
            </a:r>
          </a:p>
          <a:p>
            <a:r>
              <a:rPr lang="es-ES" dirty="0"/>
              <a:t>Muestra &gt; 5 muestras de una variable.</a:t>
            </a:r>
          </a:p>
          <a:p>
            <a:r>
              <a:rPr lang="es-ES" dirty="0"/>
              <a:t>Estadística descriptiva &gt; selecciona alguna variable.</a:t>
            </a:r>
          </a:p>
          <a:p>
            <a:endParaRPr lang="es-ES" dirty="0"/>
          </a:p>
          <a:p>
            <a:pPr marL="0" indent="0">
              <a:buNone/>
            </a:pPr>
            <a:endParaRPr lang="es-EC" dirty="0"/>
          </a:p>
        </p:txBody>
      </p:sp>
    </p:spTree>
    <p:extLst>
      <p:ext uri="{BB962C8B-B14F-4D97-AF65-F5344CB8AC3E}">
        <p14:creationId xmlns:p14="http://schemas.microsoft.com/office/powerpoint/2010/main" val="3330900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C4FADA58-0FD9-91B9-D9EC-20C5FEBE1F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15050" y="898177"/>
            <a:ext cx="5189836" cy="5227173"/>
          </a:xfrm>
        </p:spPr>
      </p:pic>
    </p:spTree>
    <p:extLst>
      <p:ext uri="{BB962C8B-B14F-4D97-AF65-F5344CB8AC3E}">
        <p14:creationId xmlns:p14="http://schemas.microsoft.com/office/powerpoint/2010/main" val="232006908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TotalTime>
  <Words>976</Words>
  <Application>Microsoft Office PowerPoint</Application>
  <PresentationFormat>Panorámica</PresentationFormat>
  <Paragraphs>107</Paragraphs>
  <Slides>24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Arial</vt:lpstr>
      <vt:lpstr>Calibri</vt:lpstr>
      <vt:lpstr>Calibri Light</vt:lpstr>
      <vt:lpstr>Tema de Office</vt:lpstr>
      <vt:lpstr>Clase 2 – Excel Procesamiento de datos.</vt:lpstr>
      <vt:lpstr>Tabla de contenido.</vt:lpstr>
      <vt:lpstr>Ingreso de datos.</vt:lpstr>
      <vt:lpstr>Ejemplo 1: Tiempo de espera en una sucursal bancaria.</vt:lpstr>
      <vt:lpstr>Validación de datos: opción Lista.</vt:lpstr>
      <vt:lpstr>Validación de datos: opción Lista.</vt:lpstr>
      <vt:lpstr>Validación de datos: opción decimal. </vt:lpstr>
      <vt:lpstr>Validación de datos: opción decimal. </vt:lpstr>
      <vt:lpstr>Validación de datos.</vt:lpstr>
      <vt:lpstr>Filtros.</vt:lpstr>
      <vt:lpstr>Filtros.</vt:lpstr>
      <vt:lpstr>Filtros.</vt:lpstr>
      <vt:lpstr>Fórmulas.</vt:lpstr>
      <vt:lpstr>Fórmulas.</vt:lpstr>
      <vt:lpstr>Fórmulas - - - SI().</vt:lpstr>
      <vt:lpstr>Fórmulas - - - BUSCAR()</vt:lpstr>
      <vt:lpstr>Gráficos.</vt:lpstr>
      <vt:lpstr>Gráficos.</vt:lpstr>
      <vt:lpstr>Tipos de Gráficos.</vt:lpstr>
      <vt:lpstr>Módulo análisis de datos.</vt:lpstr>
      <vt:lpstr>Módulo análisis de datos.</vt:lpstr>
      <vt:lpstr>Módulo de análisis de datos.</vt:lpstr>
      <vt:lpstr>Módulo de análisis de datos.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Administrador</dc:creator>
  <cp:lastModifiedBy>Administrador</cp:lastModifiedBy>
  <cp:revision>15</cp:revision>
  <dcterms:created xsi:type="dcterms:W3CDTF">2026-02-19T16:44:38Z</dcterms:created>
  <dcterms:modified xsi:type="dcterms:W3CDTF">2026-02-19T21:45:43Z</dcterms:modified>
</cp:coreProperties>
</file>