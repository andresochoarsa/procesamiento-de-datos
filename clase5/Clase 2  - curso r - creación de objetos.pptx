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2"/>
  </p:notesMasterIdLst>
  <p:handoutMasterIdLst>
    <p:handoutMasterId r:id="rId33"/>
  </p:handoutMasterIdLst>
  <p:sldIdLst>
    <p:sldId id="256" r:id="rId5"/>
    <p:sldId id="291" r:id="rId6"/>
    <p:sldId id="293" r:id="rId7"/>
    <p:sldId id="294" r:id="rId8"/>
    <p:sldId id="270" r:id="rId9"/>
    <p:sldId id="275" r:id="rId10"/>
    <p:sldId id="276" r:id="rId11"/>
    <p:sldId id="277" r:id="rId12"/>
    <p:sldId id="280" r:id="rId13"/>
    <p:sldId id="288" r:id="rId14"/>
    <p:sldId id="289" r:id="rId15"/>
    <p:sldId id="290" r:id="rId16"/>
    <p:sldId id="279" r:id="rId17"/>
    <p:sldId id="292" r:id="rId18"/>
    <p:sldId id="296" r:id="rId19"/>
    <p:sldId id="297" r:id="rId20"/>
    <p:sldId id="298" r:id="rId21"/>
    <p:sldId id="295" r:id="rId22"/>
    <p:sldId id="299" r:id="rId23"/>
    <p:sldId id="302" r:id="rId24"/>
    <p:sldId id="300" r:id="rId25"/>
    <p:sldId id="310" r:id="rId26"/>
    <p:sldId id="301" r:id="rId27"/>
    <p:sldId id="308" r:id="rId28"/>
    <p:sldId id="309" r:id="rId29"/>
    <p:sldId id="306" r:id="rId30"/>
    <p:sldId id="307" r:id="rId31"/>
  </p:sldIdLst>
  <p:sldSz cx="12188825"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017" autoAdjust="0"/>
    <p:restoredTop sz="94660"/>
  </p:normalViewPr>
  <p:slideViewPr>
    <p:cSldViewPr>
      <p:cViewPr varScale="1">
        <p:scale>
          <a:sx n="73" d="100"/>
          <a:sy n="73" d="100"/>
        </p:scale>
        <p:origin x="-666" y="-90"/>
      </p:cViewPr>
      <p:guideLst>
        <p:guide orient="horz" pos="2160"/>
        <p:guide pos="3839"/>
      </p:guideLst>
    </p:cSldViewPr>
  </p:slideViewPr>
  <p:notesTextViewPr>
    <p:cViewPr>
      <p:scale>
        <a:sx n="1" d="1"/>
        <a:sy n="1" d="1"/>
      </p:scale>
      <p:origin x="0" y="0"/>
    </p:cViewPr>
  </p:notesTextViewPr>
  <p:notesViewPr>
    <p:cSldViewPr showGuides="1">
      <p:cViewPr varScale="1">
        <p:scale>
          <a:sx n="90" d="100"/>
          <a:sy n="90" d="100"/>
        </p:scale>
        <p:origin x="3024" y="90"/>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es-ES" dirty="0"/>
          </a:p>
        </p:txBody>
      </p:sp>
      <p:sp>
        <p:nvSpPr>
          <p:cNvPr id="3" name="Marcador de posición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rtl="0"/>
            <a:fld id="{F11FD187-339A-4169-A405-3634A2E4767A}" type="datetime1">
              <a:rPr lang="es-ES" smtClean="0"/>
              <a:pPr rtl="0"/>
              <a:t>03/05/2018</a:t>
            </a:fld>
            <a:endParaRPr lang="es-ES" dirty="0"/>
          </a:p>
        </p:txBody>
      </p:sp>
      <p:sp>
        <p:nvSpPr>
          <p:cNvPr id="4" name="Marcador de posición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A98ED8CD-4E4C-49AC-BDC6-2963BA49E54F}" type="slidenum">
              <a:rPr lang="es-ES"/>
              <a:pPr rtl="0"/>
              <a:t>‹Nº›</a:t>
            </a:fld>
            <a:endParaRPr lang="es-ES" dirty="0"/>
          </a:p>
        </p:txBody>
      </p:sp>
    </p:spTree>
    <p:extLst>
      <p:ext uri="{BB962C8B-B14F-4D97-AF65-F5344CB8AC3E}">
        <p14:creationId xmlns:p14="http://schemas.microsoft.com/office/powerpoint/2010/main" xmlns="" val="34341795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es-ES" noProof="0" dirty="0"/>
          </a:p>
        </p:txBody>
      </p:sp>
      <p:sp>
        <p:nvSpPr>
          <p:cNvPr id="3" name="Marcador de posición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rtl="0"/>
            <a:fld id="{B38686FD-4075-4AD9-B8F9-29CA1BFB4603}" type="datetime1">
              <a:rPr lang="es-ES" noProof="0" smtClean="0"/>
              <a:pPr rtl="0"/>
              <a:t>03/05/2018</a:t>
            </a:fld>
            <a:endParaRPr lang="es-ES" noProof="0" dirty="0"/>
          </a:p>
        </p:txBody>
      </p:sp>
      <p:sp>
        <p:nvSpPr>
          <p:cNvPr id="4" name="Marcador de imagen de diapositiva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rtl="0"/>
            <a:endParaRPr/>
          </a:p>
        </p:txBody>
      </p:sp>
      <p:sp>
        <p:nvSpPr>
          <p:cNvPr id="5" name="Marcador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es-ES" noProof="0" dirty="0"/>
              <a:t>Editar el estilo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es-ES" noProof="0" dirty="0"/>
          </a:p>
        </p:txBody>
      </p:sp>
      <p:sp>
        <p:nvSpPr>
          <p:cNvPr id="7" name="Marcador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5FB91549-43BF-425A-AF25-75262019208C}" type="slidenum">
              <a:rPr lang="es-ES" noProof="0"/>
              <a:pPr rtl="0"/>
              <a:t>‹Nº›</a:t>
            </a:fld>
            <a:endParaRPr lang="es-ES" noProof="0" dirty="0"/>
          </a:p>
        </p:txBody>
      </p:sp>
    </p:spTree>
    <p:extLst>
      <p:ext uri="{BB962C8B-B14F-4D97-AF65-F5344CB8AC3E}">
        <p14:creationId xmlns:p14="http://schemas.microsoft.com/office/powerpoint/2010/main" xmlns="" val="423928641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5FB91549-43BF-425A-AF25-75262019208C}" type="slidenum">
              <a:rPr lang="es-ES" smtClean="0"/>
              <a:pPr rtl="0"/>
              <a:t>1</a:t>
            </a:fld>
            <a:endParaRPr lang="es-ES" dirty="0"/>
          </a:p>
        </p:txBody>
      </p:sp>
    </p:spTree>
    <p:extLst>
      <p:ext uri="{BB962C8B-B14F-4D97-AF65-F5344CB8AC3E}">
        <p14:creationId xmlns:p14="http://schemas.microsoft.com/office/powerpoint/2010/main" xmlns="" val="3962716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5FB91549-43BF-425A-AF25-75262019208C}" type="slidenum">
              <a:rPr lang="es-ES" smtClean="0"/>
              <a:pPr rtl="0"/>
              <a:t>5</a:t>
            </a:fld>
            <a:endParaRPr lang="es-ES" dirty="0"/>
          </a:p>
        </p:txBody>
      </p:sp>
    </p:spTree>
    <p:extLst>
      <p:ext uri="{BB962C8B-B14F-4D97-AF65-F5344CB8AC3E}">
        <p14:creationId xmlns:p14="http://schemas.microsoft.com/office/powerpoint/2010/main" xmlns="" val="8317411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Ref idx="1002">
        <a:schemeClr val="bg2"/>
      </p:bgRef>
    </p:bg>
    <p:spTree>
      <p:nvGrpSpPr>
        <p:cNvPr id="1" name=""/>
        <p:cNvGrpSpPr/>
        <p:nvPr/>
      </p:nvGrpSpPr>
      <p:grpSpPr>
        <a:xfrm>
          <a:off x="0" y="0"/>
          <a:ext cx="0" cy="0"/>
          <a:chOff x="0" y="0"/>
          <a:chExt cx="0" cy="0"/>
        </a:xfrm>
      </p:grpSpPr>
      <p:pic>
        <p:nvPicPr>
          <p:cNvPr id="5" name="Imagen 4" descr="Vista desde abajo a las nubes y al cielo azul rodeada de edificios con paredes de cristal"/>
          <p:cNvPicPr>
            <a:picLocks noChangeAspect="1"/>
          </p:cNvPicPr>
          <p:nvPr/>
        </p:nvPicPr>
        <p:blipFill rotWithShape="1">
          <a:blip r:embed="rId2" cstate="print">
            <a:extLst>
              <a:ext uri="{28A0092B-C50C-407E-A947-70E740481C1C}">
                <a14:useLocalDpi xmlns:a14="http://schemas.microsoft.com/office/drawing/2010/main" xmlns="" val="0"/>
              </a:ext>
            </a:extLst>
          </a:blip>
          <a:srcRect/>
          <a:stretch/>
        </p:blipFill>
        <p:spPr>
          <a:xfrm>
            <a:off x="4873625" y="0"/>
            <a:ext cx="7315200" cy="6858001"/>
          </a:xfrm>
          <a:prstGeom prst="rect">
            <a:avLst/>
          </a:prstGeom>
        </p:spPr>
      </p:pic>
      <p:sp>
        <p:nvSpPr>
          <p:cNvPr id="2" name="Título 1"/>
          <p:cNvSpPr>
            <a:spLocks noGrp="1"/>
          </p:cNvSpPr>
          <p:nvPr>
            <p:ph type="ctrTitle"/>
          </p:nvPr>
        </p:nvSpPr>
        <p:spPr>
          <a:xfrm>
            <a:off x="608013" y="685801"/>
            <a:ext cx="3962400" cy="4724399"/>
          </a:xfrm>
        </p:spPr>
        <p:txBody>
          <a:bodyPr rtlCol="0">
            <a:normAutofit/>
          </a:bodyPr>
          <a:lstStyle>
            <a:lvl1pPr rtl="0">
              <a:defRPr sz="4800"/>
            </a:lvl1pPr>
          </a:lstStyle>
          <a:p>
            <a:pPr rtl="0"/>
            <a:r>
              <a:rPr lang="es-ES" noProof="0" smtClean="0"/>
              <a:t>Haga clic para modificar el estilo de título del patrón</a:t>
            </a:r>
            <a:endParaRPr lang="es-ES" noProof="0" dirty="0"/>
          </a:p>
        </p:txBody>
      </p:sp>
      <p:sp>
        <p:nvSpPr>
          <p:cNvPr id="3" name="Subtítulo 2"/>
          <p:cNvSpPr>
            <a:spLocks noGrp="1"/>
          </p:cNvSpPr>
          <p:nvPr>
            <p:ph type="subTitle" idx="1"/>
          </p:nvPr>
        </p:nvSpPr>
        <p:spPr>
          <a:xfrm>
            <a:off x="608013" y="5410200"/>
            <a:ext cx="3962400" cy="762000"/>
          </a:xfrm>
        </p:spPr>
        <p:txBody>
          <a:bodyPr rtlCol="0">
            <a:norm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smtClean="0"/>
              <a:t>Haga clic para modificar el estilo de subtítulo del patrón</a:t>
            </a:r>
            <a:endParaRPr lang="es-ES" noProof="0" dirty="0"/>
          </a:p>
        </p:txBody>
      </p:sp>
      <p:sp>
        <p:nvSpPr>
          <p:cNvPr id="8" name="Marcador de posición de fecha 7"/>
          <p:cNvSpPr>
            <a:spLocks noGrp="1"/>
          </p:cNvSpPr>
          <p:nvPr>
            <p:ph type="dt" sz="half" idx="10"/>
          </p:nvPr>
        </p:nvSpPr>
        <p:spPr/>
        <p:txBody>
          <a:bodyPr rtlCol="0"/>
          <a:lstStyle/>
          <a:p>
            <a:pPr rtl="0"/>
            <a:fld id="{1C2413DC-7E09-4B22-92E4-DD7EBB58F33E}" type="datetime1">
              <a:rPr lang="es-ES" noProof="0" smtClean="0"/>
              <a:pPr rtl="0"/>
              <a:t>03/05/2018</a:t>
            </a:fld>
            <a:endParaRPr lang="es-ES" noProof="0" dirty="0"/>
          </a:p>
        </p:txBody>
      </p:sp>
      <p:sp>
        <p:nvSpPr>
          <p:cNvPr id="9" name="Marcador de posición de pie de página 8"/>
          <p:cNvSpPr>
            <a:spLocks noGrp="1"/>
          </p:cNvSpPr>
          <p:nvPr>
            <p:ph type="ftr" sz="quarter" idx="11"/>
          </p:nvPr>
        </p:nvSpPr>
        <p:spPr/>
        <p:txBody>
          <a:bodyPr rtlCol="0"/>
          <a:lstStyle/>
          <a:p>
            <a:pPr rtl="0"/>
            <a:r>
              <a:rPr lang="es-ES" noProof="0" dirty="0"/>
              <a:t>Agregar un pie de página</a:t>
            </a:r>
          </a:p>
        </p:txBody>
      </p:sp>
      <p:sp>
        <p:nvSpPr>
          <p:cNvPr id="10" name="Marcador de número de diapositiva 9"/>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27348395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rtl="0">
              <a:defRPr/>
            </a:lvl1pPr>
          </a:lstStyle>
          <a:p>
            <a:pPr rtl="0"/>
            <a:r>
              <a:rPr lang="es-ES" noProof="0" smtClean="0"/>
              <a:t>Haga clic para modificar el estilo de título del patrón</a:t>
            </a:r>
            <a:endParaRPr lang="es-ES" noProof="0" dirty="0"/>
          </a:p>
        </p:txBody>
      </p:sp>
      <p:sp>
        <p:nvSpPr>
          <p:cNvPr id="3" name="Marcador de contenido 2"/>
          <p:cNvSpPr>
            <a:spLocks noGrp="1"/>
          </p:cNvSpPr>
          <p:nvPr>
            <p:ph idx="1"/>
          </p:nvPr>
        </p:nvSpPr>
        <p:spPr/>
        <p:txBody>
          <a:bodyPr rtlCol="0"/>
          <a:lstStyle>
            <a:lvl1pPr rtl="0">
              <a:defRPr/>
            </a:lvl1pPr>
            <a:lvl5pPr>
              <a:defRPr/>
            </a:lvl5pPr>
            <a:lvl6pPr>
              <a:defRPr/>
            </a:lvl6pPr>
            <a:lvl7pPr>
              <a:defRPr/>
            </a:lvl7pPr>
            <a:lvl8pPr>
              <a:defRPr/>
            </a:lvl8pPr>
            <a:lvl9pPr>
              <a:defRPr/>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4" name="Marcador de posición de fecha 3"/>
          <p:cNvSpPr>
            <a:spLocks noGrp="1"/>
          </p:cNvSpPr>
          <p:nvPr>
            <p:ph type="dt" sz="half" idx="10"/>
          </p:nvPr>
        </p:nvSpPr>
        <p:spPr/>
        <p:txBody>
          <a:bodyPr rtlCol="0"/>
          <a:lstStyle/>
          <a:p>
            <a:pPr rtl="0"/>
            <a:fld id="{52D2D38E-35D9-40B0-9B3D-3E8E9EDFA407}" type="datetime1">
              <a:rPr lang="es-ES" noProof="0" smtClean="0"/>
              <a:pPr rtl="0"/>
              <a:t>03/05/2018</a:t>
            </a:fld>
            <a:endParaRPr lang="es-ES" noProof="0" dirty="0"/>
          </a:p>
        </p:txBody>
      </p:sp>
      <p:sp>
        <p:nvSpPr>
          <p:cNvPr id="5" name="Marcador de posición de pie de página 4"/>
          <p:cNvSpPr>
            <a:spLocks noGrp="1"/>
          </p:cNvSpPr>
          <p:nvPr>
            <p:ph type="ftr" sz="quarter" idx="11"/>
          </p:nvPr>
        </p:nvSpPr>
        <p:spPr/>
        <p:txBody>
          <a:bodyPr rtlCol="0"/>
          <a:lstStyle/>
          <a:p>
            <a:pPr rtl="0"/>
            <a:r>
              <a:rPr lang="es-ES" noProof="0" dirty="0"/>
              <a:t>Agregar un pie de página</a:t>
            </a:r>
          </a:p>
        </p:txBody>
      </p:sp>
      <p:sp>
        <p:nvSpPr>
          <p:cNvPr id="6" name="Marcador de número de diapositiva 5"/>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31378625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608013" y="2590800"/>
            <a:ext cx="8229599" cy="2819400"/>
          </a:xfrm>
        </p:spPr>
        <p:txBody>
          <a:bodyPr rtlCol="0" anchor="b">
            <a:normAutofit/>
          </a:bodyPr>
          <a:lstStyle>
            <a:lvl1pPr algn="l" rtl="0">
              <a:defRPr sz="4800" b="0" cap="none" baseline="0"/>
            </a:lvl1pPr>
          </a:lstStyle>
          <a:p>
            <a:pPr rtl="0"/>
            <a:r>
              <a:rPr lang="es-ES" noProof="0" smtClean="0"/>
              <a:t>Haga clic para modificar el estilo de título del patrón</a:t>
            </a:r>
            <a:endParaRPr lang="es-ES" noProof="0" dirty="0"/>
          </a:p>
        </p:txBody>
      </p:sp>
      <p:sp>
        <p:nvSpPr>
          <p:cNvPr id="3" name="Marcador de texto 2"/>
          <p:cNvSpPr>
            <a:spLocks noGrp="1"/>
          </p:cNvSpPr>
          <p:nvPr>
            <p:ph type="body" idx="1"/>
          </p:nvPr>
        </p:nvSpPr>
        <p:spPr>
          <a:xfrm>
            <a:off x="606425" y="5410200"/>
            <a:ext cx="8231187" cy="762000"/>
          </a:xfrm>
        </p:spPr>
        <p:txBody>
          <a:bodyPr rtlCol="0" anchor="t">
            <a:normAutofit/>
          </a:bodyPr>
          <a:lstStyle>
            <a:lvl1pPr marL="0" indent="0" rtl="0">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smtClean="0"/>
              <a:t>Haga clic para modificar el estilo de texto del patrón</a:t>
            </a:r>
          </a:p>
        </p:txBody>
      </p:sp>
      <p:sp>
        <p:nvSpPr>
          <p:cNvPr id="7" name="Marcador de posición de fecha 6"/>
          <p:cNvSpPr>
            <a:spLocks noGrp="1"/>
          </p:cNvSpPr>
          <p:nvPr>
            <p:ph type="dt" sz="half" idx="10"/>
          </p:nvPr>
        </p:nvSpPr>
        <p:spPr/>
        <p:txBody>
          <a:bodyPr rtlCol="0"/>
          <a:lstStyle/>
          <a:p>
            <a:pPr rtl="0"/>
            <a:fld id="{0BA0DFDB-B788-425E-826A-9981788BFC84}" type="datetime1">
              <a:rPr lang="es-ES" noProof="0" smtClean="0"/>
              <a:pPr rtl="0"/>
              <a:t>03/05/2018</a:t>
            </a:fld>
            <a:endParaRPr lang="es-ES" noProof="0" dirty="0"/>
          </a:p>
        </p:txBody>
      </p:sp>
      <p:sp>
        <p:nvSpPr>
          <p:cNvPr id="8" name="Marcador de posición de pie de página 7"/>
          <p:cNvSpPr>
            <a:spLocks noGrp="1"/>
          </p:cNvSpPr>
          <p:nvPr>
            <p:ph type="ftr" sz="quarter" idx="11"/>
          </p:nvPr>
        </p:nvSpPr>
        <p:spPr/>
        <p:txBody>
          <a:bodyPr rtlCol="0"/>
          <a:lstStyle/>
          <a:p>
            <a:pPr rtl="0"/>
            <a:r>
              <a:rPr lang="es-ES" noProof="0" dirty="0"/>
              <a:t>Agregar un pie de página</a:t>
            </a:r>
          </a:p>
        </p:txBody>
      </p:sp>
      <p:sp>
        <p:nvSpPr>
          <p:cNvPr id="9" name="Marcador de número de diapositiva 8"/>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32251135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rtl="0">
              <a:defRPr/>
            </a:lvl1pPr>
          </a:lstStyle>
          <a:p>
            <a:pPr rtl="0"/>
            <a:r>
              <a:rPr lang="es-ES" noProof="0" smtClean="0"/>
              <a:t>Haga clic para modificar el estilo de título del patrón</a:t>
            </a:r>
            <a:endParaRPr lang="es-ES" noProof="0" dirty="0"/>
          </a:p>
        </p:txBody>
      </p:sp>
      <p:sp>
        <p:nvSpPr>
          <p:cNvPr id="3" name="Marcador de posición de contenido 2"/>
          <p:cNvSpPr>
            <a:spLocks noGrp="1"/>
          </p:cNvSpPr>
          <p:nvPr>
            <p:ph sz="half" idx="1"/>
          </p:nvPr>
        </p:nvSpPr>
        <p:spPr>
          <a:xfrm>
            <a:off x="1293813" y="685800"/>
            <a:ext cx="5029200" cy="4191000"/>
          </a:xfrm>
        </p:spPr>
        <p:txBody>
          <a:bodyPr rtlCol="0"/>
          <a:lstStyle>
            <a:lvl1pPr rtl="0">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4" name="Marcador de posición de contenido 3"/>
          <p:cNvSpPr>
            <a:spLocks noGrp="1"/>
          </p:cNvSpPr>
          <p:nvPr>
            <p:ph sz="half" idx="2"/>
          </p:nvPr>
        </p:nvSpPr>
        <p:spPr>
          <a:xfrm>
            <a:off x="6551614" y="685800"/>
            <a:ext cx="5029199" cy="4191000"/>
          </a:xfrm>
        </p:spPr>
        <p:txBody>
          <a:bodyPr rtlCol="0"/>
          <a:lstStyle>
            <a:lvl1pPr rtl="0">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5" name="Marcador de posición de fecha 4"/>
          <p:cNvSpPr>
            <a:spLocks noGrp="1"/>
          </p:cNvSpPr>
          <p:nvPr>
            <p:ph type="dt" sz="half" idx="10"/>
          </p:nvPr>
        </p:nvSpPr>
        <p:spPr/>
        <p:txBody>
          <a:bodyPr rtlCol="0"/>
          <a:lstStyle/>
          <a:p>
            <a:pPr rtl="0"/>
            <a:fld id="{9B8D21EB-7BA9-4596-8433-3F9378506832}" type="datetime1">
              <a:rPr lang="es-ES" noProof="0" smtClean="0"/>
              <a:pPr rtl="0"/>
              <a:t>03/05/2018</a:t>
            </a:fld>
            <a:endParaRPr lang="es-ES" noProof="0" dirty="0"/>
          </a:p>
        </p:txBody>
      </p:sp>
      <p:sp>
        <p:nvSpPr>
          <p:cNvPr id="6" name="Marcador de posición de pie de página 5"/>
          <p:cNvSpPr>
            <a:spLocks noGrp="1"/>
          </p:cNvSpPr>
          <p:nvPr>
            <p:ph type="ftr" sz="quarter" idx="11"/>
          </p:nvPr>
        </p:nvSpPr>
        <p:spPr/>
        <p:txBody>
          <a:bodyPr rtlCol="0"/>
          <a:lstStyle/>
          <a:p>
            <a:pPr rtl="0"/>
            <a:r>
              <a:rPr lang="es-ES" noProof="0" dirty="0"/>
              <a:t>Agregar un pie de página</a:t>
            </a:r>
          </a:p>
        </p:txBody>
      </p:sp>
      <p:sp>
        <p:nvSpPr>
          <p:cNvPr id="7" name="Marcador de número de diapositiva 6"/>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38970135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rtl="0">
              <a:defRPr/>
            </a:lvl1pPr>
          </a:lstStyle>
          <a:p>
            <a:pPr rtl="0"/>
            <a:r>
              <a:rPr lang="es-ES" noProof="0" smtClean="0"/>
              <a:t>Haga clic para modificar el estilo de título del patrón</a:t>
            </a:r>
            <a:endParaRPr lang="es-ES" noProof="0" dirty="0"/>
          </a:p>
        </p:txBody>
      </p:sp>
      <p:sp>
        <p:nvSpPr>
          <p:cNvPr id="3" name="Marcador de posición de texto 2"/>
          <p:cNvSpPr>
            <a:spLocks noGrp="1"/>
          </p:cNvSpPr>
          <p:nvPr>
            <p:ph type="body" idx="1"/>
          </p:nvPr>
        </p:nvSpPr>
        <p:spPr>
          <a:xfrm>
            <a:off x="1293664" y="685800"/>
            <a:ext cx="5029200" cy="990600"/>
          </a:xfrm>
        </p:spPr>
        <p:txBody>
          <a:bodyPr rtlCol="0" anchor="ctr">
            <a:normAutofit/>
          </a:bodyPr>
          <a:lstStyle>
            <a:lvl1pPr marL="0" indent="0" rtl="0">
              <a:spcBef>
                <a:spcPts val="0"/>
              </a:spcBef>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smtClean="0"/>
              <a:t>Haga clic para modificar el estilo de texto del patrón</a:t>
            </a:r>
          </a:p>
        </p:txBody>
      </p:sp>
      <p:sp>
        <p:nvSpPr>
          <p:cNvPr id="4" name="Marcador de posición de contenido 3"/>
          <p:cNvSpPr>
            <a:spLocks noGrp="1"/>
          </p:cNvSpPr>
          <p:nvPr>
            <p:ph sz="half" idx="2"/>
          </p:nvPr>
        </p:nvSpPr>
        <p:spPr>
          <a:xfrm>
            <a:off x="1293664" y="1676400"/>
            <a:ext cx="5029200" cy="3200400"/>
          </a:xfrm>
        </p:spPr>
        <p:txBody>
          <a:bodyPr rtlCol="0"/>
          <a:lstStyle>
            <a:lvl1pPr rtl="0">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5" name="Marcador de posición de texto 4"/>
          <p:cNvSpPr>
            <a:spLocks noGrp="1"/>
          </p:cNvSpPr>
          <p:nvPr>
            <p:ph type="body" sz="quarter" idx="3"/>
          </p:nvPr>
        </p:nvSpPr>
        <p:spPr>
          <a:xfrm>
            <a:off x="6551613" y="685800"/>
            <a:ext cx="5029200" cy="990600"/>
          </a:xfrm>
        </p:spPr>
        <p:txBody>
          <a:bodyPr rtlCol="0" anchor="ctr">
            <a:normAutofit/>
          </a:bodyPr>
          <a:lstStyle>
            <a:lvl1pPr marL="0" indent="0" rtl="0">
              <a:spcBef>
                <a:spcPts val="0"/>
              </a:spcBef>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smtClean="0"/>
              <a:t>Haga clic para modificar el estilo de texto del patrón</a:t>
            </a:r>
          </a:p>
        </p:txBody>
      </p:sp>
      <p:sp>
        <p:nvSpPr>
          <p:cNvPr id="6" name="Marcador de posición de contenido 5"/>
          <p:cNvSpPr>
            <a:spLocks noGrp="1"/>
          </p:cNvSpPr>
          <p:nvPr>
            <p:ph sz="quarter" idx="4"/>
          </p:nvPr>
        </p:nvSpPr>
        <p:spPr>
          <a:xfrm>
            <a:off x="6550025" y="1676400"/>
            <a:ext cx="5029200" cy="3200400"/>
          </a:xfrm>
        </p:spPr>
        <p:txBody>
          <a:bodyPr rtlCol="0"/>
          <a:lstStyle>
            <a:lvl1pPr rtl="0">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7" name="Marcador de posición de fecha 6"/>
          <p:cNvSpPr>
            <a:spLocks noGrp="1"/>
          </p:cNvSpPr>
          <p:nvPr>
            <p:ph type="dt" sz="half" idx="10"/>
          </p:nvPr>
        </p:nvSpPr>
        <p:spPr/>
        <p:txBody>
          <a:bodyPr rtlCol="0"/>
          <a:lstStyle/>
          <a:p>
            <a:pPr rtl="0"/>
            <a:fld id="{426722B8-33DA-4E19-8244-813AF4BB1387}" type="datetime1">
              <a:rPr lang="es-ES" noProof="0" smtClean="0"/>
              <a:pPr rtl="0"/>
              <a:t>03/05/2018</a:t>
            </a:fld>
            <a:endParaRPr lang="es-ES" noProof="0" dirty="0"/>
          </a:p>
        </p:txBody>
      </p:sp>
      <p:sp>
        <p:nvSpPr>
          <p:cNvPr id="8" name="Marcador de posición de pie de página 7"/>
          <p:cNvSpPr>
            <a:spLocks noGrp="1"/>
          </p:cNvSpPr>
          <p:nvPr>
            <p:ph type="ftr" sz="quarter" idx="11"/>
          </p:nvPr>
        </p:nvSpPr>
        <p:spPr/>
        <p:txBody>
          <a:bodyPr rtlCol="0"/>
          <a:lstStyle/>
          <a:p>
            <a:pPr rtl="0"/>
            <a:r>
              <a:rPr lang="es-ES" noProof="0" dirty="0"/>
              <a:t>Agregar un pie de página</a:t>
            </a:r>
          </a:p>
        </p:txBody>
      </p:sp>
      <p:sp>
        <p:nvSpPr>
          <p:cNvPr id="9" name="Marcador de número de diapositiva 8"/>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51309680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rtl="0">
              <a:defRPr/>
            </a:lvl1pPr>
          </a:lstStyle>
          <a:p>
            <a:pPr rtl="0"/>
            <a:r>
              <a:rPr lang="es-ES" noProof="0" smtClean="0"/>
              <a:t>Haga clic para modificar el estilo de título del patrón</a:t>
            </a:r>
            <a:endParaRPr lang="es-ES" noProof="0" dirty="0"/>
          </a:p>
        </p:txBody>
      </p:sp>
      <p:sp>
        <p:nvSpPr>
          <p:cNvPr id="3" name="Marcador de posición de fecha 2"/>
          <p:cNvSpPr>
            <a:spLocks noGrp="1"/>
          </p:cNvSpPr>
          <p:nvPr>
            <p:ph type="dt" sz="half" idx="10"/>
          </p:nvPr>
        </p:nvSpPr>
        <p:spPr/>
        <p:txBody>
          <a:bodyPr rtlCol="0"/>
          <a:lstStyle/>
          <a:p>
            <a:pPr rtl="0"/>
            <a:fld id="{3AA39E48-CC81-4F3E-B38E-78AF9E3DDD19}" type="datetime1">
              <a:rPr lang="es-ES" noProof="0" smtClean="0"/>
              <a:pPr rtl="0"/>
              <a:t>03/05/2018</a:t>
            </a:fld>
            <a:endParaRPr lang="es-ES" noProof="0" dirty="0"/>
          </a:p>
        </p:txBody>
      </p:sp>
      <p:sp>
        <p:nvSpPr>
          <p:cNvPr id="4" name="Marcador de posición de pie de página 3"/>
          <p:cNvSpPr>
            <a:spLocks noGrp="1"/>
          </p:cNvSpPr>
          <p:nvPr>
            <p:ph type="ftr" sz="quarter" idx="11"/>
          </p:nvPr>
        </p:nvSpPr>
        <p:spPr/>
        <p:txBody>
          <a:bodyPr rtlCol="0"/>
          <a:lstStyle/>
          <a:p>
            <a:pPr rtl="0"/>
            <a:r>
              <a:rPr lang="es-ES" noProof="0" dirty="0"/>
              <a:t>Agregar un pie de página</a:t>
            </a:r>
          </a:p>
        </p:txBody>
      </p:sp>
      <p:sp>
        <p:nvSpPr>
          <p:cNvPr id="5" name="Marcador de número de diapositiva 4"/>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313442815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posición de fecha 1"/>
          <p:cNvSpPr>
            <a:spLocks noGrp="1"/>
          </p:cNvSpPr>
          <p:nvPr>
            <p:ph type="dt" sz="half" idx="10"/>
          </p:nvPr>
        </p:nvSpPr>
        <p:spPr/>
        <p:txBody>
          <a:bodyPr rtlCol="0"/>
          <a:lstStyle/>
          <a:p>
            <a:pPr rtl="0"/>
            <a:fld id="{168C03EA-07B4-4B74-A9E4-45DEB2C989AA}" type="datetime1">
              <a:rPr lang="es-ES" noProof="0" smtClean="0"/>
              <a:pPr rtl="0"/>
              <a:t>03/05/2018</a:t>
            </a:fld>
            <a:endParaRPr lang="es-ES" noProof="0" dirty="0"/>
          </a:p>
        </p:txBody>
      </p:sp>
      <p:sp>
        <p:nvSpPr>
          <p:cNvPr id="3" name="Marcador de posición de pie de página 2"/>
          <p:cNvSpPr>
            <a:spLocks noGrp="1"/>
          </p:cNvSpPr>
          <p:nvPr>
            <p:ph type="ftr" sz="quarter" idx="11"/>
          </p:nvPr>
        </p:nvSpPr>
        <p:spPr/>
        <p:txBody>
          <a:bodyPr rtlCol="0"/>
          <a:lstStyle/>
          <a:p>
            <a:pPr rtl="0"/>
            <a:r>
              <a:rPr lang="es-ES" noProof="0" dirty="0"/>
              <a:t>Agregar un pie de página</a:t>
            </a:r>
          </a:p>
        </p:txBody>
      </p:sp>
      <p:sp>
        <p:nvSpPr>
          <p:cNvPr id="4" name="Marcador de número de diapositiva 3"/>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191031189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08014" y="685800"/>
            <a:ext cx="3962400" cy="4724400"/>
          </a:xfrm>
        </p:spPr>
        <p:txBody>
          <a:bodyPr rtlCol="0" anchor="b">
            <a:noAutofit/>
          </a:bodyPr>
          <a:lstStyle>
            <a:lvl1pPr algn="l" rtl="0">
              <a:defRPr sz="3600" b="0"/>
            </a:lvl1pPr>
          </a:lstStyle>
          <a:p>
            <a:pPr rtl="0"/>
            <a:r>
              <a:rPr lang="es-ES" noProof="0" smtClean="0"/>
              <a:t>Haga clic para modificar el estilo de título del patrón</a:t>
            </a:r>
            <a:endParaRPr lang="es-ES" noProof="0" dirty="0"/>
          </a:p>
        </p:txBody>
      </p:sp>
      <p:sp>
        <p:nvSpPr>
          <p:cNvPr id="3" name="Marcador de contenido 2"/>
          <p:cNvSpPr>
            <a:spLocks noGrp="1"/>
          </p:cNvSpPr>
          <p:nvPr>
            <p:ph idx="1"/>
          </p:nvPr>
        </p:nvSpPr>
        <p:spPr>
          <a:xfrm>
            <a:off x="4875212" y="685800"/>
            <a:ext cx="6704171" cy="5486400"/>
          </a:xfrm>
        </p:spPr>
        <p:txBody>
          <a:bodyPr rtlCol="0">
            <a:normAutofit/>
          </a:bodyPr>
          <a:lstStyle>
            <a:lvl1pPr rtl="0">
              <a:defRPr sz="2800"/>
            </a:lvl1pPr>
            <a:lvl2pPr>
              <a:defRPr sz="2400"/>
            </a:lvl2pPr>
            <a:lvl3pPr>
              <a:defRPr sz="2000"/>
            </a:lvl3pPr>
            <a:lvl4pPr>
              <a:defRPr sz="1800"/>
            </a:lvl4pPr>
            <a:lvl5pPr>
              <a:defRPr sz="1800"/>
            </a:lvl5pPr>
            <a:lvl6pPr>
              <a:defRPr sz="1800" baseline="0"/>
            </a:lvl6pPr>
            <a:lvl7pPr>
              <a:defRPr sz="1800" baseline="0"/>
            </a:lvl7pPr>
            <a:lvl8pPr>
              <a:defRPr sz="1800" baseline="0"/>
            </a:lvl8pPr>
            <a:lvl9pPr>
              <a:defRPr sz="1800" baseline="0"/>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4" name="Marcador de texto 3"/>
          <p:cNvSpPr>
            <a:spLocks noGrp="1"/>
          </p:cNvSpPr>
          <p:nvPr>
            <p:ph type="body" sz="half" idx="2"/>
          </p:nvPr>
        </p:nvSpPr>
        <p:spPr>
          <a:xfrm>
            <a:off x="608013" y="5410200"/>
            <a:ext cx="3962400" cy="762000"/>
          </a:xfrm>
        </p:spPr>
        <p:txBody>
          <a:bodyPr rtlCol="0">
            <a:normAutofit/>
          </a:bodyPr>
          <a:lstStyle>
            <a:lvl1pPr marL="0" indent="0" rtl="0">
              <a:spcBef>
                <a:spcPts val="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smtClean="0"/>
              <a:t>Haga clic para modificar el estilo de texto del patrón</a:t>
            </a:r>
          </a:p>
        </p:txBody>
      </p:sp>
      <p:sp>
        <p:nvSpPr>
          <p:cNvPr id="5" name="Marcador de posición de fecha 4"/>
          <p:cNvSpPr>
            <a:spLocks noGrp="1"/>
          </p:cNvSpPr>
          <p:nvPr>
            <p:ph type="dt" sz="half" idx="10"/>
          </p:nvPr>
        </p:nvSpPr>
        <p:spPr/>
        <p:txBody>
          <a:bodyPr rtlCol="0"/>
          <a:lstStyle/>
          <a:p>
            <a:pPr rtl="0"/>
            <a:fld id="{E9FCFBDD-C212-4F07-A9A8-52A49C6B398D}" type="datetime1">
              <a:rPr lang="es-ES" noProof="0" smtClean="0"/>
              <a:pPr rtl="0"/>
              <a:t>03/05/2018</a:t>
            </a:fld>
            <a:endParaRPr lang="es-ES" noProof="0" dirty="0"/>
          </a:p>
        </p:txBody>
      </p:sp>
      <p:sp>
        <p:nvSpPr>
          <p:cNvPr id="6" name="Marcador de posición de pie de página 5"/>
          <p:cNvSpPr>
            <a:spLocks noGrp="1"/>
          </p:cNvSpPr>
          <p:nvPr>
            <p:ph type="ftr" sz="quarter" idx="11"/>
          </p:nvPr>
        </p:nvSpPr>
        <p:spPr/>
        <p:txBody>
          <a:bodyPr rtlCol="0"/>
          <a:lstStyle/>
          <a:p>
            <a:pPr rtl="0"/>
            <a:r>
              <a:rPr lang="es-ES" noProof="0" dirty="0"/>
              <a:t>Agregar un pie de página</a:t>
            </a:r>
          </a:p>
        </p:txBody>
      </p:sp>
      <p:sp>
        <p:nvSpPr>
          <p:cNvPr id="7" name="Marcador de número de diapositiva 6"/>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22347262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08014" y="685800"/>
            <a:ext cx="3962400" cy="4724400"/>
          </a:xfrm>
        </p:spPr>
        <p:txBody>
          <a:bodyPr rtlCol="0" anchor="b">
            <a:normAutofit/>
          </a:bodyPr>
          <a:lstStyle>
            <a:lvl1pPr algn="l" rtl="0">
              <a:defRPr sz="3600" b="0"/>
            </a:lvl1pPr>
          </a:lstStyle>
          <a:p>
            <a:pPr rtl="0"/>
            <a:r>
              <a:rPr lang="es-ES" noProof="0" smtClean="0"/>
              <a:t>Haga clic para modificar el estilo de título del patrón</a:t>
            </a:r>
            <a:endParaRPr lang="es-ES" noProof="0" dirty="0"/>
          </a:p>
        </p:txBody>
      </p:sp>
      <p:sp>
        <p:nvSpPr>
          <p:cNvPr id="3" name="Marcador de posición de imagen 2" descr="Marcador de posición vacío para agregar una imagen. Haga clic en el marcador de posición y seleccione la imagen que desee agregar"/>
          <p:cNvSpPr>
            <a:spLocks noGrp="1"/>
          </p:cNvSpPr>
          <p:nvPr>
            <p:ph type="pic" idx="1"/>
          </p:nvPr>
        </p:nvSpPr>
        <p:spPr>
          <a:xfrm>
            <a:off x="4875213" y="685800"/>
            <a:ext cx="6705600" cy="5486400"/>
          </a:xfrm>
          <a:ln w="63500">
            <a:solidFill>
              <a:schemeClr val="bg1"/>
            </a:solidFill>
            <a:miter lim="800000"/>
          </a:ln>
        </p:spPr>
        <p:txBody>
          <a:bodyPr rtlCol="0"/>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smtClean="0"/>
              <a:t>Haga clic en el icono para agregar una imagen</a:t>
            </a:r>
            <a:endParaRPr lang="es-ES" noProof="0" dirty="0"/>
          </a:p>
        </p:txBody>
      </p:sp>
      <p:sp>
        <p:nvSpPr>
          <p:cNvPr id="4" name="Marcador de posición de texto 3"/>
          <p:cNvSpPr>
            <a:spLocks noGrp="1"/>
          </p:cNvSpPr>
          <p:nvPr>
            <p:ph type="body" sz="half" idx="2"/>
          </p:nvPr>
        </p:nvSpPr>
        <p:spPr>
          <a:xfrm>
            <a:off x="608013" y="5410200"/>
            <a:ext cx="3962400" cy="762000"/>
          </a:xfrm>
        </p:spPr>
        <p:txBody>
          <a:bodyPr rtlCol="0">
            <a:normAutofit/>
          </a:bodyPr>
          <a:lstStyle>
            <a:lvl1pPr marL="0" indent="0" rtl="0">
              <a:spcBef>
                <a:spcPts val="0"/>
              </a:spcBef>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smtClean="0"/>
              <a:t>Haga clic para modificar el estilo de texto del patrón</a:t>
            </a:r>
          </a:p>
        </p:txBody>
      </p:sp>
      <p:sp>
        <p:nvSpPr>
          <p:cNvPr id="5" name="Marcador de posición de fecha 4"/>
          <p:cNvSpPr>
            <a:spLocks noGrp="1"/>
          </p:cNvSpPr>
          <p:nvPr>
            <p:ph type="dt" sz="half" idx="10"/>
          </p:nvPr>
        </p:nvSpPr>
        <p:spPr/>
        <p:txBody>
          <a:bodyPr rtlCol="0"/>
          <a:lstStyle/>
          <a:p>
            <a:pPr rtl="0"/>
            <a:fld id="{CCAA5B00-09C7-4B7A-8CDF-9B991296B47C}" type="datetime1">
              <a:rPr lang="es-ES" noProof="0" smtClean="0"/>
              <a:pPr rtl="0"/>
              <a:t>03/05/2018</a:t>
            </a:fld>
            <a:endParaRPr lang="es-ES" noProof="0" dirty="0"/>
          </a:p>
        </p:txBody>
      </p:sp>
      <p:sp>
        <p:nvSpPr>
          <p:cNvPr id="6" name="Marcador de posición de pie de página 5"/>
          <p:cNvSpPr>
            <a:spLocks noGrp="1"/>
          </p:cNvSpPr>
          <p:nvPr>
            <p:ph type="ftr" sz="quarter" idx="11"/>
          </p:nvPr>
        </p:nvSpPr>
        <p:spPr/>
        <p:txBody>
          <a:bodyPr rtlCol="0"/>
          <a:lstStyle/>
          <a:p>
            <a:pPr rtl="0"/>
            <a:r>
              <a:rPr lang="es-ES" noProof="0" dirty="0"/>
              <a:t>Agregar un pie de página</a:t>
            </a:r>
          </a:p>
        </p:txBody>
      </p:sp>
      <p:sp>
        <p:nvSpPr>
          <p:cNvPr id="7" name="Marcador de número de diapositiva 6"/>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335204143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rtl="0">
              <a:defRPr/>
            </a:lvl1pPr>
          </a:lstStyle>
          <a:p>
            <a:pPr rtl="0"/>
            <a:r>
              <a:rPr lang="es-ES" noProof="0" smtClean="0"/>
              <a:t>Haga clic para modificar el estilo de título del patrón</a:t>
            </a:r>
            <a:endParaRPr lang="es-ES" noProof="0" dirty="0"/>
          </a:p>
        </p:txBody>
      </p:sp>
      <p:sp>
        <p:nvSpPr>
          <p:cNvPr id="3" name="Marcador de posición de texto vertical 2"/>
          <p:cNvSpPr>
            <a:spLocks noGrp="1"/>
          </p:cNvSpPr>
          <p:nvPr>
            <p:ph type="body" orient="vert" idx="1"/>
          </p:nvPr>
        </p:nvSpPr>
        <p:spPr/>
        <p:txBody>
          <a:bodyPr vert="eaVert" rtlCol="0"/>
          <a:lstStyle>
            <a:lvl1pPr rtl="0">
              <a:defRPr/>
            </a:lvl1pPr>
            <a:lvl5pPr>
              <a:defRPr/>
            </a:lvl5pPr>
            <a:lvl6pPr>
              <a:defRPr/>
            </a:lvl6pPr>
            <a:lvl7pPr>
              <a:defRPr/>
            </a:lvl7pPr>
            <a:lvl8pPr>
              <a:defRPr baseline="0"/>
            </a:lvl8pPr>
            <a:lvl9pPr>
              <a:defRPr baseline="0"/>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4" name="Marcador de posición de fecha 3"/>
          <p:cNvSpPr>
            <a:spLocks noGrp="1"/>
          </p:cNvSpPr>
          <p:nvPr>
            <p:ph type="dt" sz="half" idx="10"/>
          </p:nvPr>
        </p:nvSpPr>
        <p:spPr/>
        <p:txBody>
          <a:bodyPr rtlCol="0"/>
          <a:lstStyle/>
          <a:p>
            <a:pPr rtl="0"/>
            <a:fld id="{D3E7752E-D606-4F8B-9E9F-D982F1478DBD}" type="datetime1">
              <a:rPr lang="es-ES" noProof="0" smtClean="0"/>
              <a:pPr rtl="0"/>
              <a:t>03/05/2018</a:t>
            </a:fld>
            <a:endParaRPr lang="es-ES" noProof="0" dirty="0"/>
          </a:p>
        </p:txBody>
      </p:sp>
      <p:sp>
        <p:nvSpPr>
          <p:cNvPr id="5" name="Marcador de posición de pie de página 4"/>
          <p:cNvSpPr>
            <a:spLocks noGrp="1"/>
          </p:cNvSpPr>
          <p:nvPr>
            <p:ph type="ftr" sz="quarter" idx="11"/>
          </p:nvPr>
        </p:nvSpPr>
        <p:spPr/>
        <p:txBody>
          <a:bodyPr rtlCol="0"/>
          <a:lstStyle/>
          <a:p>
            <a:pPr rtl="0"/>
            <a:r>
              <a:rPr lang="es-ES" noProof="0" dirty="0"/>
              <a:t>Agregar un pie de página</a:t>
            </a:r>
          </a:p>
        </p:txBody>
      </p:sp>
      <p:sp>
        <p:nvSpPr>
          <p:cNvPr id="6" name="Marcador de número de diapositiva 5"/>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217629468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10285412" y="685800"/>
            <a:ext cx="1295401" cy="5486400"/>
          </a:xfrm>
        </p:spPr>
        <p:txBody>
          <a:bodyPr vert="eaVert" rtlCol="0"/>
          <a:lstStyle>
            <a:lvl1pPr rtl="0">
              <a:defRPr/>
            </a:lvl1pPr>
          </a:lstStyle>
          <a:p>
            <a:pPr rtl="0"/>
            <a:r>
              <a:rPr lang="es-ES" noProof="0" smtClean="0"/>
              <a:t>Haga clic para modificar el estilo de título del patrón</a:t>
            </a:r>
            <a:endParaRPr lang="es-ES" noProof="0" dirty="0"/>
          </a:p>
        </p:txBody>
      </p:sp>
      <p:sp>
        <p:nvSpPr>
          <p:cNvPr id="3" name="Marcador de posición de texto vertical 2"/>
          <p:cNvSpPr>
            <a:spLocks noGrp="1"/>
          </p:cNvSpPr>
          <p:nvPr>
            <p:ph type="body" orient="vert" idx="1"/>
          </p:nvPr>
        </p:nvSpPr>
        <p:spPr>
          <a:xfrm>
            <a:off x="608012" y="685800"/>
            <a:ext cx="9474253" cy="5486400"/>
          </a:xfrm>
        </p:spPr>
        <p:txBody>
          <a:bodyPr vert="eaVert" rtlCol="0"/>
          <a:lstStyle>
            <a:lvl1pPr rtl="0">
              <a:defRPr/>
            </a:lvl1pPr>
            <a:lvl5pPr>
              <a:defRPr/>
            </a:lvl5pPr>
            <a:lvl6pPr>
              <a:defRPr/>
            </a:lvl6pPr>
            <a:lvl7pPr>
              <a:defRPr/>
            </a:lvl7pPr>
            <a:lvl8pPr>
              <a:defRPr baseline="0"/>
            </a:lvl8pPr>
            <a:lvl9pPr>
              <a:defRPr baseline="0"/>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4" name="Marcador de posición de fecha 3"/>
          <p:cNvSpPr>
            <a:spLocks noGrp="1"/>
          </p:cNvSpPr>
          <p:nvPr>
            <p:ph type="dt" sz="half" idx="10"/>
          </p:nvPr>
        </p:nvSpPr>
        <p:spPr/>
        <p:txBody>
          <a:bodyPr rtlCol="0"/>
          <a:lstStyle/>
          <a:p>
            <a:pPr rtl="0"/>
            <a:fld id="{491AA74D-3B0C-480E-8EE8-D6B4F06534F8}" type="datetime1">
              <a:rPr lang="es-ES" noProof="0" smtClean="0"/>
              <a:pPr rtl="0"/>
              <a:t>03/05/2018</a:t>
            </a:fld>
            <a:endParaRPr lang="es-ES" noProof="0" dirty="0"/>
          </a:p>
        </p:txBody>
      </p:sp>
      <p:sp>
        <p:nvSpPr>
          <p:cNvPr id="5" name="Marcador de posición de pie de página 4"/>
          <p:cNvSpPr>
            <a:spLocks noGrp="1"/>
          </p:cNvSpPr>
          <p:nvPr>
            <p:ph type="ftr" sz="quarter" idx="11"/>
          </p:nvPr>
        </p:nvSpPr>
        <p:spPr/>
        <p:txBody>
          <a:bodyPr rtlCol="0"/>
          <a:lstStyle/>
          <a:p>
            <a:pPr rtl="0"/>
            <a:r>
              <a:rPr lang="es-ES" noProof="0" dirty="0"/>
              <a:t>Agregar un pie de página</a:t>
            </a:r>
          </a:p>
        </p:txBody>
      </p:sp>
      <p:sp>
        <p:nvSpPr>
          <p:cNvPr id="6" name="Marcador de número de diapositiva 5"/>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385005245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Marcador de posición de título 1"/>
          <p:cNvSpPr>
            <a:spLocks noGrp="1"/>
          </p:cNvSpPr>
          <p:nvPr>
            <p:ph type="title"/>
          </p:nvPr>
        </p:nvSpPr>
        <p:spPr>
          <a:xfrm>
            <a:off x="609441" y="5105400"/>
            <a:ext cx="10971372" cy="1066800"/>
          </a:xfrm>
          <a:prstGeom prst="rect">
            <a:avLst/>
          </a:prstGeom>
        </p:spPr>
        <p:txBody>
          <a:bodyPr vert="horz" lIns="91440" tIns="45720" rIns="91440" bIns="45720" rtlCol="0" anchor="b">
            <a:normAutofit/>
          </a:bodyPr>
          <a:lstStyle/>
          <a:p>
            <a:pPr rtl="0"/>
            <a:r>
              <a:rPr lang="es-ES" noProof="0" dirty="0"/>
              <a:t>Haga clic para modificar el estilo de título del patrón</a:t>
            </a:r>
          </a:p>
        </p:txBody>
      </p:sp>
      <p:sp>
        <p:nvSpPr>
          <p:cNvPr id="3" name="Marcador de posición de texto 2"/>
          <p:cNvSpPr>
            <a:spLocks noGrp="1"/>
          </p:cNvSpPr>
          <p:nvPr>
            <p:ph type="body" idx="1"/>
          </p:nvPr>
        </p:nvSpPr>
        <p:spPr>
          <a:xfrm>
            <a:off x="1293813" y="685800"/>
            <a:ext cx="10287000" cy="4190999"/>
          </a:xfrm>
          <a:prstGeom prst="rect">
            <a:avLst/>
          </a:prstGeom>
        </p:spPr>
        <p:txBody>
          <a:bodyPr vert="horz" lIns="91440" tIns="45720" rIns="91440" bIns="45720" rtlCol="0">
            <a:normAutofit/>
          </a:bodyPr>
          <a:lstStyle/>
          <a:p>
            <a:pPr lvl="0" rtl="0"/>
            <a:r>
              <a:rPr lang="es-ES" noProof="0" dirty="0"/>
              <a:t>Editar el estilo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posición de fecha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200">
                <a:solidFill>
                  <a:schemeClr val="tx2">
                    <a:lumMod val="65000"/>
                    <a:lumOff val="35000"/>
                  </a:schemeClr>
                </a:solidFill>
              </a:defRPr>
            </a:lvl1pPr>
          </a:lstStyle>
          <a:p>
            <a:pPr rtl="0"/>
            <a:fld id="{6635EF74-302A-4764-BD96-22C7FA77AF5B}" type="datetime1">
              <a:rPr lang="es-ES" noProof="0" smtClean="0"/>
              <a:pPr rtl="0"/>
              <a:t>03/05/2018</a:t>
            </a:fld>
            <a:endParaRPr lang="es-ES" noProof="0" dirty="0"/>
          </a:p>
        </p:txBody>
      </p:sp>
      <p:sp>
        <p:nvSpPr>
          <p:cNvPr id="5" name="Marcador de posición de pie de página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200">
                <a:solidFill>
                  <a:schemeClr val="tx2">
                    <a:lumMod val="65000"/>
                    <a:lumOff val="35000"/>
                  </a:schemeClr>
                </a:solidFill>
              </a:defRPr>
            </a:lvl1pPr>
          </a:lstStyle>
          <a:p>
            <a:pPr rtl="0"/>
            <a:r>
              <a:rPr lang="es-ES" noProof="0" dirty="0"/>
              <a:t>Agregar un pie de página</a:t>
            </a:r>
          </a:p>
        </p:txBody>
      </p:sp>
      <p:sp>
        <p:nvSpPr>
          <p:cNvPr id="6" name="Marcador de número de diapositiva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200">
                <a:solidFill>
                  <a:schemeClr val="tx2">
                    <a:lumMod val="65000"/>
                    <a:lumOff val="35000"/>
                  </a:schemeClr>
                </a:solidFill>
              </a:defRPr>
            </a:lvl1pPr>
          </a:lstStyle>
          <a:p>
            <a:pPr rtl="0"/>
            <a:fld id="{A3F31473-23EB-4724-8B59-FE6D21D89FA4}" type="slidenum">
              <a:rPr lang="es-ES" noProof="0" smtClean="0"/>
              <a:pPr rtl="0"/>
              <a:t>‹Nº›</a:t>
            </a:fld>
            <a:endParaRPr lang="es-ES" noProof="0" dirty="0"/>
          </a:p>
        </p:txBody>
      </p:sp>
    </p:spTree>
    <p:extLst>
      <p:ext uri="{BB962C8B-B14F-4D97-AF65-F5344CB8AC3E}">
        <p14:creationId xmlns:p14="http://schemas.microsoft.com/office/powerpoint/2010/main" xmlns="" val="34492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hf sldNum="0" hdr="0" ftr="0" dt="0"/>
  <p:txStyles>
    <p:titleStyle>
      <a:lvl1pPr algn="l" defTabSz="914400" rtl="0" eaLnBrk="1" latinLnBrk="0" hangingPunct="1">
        <a:lnSpc>
          <a:spcPct val="8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tx1"/>
        </a:buClr>
        <a:buSzPct val="80000"/>
        <a:buFont typeface="Arial" pitchFamily="34" charset="0"/>
        <a:buChar char="•"/>
        <a:defRPr sz="2800" kern="1200">
          <a:solidFill>
            <a:schemeClr val="tx1"/>
          </a:solidFill>
          <a:latin typeface="+mn-lt"/>
          <a:ea typeface="+mn-ea"/>
          <a:cs typeface="+mn-cs"/>
        </a:defRPr>
      </a:lvl1pPr>
      <a:lvl2pPr marL="615950" indent="-285750" algn="l" defTabSz="914400" rtl="0" eaLnBrk="1" latinLnBrk="0" hangingPunct="1">
        <a:lnSpc>
          <a:spcPct val="90000"/>
        </a:lnSpc>
        <a:spcBef>
          <a:spcPts val="600"/>
        </a:spcBef>
        <a:buSzPct val="80000"/>
        <a:buFont typeface="Corbel" pitchFamily="34" charset="0"/>
        <a:buChar char="–"/>
        <a:defRPr sz="2400" kern="1200">
          <a:solidFill>
            <a:schemeClr val="tx1"/>
          </a:solidFill>
          <a:latin typeface="+mn-lt"/>
          <a:ea typeface="+mn-ea"/>
          <a:cs typeface="+mn-cs"/>
        </a:defRPr>
      </a:lvl2pPr>
      <a:lvl3pPr marL="996696" indent="-228600" algn="l" defTabSz="914400" rtl="0" eaLnBrk="1" latinLnBrk="0" hangingPunct="1">
        <a:lnSpc>
          <a:spcPct val="90000"/>
        </a:lnSpc>
        <a:spcBef>
          <a:spcPts val="600"/>
        </a:spcBef>
        <a:buClr>
          <a:schemeClr val="tx1"/>
        </a:buClr>
        <a:buSzPct val="80000"/>
        <a:buFont typeface="Arial" pitchFamily="34" charset="0"/>
        <a:buChar char="•"/>
        <a:defRPr sz="2000" kern="1200">
          <a:solidFill>
            <a:schemeClr val="tx1"/>
          </a:solidFill>
          <a:latin typeface="+mn-lt"/>
          <a:ea typeface="+mn-ea"/>
          <a:cs typeface="+mn-cs"/>
        </a:defRPr>
      </a:lvl3pPr>
      <a:lvl4pPr marL="1380744" indent="-283464" algn="l" defTabSz="914400" rtl="0" eaLnBrk="1" latinLnBrk="0" hangingPunct="1">
        <a:lnSpc>
          <a:spcPct val="90000"/>
        </a:lnSpc>
        <a:spcBef>
          <a:spcPts val="600"/>
        </a:spcBef>
        <a:buFont typeface="Corbel" pitchFamily="34" charset="0"/>
        <a:buChar char="–"/>
        <a:defRPr sz="1800" kern="1200">
          <a:solidFill>
            <a:schemeClr val="tx1"/>
          </a:solidFill>
          <a:latin typeface="+mn-lt"/>
          <a:ea typeface="+mn-ea"/>
          <a:cs typeface="+mn-cs"/>
        </a:defRPr>
      </a:lvl4pPr>
      <a:lvl5pPr marL="1764792" indent="-228600" algn="l" defTabSz="914400" rtl="0" eaLnBrk="1" latinLnBrk="0" hangingPunct="1">
        <a:lnSpc>
          <a:spcPct val="90000"/>
        </a:lnSpc>
        <a:spcBef>
          <a:spcPts val="600"/>
        </a:spcBef>
        <a:buClr>
          <a:schemeClr val="tx1"/>
        </a:buClr>
        <a:buSzPct val="80000"/>
        <a:buFont typeface="Arial" pitchFamily="34" charset="0"/>
        <a:buChar char="•"/>
        <a:defRPr sz="1800"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08013" y="685801"/>
            <a:ext cx="3962400" cy="4100521"/>
          </a:xfrm>
        </p:spPr>
        <p:txBody>
          <a:bodyPr rtlCol="0"/>
          <a:lstStyle/>
          <a:p>
            <a:r>
              <a:rPr lang="es-ES" dirty="0" smtClean="0"/>
              <a:t>Sección Creación de Objetos</a:t>
            </a:r>
            <a:endParaRPr lang="es-ES" dirty="0"/>
          </a:p>
        </p:txBody>
      </p:sp>
      <p:sp>
        <p:nvSpPr>
          <p:cNvPr id="3" name="Subtítulo 2"/>
          <p:cNvSpPr>
            <a:spLocks noGrp="1"/>
          </p:cNvSpPr>
          <p:nvPr>
            <p:ph type="subTitle" idx="1"/>
          </p:nvPr>
        </p:nvSpPr>
        <p:spPr>
          <a:xfrm>
            <a:off x="608012" y="5410200"/>
            <a:ext cx="4200515" cy="762000"/>
          </a:xfrm>
        </p:spPr>
        <p:txBody>
          <a:bodyPr rtlCol="0">
            <a:normAutofit fontScale="85000" lnSpcReduction="10000"/>
          </a:bodyPr>
          <a:lstStyle/>
          <a:p>
            <a:pPr rtl="0"/>
            <a:r>
              <a:rPr lang="es-ES" dirty="0" smtClean="0"/>
              <a:t>Andrés Felipe Ochoa Muñoz</a:t>
            </a:r>
          </a:p>
          <a:p>
            <a:pPr rtl="0"/>
            <a:r>
              <a:rPr lang="es-ES" dirty="0" smtClean="0"/>
              <a:t>andres.ochoa@correounivalle.edu.co</a:t>
            </a:r>
            <a:endParaRPr lang="es-ES" dirty="0"/>
          </a:p>
        </p:txBody>
      </p:sp>
      <p:pic>
        <p:nvPicPr>
          <p:cNvPr id="1026" name="Picture 2" descr="C:\Users\Andres\Desktop\Curso R Banco 2018\Rlogo.png"/>
          <p:cNvPicPr>
            <a:picLocks noChangeAspect="1" noChangeArrowheads="1"/>
          </p:cNvPicPr>
          <p:nvPr/>
        </p:nvPicPr>
        <p:blipFill>
          <a:blip r:embed="rId3"/>
          <a:srcRect/>
          <a:stretch>
            <a:fillRect/>
          </a:stretch>
        </p:blipFill>
        <p:spPr bwMode="auto">
          <a:xfrm>
            <a:off x="7165982" y="2928934"/>
            <a:ext cx="2274937" cy="1762762"/>
          </a:xfrm>
          <a:prstGeom prst="rect">
            <a:avLst/>
          </a:prstGeom>
          <a:noFill/>
        </p:spPr>
      </p:pic>
    </p:spTree>
    <p:extLst>
      <p:ext uri="{BB962C8B-B14F-4D97-AF65-F5344CB8AC3E}">
        <p14:creationId xmlns:p14="http://schemas.microsoft.com/office/powerpoint/2010/main" xmlns="" val="34408012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36562" y="4572008"/>
            <a:ext cx="10971372" cy="1066800"/>
          </a:xfrm>
        </p:spPr>
        <p:txBody>
          <a:bodyPr/>
          <a:lstStyle/>
          <a:p>
            <a:r>
              <a:rPr lang="es-CO" dirty="0" smtClean="0"/>
              <a:t>Contenido</a:t>
            </a:r>
            <a:endParaRPr lang="es-CO" dirty="0"/>
          </a:p>
        </p:txBody>
      </p:sp>
      <p:sp>
        <p:nvSpPr>
          <p:cNvPr id="3" name="2 Marcador de contenido"/>
          <p:cNvSpPr>
            <a:spLocks noGrp="1"/>
          </p:cNvSpPr>
          <p:nvPr>
            <p:ph idx="1"/>
          </p:nvPr>
        </p:nvSpPr>
        <p:spPr>
          <a:xfrm>
            <a:off x="1236628" y="714356"/>
            <a:ext cx="10287000" cy="4190999"/>
          </a:xfrm>
        </p:spPr>
        <p:txBody>
          <a:bodyPr/>
          <a:lstStyle/>
          <a:p>
            <a:r>
              <a:rPr lang="es-CO" dirty="0" smtClean="0"/>
              <a:t>Introducción a Objetos</a:t>
            </a:r>
          </a:p>
          <a:p>
            <a:r>
              <a:rPr lang="es-CO" dirty="0" smtClean="0"/>
              <a:t>Tipos de Objetos</a:t>
            </a:r>
          </a:p>
          <a:p>
            <a:r>
              <a:rPr lang="es-CO" dirty="0" smtClean="0"/>
              <a:t>Asignaciones</a:t>
            </a:r>
          </a:p>
          <a:p>
            <a:r>
              <a:rPr lang="es-CO" dirty="0" smtClean="0"/>
              <a:t>Creación y aspectos a tener en cuenta:</a:t>
            </a:r>
          </a:p>
          <a:p>
            <a:pPr>
              <a:buNone/>
            </a:pPr>
            <a:r>
              <a:rPr lang="es-CO" dirty="0" smtClean="0"/>
              <a:t>		Vectores, Matrices, Listas, Conjunto de Datos (</a:t>
            </a:r>
            <a:r>
              <a:rPr lang="es-CO" dirty="0" err="1" smtClean="0"/>
              <a:t>data.frames</a:t>
            </a:r>
            <a:r>
              <a:rPr lang="es-CO" dirty="0" smtClean="0"/>
              <a:t>)</a:t>
            </a:r>
          </a:p>
          <a:p>
            <a:pPr>
              <a:buNone/>
            </a:pPr>
            <a:r>
              <a:rPr lang="es-CO" dirty="0" smtClean="0"/>
              <a:t>Operaciones con Vectores, Matrices, </a:t>
            </a:r>
            <a:r>
              <a:rPr lang="es-CO" dirty="0" err="1" smtClean="0"/>
              <a:t>etc</a:t>
            </a: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Tipos de Objetos</a:t>
            </a:r>
            <a:endParaRPr lang="es-CO" dirty="0"/>
          </a:p>
        </p:txBody>
      </p:sp>
      <p:sp>
        <p:nvSpPr>
          <p:cNvPr id="3" name="2 Marcador de contenido"/>
          <p:cNvSpPr>
            <a:spLocks noGrp="1"/>
          </p:cNvSpPr>
          <p:nvPr>
            <p:ph idx="1"/>
          </p:nvPr>
        </p:nvSpPr>
        <p:spPr>
          <a:xfrm>
            <a:off x="1293813" y="500042"/>
            <a:ext cx="10015573" cy="4786346"/>
          </a:xfrm>
        </p:spPr>
        <p:txBody>
          <a:bodyPr>
            <a:normAutofit fontScale="92500" lnSpcReduction="10000"/>
          </a:bodyPr>
          <a:lstStyle/>
          <a:p>
            <a:endParaRPr lang="es-CO" b="1" dirty="0" smtClean="0"/>
          </a:p>
          <a:p>
            <a:r>
              <a:rPr lang="es-CO" b="1" dirty="0" smtClean="0">
                <a:solidFill>
                  <a:srgbClr val="0070C0"/>
                </a:solidFill>
              </a:rPr>
              <a:t>vector: colección ordenada de elementos del mismo tipo.</a:t>
            </a:r>
            <a:r>
              <a:rPr lang="es-CO" dirty="0" smtClean="0"/>
              <a:t/>
            </a:r>
            <a:br>
              <a:rPr lang="es-CO" dirty="0" smtClean="0"/>
            </a:br>
            <a:r>
              <a:rPr lang="es-CO" dirty="0" smtClean="0"/>
              <a:t>&gt; x &lt;- c(1, 2, 3); y &lt;- c("a", "b", "c")</a:t>
            </a:r>
            <a:br>
              <a:rPr lang="es-CO" dirty="0" smtClean="0"/>
            </a:br>
            <a:r>
              <a:rPr lang="es-CO" dirty="0" smtClean="0"/>
              <a:t>&gt; z &lt;- c(TRUE, TRUE, FALSE)</a:t>
            </a:r>
          </a:p>
          <a:p>
            <a:r>
              <a:rPr lang="es-CO" b="1" dirty="0" err="1" smtClean="0">
                <a:solidFill>
                  <a:srgbClr val="0070C0"/>
                </a:solidFill>
              </a:rPr>
              <a:t>matrix</a:t>
            </a:r>
            <a:r>
              <a:rPr lang="es-CO" b="1" dirty="0" smtClean="0">
                <a:solidFill>
                  <a:srgbClr val="0070C0"/>
                </a:solidFill>
              </a:rPr>
              <a:t>: generalización multidimensional del vector.</a:t>
            </a:r>
          </a:p>
          <a:p>
            <a:pPr>
              <a:buNone/>
            </a:pPr>
            <a:r>
              <a:rPr lang="es-CO" dirty="0" smtClean="0"/>
              <a:t> &gt; </a:t>
            </a:r>
            <a:r>
              <a:rPr lang="es-CO" dirty="0" err="1" smtClean="0"/>
              <a:t>matrix</a:t>
            </a:r>
            <a:r>
              <a:rPr lang="es-CO" dirty="0" smtClean="0"/>
              <a:t>(c(</a:t>
            </a:r>
            <a:r>
              <a:rPr lang="es-CO" dirty="0" err="1" smtClean="0"/>
              <a:t>x,y,z</a:t>
            </a:r>
            <a:r>
              <a:rPr lang="es-CO" dirty="0" smtClean="0"/>
              <a:t>),3,3)</a:t>
            </a:r>
          </a:p>
          <a:p>
            <a:pPr>
              <a:buNone/>
            </a:pPr>
            <a:r>
              <a:rPr lang="es-CO" b="1" dirty="0" smtClean="0">
                <a:solidFill>
                  <a:srgbClr val="0070C0"/>
                </a:solidFill>
              </a:rPr>
              <a:t>data </a:t>
            </a:r>
            <a:r>
              <a:rPr lang="es-CO" b="1" dirty="0" err="1" smtClean="0">
                <a:solidFill>
                  <a:srgbClr val="0070C0"/>
                </a:solidFill>
              </a:rPr>
              <a:t>frame</a:t>
            </a:r>
            <a:r>
              <a:rPr lang="es-CO" b="1" dirty="0" smtClean="0">
                <a:solidFill>
                  <a:srgbClr val="0070C0"/>
                </a:solidFill>
              </a:rPr>
              <a:t>: Es el objeto más habitual para trabajar </a:t>
            </a:r>
            <a:r>
              <a:rPr lang="es-CO" b="1" dirty="0" err="1" smtClean="0">
                <a:solidFill>
                  <a:srgbClr val="0070C0"/>
                </a:solidFill>
              </a:rPr>
              <a:t>dataset</a:t>
            </a:r>
            <a:r>
              <a:rPr lang="es-CO" dirty="0" smtClean="0"/>
              <a:t/>
            </a:r>
            <a:br>
              <a:rPr lang="es-CO" dirty="0" smtClean="0"/>
            </a:br>
            <a:r>
              <a:rPr lang="es-CO" dirty="0" smtClean="0"/>
              <a:t/>
            </a:r>
            <a:br>
              <a:rPr lang="es-CO" dirty="0" smtClean="0"/>
            </a:br>
            <a:r>
              <a:rPr lang="es-CO" dirty="0" smtClean="0"/>
              <a:t> &gt; </a:t>
            </a:r>
            <a:r>
              <a:rPr lang="es-CO" dirty="0" err="1" smtClean="0"/>
              <a:t>ww</a:t>
            </a:r>
            <a:r>
              <a:rPr lang="es-CO" dirty="0" smtClean="0"/>
              <a:t> &lt;- </a:t>
            </a:r>
            <a:r>
              <a:rPr lang="es-CO" dirty="0" err="1" smtClean="0"/>
              <a:t>data.frame</a:t>
            </a:r>
            <a:r>
              <a:rPr lang="es-CO" dirty="0" smtClean="0"/>
              <a:t>(</a:t>
            </a:r>
            <a:r>
              <a:rPr lang="es-CO" dirty="0" err="1" smtClean="0"/>
              <a:t>cbind</a:t>
            </a:r>
            <a:r>
              <a:rPr lang="es-CO" dirty="0" smtClean="0"/>
              <a:t>(</a:t>
            </a:r>
            <a:r>
              <a:rPr lang="es-CO" dirty="0" err="1" smtClean="0"/>
              <a:t>x,y,z</a:t>
            </a:r>
            <a:r>
              <a:rPr lang="es-CO" dirty="0" smtClean="0"/>
              <a:t>))</a:t>
            </a:r>
            <a:br>
              <a:rPr lang="es-CO" dirty="0" smtClean="0"/>
            </a:br>
            <a:r>
              <a:rPr lang="es-CO" dirty="0" smtClean="0"/>
              <a:t/>
            </a:r>
            <a:br>
              <a:rPr lang="es-CO"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Tipos de Objetos</a:t>
            </a:r>
            <a:endParaRPr lang="es-CO" dirty="0"/>
          </a:p>
        </p:txBody>
      </p:sp>
      <p:sp>
        <p:nvSpPr>
          <p:cNvPr id="3" name="2 Marcador de contenido"/>
          <p:cNvSpPr>
            <a:spLocks noGrp="1"/>
          </p:cNvSpPr>
          <p:nvPr>
            <p:ph idx="1"/>
          </p:nvPr>
        </p:nvSpPr>
        <p:spPr>
          <a:xfrm>
            <a:off x="1293813" y="685800"/>
            <a:ext cx="10287000" cy="4529150"/>
          </a:xfrm>
        </p:spPr>
        <p:txBody>
          <a:bodyPr>
            <a:normAutofit fontScale="85000" lnSpcReduction="20000"/>
          </a:bodyPr>
          <a:lstStyle/>
          <a:p>
            <a:r>
              <a:rPr lang="es-CO" b="1" dirty="0" smtClean="0">
                <a:solidFill>
                  <a:srgbClr val="0070C0"/>
                </a:solidFill>
              </a:rPr>
              <a:t>factor: tipo de vector para datos cualitativos.</a:t>
            </a:r>
            <a:r>
              <a:rPr lang="es-CO" dirty="0" smtClean="0"/>
              <a:t/>
            </a:r>
            <a:br>
              <a:rPr lang="es-CO" dirty="0" smtClean="0"/>
            </a:br>
            <a:r>
              <a:rPr lang="es-CO" dirty="0" smtClean="0"/>
              <a:t>&gt; x &lt;- factor(c(1, 2, 2, 1, 1, 2, 1, 2, 1))</a:t>
            </a:r>
            <a:br>
              <a:rPr lang="es-CO" dirty="0" smtClean="0"/>
            </a:br>
            <a:r>
              <a:rPr lang="es-CO" dirty="0" smtClean="0"/>
              <a:t/>
            </a:r>
            <a:br>
              <a:rPr lang="es-CO" dirty="0" smtClean="0"/>
            </a:br>
            <a:endParaRPr lang="es-CO" dirty="0" smtClean="0"/>
          </a:p>
          <a:p>
            <a:r>
              <a:rPr lang="es-CO" b="1" dirty="0" err="1" smtClean="0">
                <a:solidFill>
                  <a:srgbClr val="0070C0"/>
                </a:solidFill>
              </a:rPr>
              <a:t>list</a:t>
            </a:r>
            <a:r>
              <a:rPr lang="es-CO" b="1" dirty="0" smtClean="0">
                <a:solidFill>
                  <a:srgbClr val="0070C0"/>
                </a:solidFill>
              </a:rPr>
              <a:t>: vector generalizado. </a:t>
            </a:r>
            <a:r>
              <a:rPr lang="es-CO" dirty="0" smtClean="0"/>
              <a:t>Cada lista está formada por componentes que pueden ser otras listas. Cada componente puede ser de distinto tipo. Son contenedores generales de datos. Muy flexibles, pero sin estructura. Muchas funciones devuelven una lista o conjunto de resultados de distinta longitud y distinto tipo.</a:t>
            </a:r>
          </a:p>
          <a:p>
            <a:pPr>
              <a:buNone/>
            </a:pPr>
            <a:r>
              <a:rPr lang="es-CO" dirty="0" smtClean="0"/>
              <a:t/>
            </a:r>
            <a:br>
              <a:rPr lang="es-CO" dirty="0" smtClean="0"/>
            </a:br>
            <a:r>
              <a:rPr lang="es-CO" dirty="0" err="1" smtClean="0"/>
              <a:t>una.lista</a:t>
            </a:r>
            <a:r>
              <a:rPr lang="es-CO" dirty="0" smtClean="0"/>
              <a:t> &lt;- </a:t>
            </a:r>
            <a:r>
              <a:rPr lang="es-CO" dirty="0" err="1" smtClean="0"/>
              <a:t>list</a:t>
            </a:r>
            <a:r>
              <a:rPr lang="es-CO" dirty="0" smtClean="0"/>
              <a:t>(</a:t>
            </a:r>
            <a:r>
              <a:rPr lang="es-CO" dirty="0" err="1" smtClean="0"/>
              <a:t>un.vector</a:t>
            </a:r>
            <a:r>
              <a:rPr lang="es-CO" dirty="0" smtClean="0"/>
              <a:t> = 1:10, </a:t>
            </a:r>
            <a:r>
              <a:rPr lang="es-CO" dirty="0" err="1" smtClean="0"/>
              <a:t>una.palabra</a:t>
            </a:r>
            <a:r>
              <a:rPr lang="es-CO" dirty="0" smtClean="0"/>
              <a:t> = "hola",</a:t>
            </a:r>
            <a:br>
              <a:rPr lang="es-CO" dirty="0" smtClean="0"/>
            </a:br>
            <a:r>
              <a:rPr lang="es-CO" dirty="0" err="1" smtClean="0"/>
              <a:t>una.matriz</a:t>
            </a:r>
            <a:r>
              <a:rPr lang="es-CO" dirty="0" smtClean="0"/>
              <a:t> = </a:t>
            </a:r>
            <a:r>
              <a:rPr lang="es-CO" dirty="0" err="1" smtClean="0"/>
              <a:t>matrix</a:t>
            </a:r>
            <a:r>
              <a:rPr lang="es-CO" dirty="0" smtClean="0"/>
              <a:t>(</a:t>
            </a:r>
            <a:r>
              <a:rPr lang="es-CO" dirty="0" err="1" smtClean="0"/>
              <a:t>rnorm</a:t>
            </a:r>
            <a:r>
              <a:rPr lang="es-CO" dirty="0" smtClean="0"/>
              <a:t>(20), </a:t>
            </a:r>
            <a:r>
              <a:rPr lang="es-CO" dirty="0" err="1" smtClean="0"/>
              <a:t>ncol</a:t>
            </a:r>
            <a:r>
              <a:rPr lang="es-CO" dirty="0" smtClean="0"/>
              <a:t> = 5),</a:t>
            </a:r>
            <a:br>
              <a:rPr lang="es-CO" dirty="0" smtClean="0"/>
            </a:br>
            <a:r>
              <a:rPr lang="es-CO" dirty="0" smtClean="0"/>
              <a:t>lista2 = c(a = 5, b = factor(c("a", "b"))))</a:t>
            </a:r>
            <a:br>
              <a:rPr lang="es-CO"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p:txBody>
          <a:bodyPr rtlCol="0"/>
          <a:lstStyle/>
          <a:p>
            <a:r>
              <a:rPr lang="es-CO" dirty="0" smtClean="0"/>
              <a:t>Creación de Objetos</a:t>
            </a:r>
            <a:endParaRPr lang="es-ES" dirty="0"/>
          </a:p>
        </p:txBody>
      </p:sp>
      <p:sp>
        <p:nvSpPr>
          <p:cNvPr id="14" name="Marcador de posición de contenido 13"/>
          <p:cNvSpPr>
            <a:spLocks noGrp="1"/>
          </p:cNvSpPr>
          <p:nvPr>
            <p:ph idx="1"/>
          </p:nvPr>
        </p:nvSpPr>
        <p:spPr>
          <a:xfrm>
            <a:off x="1293813" y="685800"/>
            <a:ext cx="10287000" cy="4743464"/>
          </a:xfrm>
        </p:spPr>
        <p:txBody>
          <a:bodyPr rtlCol="0">
            <a:noAutofit/>
          </a:bodyPr>
          <a:lstStyle/>
          <a:p>
            <a:pPr>
              <a:buNone/>
            </a:pPr>
            <a:r>
              <a:rPr lang="es-CO" sz="2400" dirty="0" smtClean="0"/>
              <a:t>Toda entidad que se crea y manipula en </a:t>
            </a:r>
            <a:r>
              <a:rPr lang="es-CO" sz="2400" b="1" dirty="0" smtClean="0"/>
              <a:t>R </a:t>
            </a:r>
            <a:r>
              <a:rPr lang="es-CO" sz="2400" dirty="0" smtClean="0"/>
              <a:t>se denomina Objeto. Todo objeto debe tener nombre y contenido, además de tener dos  atributos intrínsecos: </a:t>
            </a:r>
            <a:r>
              <a:rPr lang="es-CO" sz="2400" i="1" dirty="0" smtClean="0">
                <a:solidFill>
                  <a:srgbClr val="FF0000"/>
                </a:solidFill>
              </a:rPr>
              <a:t>longitud </a:t>
            </a:r>
            <a:r>
              <a:rPr lang="es-CO" sz="2400" dirty="0" smtClean="0">
                <a:solidFill>
                  <a:srgbClr val="FF0000"/>
                </a:solidFill>
              </a:rPr>
              <a:t>y </a:t>
            </a:r>
            <a:r>
              <a:rPr lang="es-CO" sz="2400" i="1" dirty="0" smtClean="0">
                <a:solidFill>
                  <a:srgbClr val="FF0000"/>
                </a:solidFill>
              </a:rPr>
              <a:t>tipo</a:t>
            </a:r>
            <a:r>
              <a:rPr lang="es-CO" sz="2400" dirty="0" smtClean="0"/>
              <a:t>.</a:t>
            </a:r>
          </a:p>
          <a:p>
            <a:pPr>
              <a:buNone/>
            </a:pPr>
            <a:r>
              <a:rPr lang="es-CO" sz="2000" dirty="0" smtClean="0"/>
              <a:t>Longitud se refiere al número de elementos del objeto.</a:t>
            </a:r>
            <a:br>
              <a:rPr lang="es-CO" sz="2000" dirty="0" smtClean="0"/>
            </a:br>
            <a:endParaRPr lang="es-CO" sz="2000" dirty="0" smtClean="0"/>
          </a:p>
          <a:p>
            <a:pPr>
              <a:buNone/>
            </a:pPr>
            <a:r>
              <a:rPr lang="es-CO" sz="2000" b="1" dirty="0" smtClean="0"/>
              <a:t>    Tipos: Ejemplo:</a:t>
            </a:r>
            <a:r>
              <a:rPr lang="es-CO" sz="2000" dirty="0" smtClean="0"/>
              <a:t/>
            </a:r>
            <a:br>
              <a:rPr lang="es-CO" sz="2000" dirty="0" smtClean="0"/>
            </a:br>
            <a:r>
              <a:rPr lang="es-CO" sz="2000" dirty="0" smtClean="0"/>
              <a:t>Numéricos (</a:t>
            </a:r>
            <a:r>
              <a:rPr lang="es-CO" sz="2000" dirty="0" err="1" smtClean="0"/>
              <a:t>numeric</a:t>
            </a:r>
            <a:r>
              <a:rPr lang="es-CO" sz="2000" dirty="0" smtClean="0"/>
              <a:t>) 			1, 2, 3, …,</a:t>
            </a:r>
            <a:br>
              <a:rPr lang="es-CO" sz="2000" dirty="0" smtClean="0"/>
            </a:br>
            <a:r>
              <a:rPr lang="es-CO" sz="2000" dirty="0" smtClean="0"/>
              <a:t>Caracteres (</a:t>
            </a:r>
            <a:r>
              <a:rPr lang="es-CO" sz="2000" dirty="0" err="1" smtClean="0"/>
              <a:t>character</a:t>
            </a:r>
            <a:r>
              <a:rPr lang="es-CO" sz="2000" dirty="0" smtClean="0"/>
              <a:t>)			 “blanco”, “negro”, ….</a:t>
            </a:r>
            <a:br>
              <a:rPr lang="es-CO" sz="2000" dirty="0" smtClean="0"/>
            </a:br>
            <a:r>
              <a:rPr lang="es-CO" sz="2000" dirty="0" smtClean="0"/>
              <a:t>Factores (factor) 			“Bueno”, “Regular”, “Malo”, ….</a:t>
            </a:r>
            <a:br>
              <a:rPr lang="es-CO" sz="2000" dirty="0" smtClean="0"/>
            </a:br>
            <a:r>
              <a:rPr lang="es-CO" sz="2000" dirty="0" smtClean="0"/>
              <a:t>Lógicos (</a:t>
            </a:r>
            <a:r>
              <a:rPr lang="es-CO" sz="2000" dirty="0" err="1" smtClean="0"/>
              <a:t>logical</a:t>
            </a:r>
            <a:r>
              <a:rPr lang="es-CO" sz="2000" dirty="0" smtClean="0"/>
              <a:t>) 			FALSE (0), TRUE (1)</a:t>
            </a:r>
          </a:p>
          <a:p>
            <a:pPr>
              <a:buNone/>
            </a:pPr>
            <a:r>
              <a:rPr lang="es-CO" sz="2000" dirty="0" smtClean="0"/>
              <a:t/>
            </a:r>
            <a:br>
              <a:rPr lang="es-CO" sz="2000" dirty="0" smtClean="0"/>
            </a:br>
            <a:r>
              <a:rPr lang="es-CO" sz="2000" dirty="0" smtClean="0"/>
              <a:t>En términos generales, puede utilizar la función </a:t>
            </a:r>
            <a:r>
              <a:rPr lang="es-CO" sz="2000" b="1" dirty="0" err="1" smtClean="0"/>
              <a:t>str</a:t>
            </a:r>
            <a:r>
              <a:rPr lang="es-CO" sz="2000" b="1" dirty="0" smtClean="0"/>
              <a:t>(objeto) </a:t>
            </a:r>
            <a:r>
              <a:rPr lang="es-CO" sz="2000" dirty="0" smtClean="0"/>
              <a:t>para</a:t>
            </a:r>
            <a:br>
              <a:rPr lang="es-CO" sz="2000" dirty="0" smtClean="0"/>
            </a:br>
            <a:r>
              <a:rPr lang="es-CO" sz="2000" dirty="0" smtClean="0"/>
              <a:t>conocer la estructura de cada objeto.</a:t>
            </a:r>
          </a:p>
        </p:txBody>
      </p:sp>
    </p:spTree>
    <p:extLst>
      <p:ext uri="{BB962C8B-B14F-4D97-AF65-F5344CB8AC3E}">
        <p14:creationId xmlns:p14="http://schemas.microsoft.com/office/powerpoint/2010/main" xmlns="" val="112672342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Creación de Objetos</a:t>
            </a:r>
            <a:endParaRPr lang="es-CO" dirty="0"/>
          </a:p>
        </p:txBody>
      </p:sp>
      <p:sp>
        <p:nvSpPr>
          <p:cNvPr id="3" name="2 Marcador de contenido"/>
          <p:cNvSpPr>
            <a:spLocks noGrp="1"/>
          </p:cNvSpPr>
          <p:nvPr>
            <p:ph idx="1"/>
          </p:nvPr>
        </p:nvSpPr>
        <p:spPr/>
        <p:txBody>
          <a:bodyPr>
            <a:normAutofit/>
          </a:bodyPr>
          <a:lstStyle/>
          <a:p>
            <a:endParaRPr lang="es-CO" dirty="0" smtClean="0"/>
          </a:p>
          <a:p>
            <a:r>
              <a:rPr lang="es-CO" dirty="0" smtClean="0"/>
              <a:t>Algunas funciones para identificar la clase del objeto son:</a:t>
            </a:r>
          </a:p>
          <a:p>
            <a:pPr>
              <a:buNone/>
            </a:pPr>
            <a:r>
              <a:rPr lang="es-CO" b="1" dirty="0" err="1" smtClean="0"/>
              <a:t>is.numeric</a:t>
            </a:r>
            <a:r>
              <a:rPr lang="es-CO" b="1" dirty="0" smtClean="0"/>
              <a:t>()</a:t>
            </a:r>
            <a:r>
              <a:rPr lang="es-CO" dirty="0" smtClean="0"/>
              <a:t>, </a:t>
            </a:r>
            <a:r>
              <a:rPr lang="es-CO" b="1" dirty="0" err="1" smtClean="0"/>
              <a:t>is.character</a:t>
            </a:r>
            <a:r>
              <a:rPr lang="es-CO" b="1" dirty="0" smtClean="0"/>
              <a:t>()</a:t>
            </a:r>
            <a:r>
              <a:rPr lang="es-CO" dirty="0" smtClean="0"/>
              <a:t>, </a:t>
            </a:r>
            <a:r>
              <a:rPr lang="es-CO" b="1" dirty="0" err="1" smtClean="0"/>
              <a:t>is.factor</a:t>
            </a:r>
            <a:r>
              <a:rPr lang="es-CO" b="1" dirty="0" smtClean="0"/>
              <a:t>()</a:t>
            </a:r>
            <a:r>
              <a:rPr lang="es-CO" dirty="0" smtClean="0"/>
              <a:t>, </a:t>
            </a:r>
            <a:r>
              <a:rPr lang="es-CO" b="1" dirty="0" err="1" smtClean="0"/>
              <a:t>is.logical</a:t>
            </a:r>
            <a:r>
              <a:rPr lang="es-CO" b="1" dirty="0" smtClean="0"/>
              <a:t>()</a:t>
            </a:r>
            <a:r>
              <a:rPr lang="es-CO" dirty="0" smtClean="0"/>
              <a:t>, </a:t>
            </a:r>
            <a:r>
              <a:rPr lang="es-CO" b="1" dirty="0" err="1" smtClean="0"/>
              <a:t>is.data.frame</a:t>
            </a:r>
            <a:r>
              <a:rPr lang="es-CO" b="1" dirty="0" smtClean="0"/>
              <a:t>()</a:t>
            </a:r>
            <a:r>
              <a:rPr lang="es-CO" dirty="0" smtClean="0"/>
              <a:t/>
            </a:r>
            <a:br>
              <a:rPr lang="es-CO" dirty="0" smtClean="0"/>
            </a:br>
            <a:endParaRPr lang="es-CO" dirty="0" smtClean="0"/>
          </a:p>
          <a:p>
            <a:r>
              <a:rPr lang="es-CO" dirty="0" smtClean="0"/>
              <a:t>Algunas funciones para cambiar la clase de un objeto son:</a:t>
            </a:r>
            <a:br>
              <a:rPr lang="es-CO" dirty="0" smtClean="0"/>
            </a:br>
            <a:r>
              <a:rPr lang="es-CO" b="1" dirty="0" err="1" smtClean="0"/>
              <a:t>as.numeric</a:t>
            </a:r>
            <a:r>
              <a:rPr lang="es-CO" b="1" dirty="0" smtClean="0"/>
              <a:t>()</a:t>
            </a:r>
            <a:r>
              <a:rPr lang="es-CO" dirty="0" smtClean="0"/>
              <a:t>, </a:t>
            </a:r>
            <a:r>
              <a:rPr lang="es-CO" b="1" dirty="0" err="1" smtClean="0"/>
              <a:t>as.character</a:t>
            </a:r>
            <a:r>
              <a:rPr lang="es-CO" b="1" dirty="0" smtClean="0"/>
              <a:t>()</a:t>
            </a:r>
            <a:r>
              <a:rPr lang="es-CO" dirty="0" smtClean="0"/>
              <a:t>, </a:t>
            </a:r>
            <a:r>
              <a:rPr lang="es-CO" b="1" dirty="0" err="1" smtClean="0"/>
              <a:t>as.factor</a:t>
            </a:r>
            <a:r>
              <a:rPr lang="es-CO" b="1" dirty="0" smtClean="0"/>
              <a:t>()</a:t>
            </a:r>
            <a:r>
              <a:rPr lang="es-CO" dirty="0" smtClean="0"/>
              <a:t>, </a:t>
            </a:r>
            <a:r>
              <a:rPr lang="es-CO" b="1" dirty="0" err="1" smtClean="0"/>
              <a:t>as.logical</a:t>
            </a:r>
            <a:r>
              <a:rPr lang="es-CO" b="1" dirty="0" smtClean="0"/>
              <a:t>()</a:t>
            </a:r>
            <a:r>
              <a:rPr lang="es-CO" dirty="0" smtClean="0"/>
              <a:t>, </a:t>
            </a:r>
            <a:r>
              <a:rPr lang="es-CO" b="1" dirty="0" err="1" smtClean="0"/>
              <a:t>as.data.frame</a:t>
            </a:r>
            <a:r>
              <a:rPr lang="es-CO" b="1" dirty="0" smtClean="0"/>
              <a:t>()</a:t>
            </a: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Creación de Objetos</a:t>
            </a:r>
            <a:endParaRPr lang="es-CO" dirty="0"/>
          </a:p>
        </p:txBody>
      </p:sp>
      <p:sp>
        <p:nvSpPr>
          <p:cNvPr id="3" name="2 Marcador de contenido"/>
          <p:cNvSpPr>
            <a:spLocks noGrp="1"/>
          </p:cNvSpPr>
          <p:nvPr>
            <p:ph idx="1"/>
          </p:nvPr>
        </p:nvSpPr>
        <p:spPr/>
        <p:txBody>
          <a:bodyPr/>
          <a:lstStyle/>
          <a:p>
            <a:r>
              <a:rPr lang="es-CO" dirty="0" smtClean="0"/>
              <a:t>Consecuente con sus orígenes en UNIX, </a:t>
            </a:r>
            <a:r>
              <a:rPr lang="es-CO" b="1" dirty="0" smtClean="0"/>
              <a:t>R </a:t>
            </a:r>
            <a:r>
              <a:rPr lang="es-CO" dirty="0" smtClean="0"/>
              <a:t>distingue entre mayúsculas y minúsculas, de tal modo que </a:t>
            </a:r>
            <a:r>
              <a:rPr lang="es-CO" b="1" dirty="0" smtClean="0">
                <a:solidFill>
                  <a:srgbClr val="FF0000"/>
                </a:solidFill>
              </a:rPr>
              <a:t>A </a:t>
            </a:r>
            <a:r>
              <a:rPr lang="es-CO" dirty="0" smtClean="0">
                <a:solidFill>
                  <a:srgbClr val="FF0000"/>
                </a:solidFill>
              </a:rPr>
              <a:t>y </a:t>
            </a:r>
            <a:r>
              <a:rPr lang="es-CO" b="1" dirty="0" smtClean="0">
                <a:solidFill>
                  <a:srgbClr val="FF0000"/>
                </a:solidFill>
              </a:rPr>
              <a:t>a </a:t>
            </a:r>
            <a:r>
              <a:rPr lang="es-CO" dirty="0" smtClean="0">
                <a:solidFill>
                  <a:srgbClr val="FF0000"/>
                </a:solidFill>
              </a:rPr>
              <a:t>son símbolos distintos </a:t>
            </a:r>
            <a:r>
              <a:rPr lang="es-CO" dirty="0" smtClean="0"/>
              <a:t>y se referirán, por tanto, a objetos distintos</a:t>
            </a:r>
            <a:br>
              <a:rPr lang="es-CO" dirty="0" smtClean="0"/>
            </a:br>
            <a:endParaRPr lang="es-CO" dirty="0" smtClean="0"/>
          </a:p>
          <a:p>
            <a:r>
              <a:rPr lang="es-CO" dirty="0" smtClean="0"/>
              <a:t>El nombre de un objeto debe empezar con una letra y puede incluir</a:t>
            </a:r>
            <a:br>
              <a:rPr lang="es-CO" dirty="0" smtClean="0"/>
            </a:br>
            <a:r>
              <a:rPr lang="es-CO" dirty="0" smtClean="0"/>
              <a:t>letras y números</a:t>
            </a:r>
            <a:br>
              <a:rPr lang="es-CO" dirty="0" smtClean="0"/>
            </a:br>
            <a:r>
              <a:rPr lang="es-CO" dirty="0" smtClean="0"/>
              <a:t/>
            </a:r>
            <a:br>
              <a:rPr lang="es-CO"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Creación de Objetos (Asignación)</a:t>
            </a:r>
            <a:endParaRPr lang="es-CO" dirty="0"/>
          </a:p>
        </p:txBody>
      </p:sp>
      <p:sp>
        <p:nvSpPr>
          <p:cNvPr id="3" name="2 Marcador de contenido"/>
          <p:cNvSpPr>
            <a:spLocks noGrp="1"/>
          </p:cNvSpPr>
          <p:nvPr>
            <p:ph idx="1"/>
          </p:nvPr>
        </p:nvSpPr>
        <p:spPr>
          <a:xfrm>
            <a:off x="879438" y="685800"/>
            <a:ext cx="10701375" cy="4743464"/>
          </a:xfrm>
        </p:spPr>
        <p:txBody>
          <a:bodyPr>
            <a:normAutofit fontScale="85000" lnSpcReduction="20000"/>
          </a:bodyPr>
          <a:lstStyle/>
          <a:p>
            <a:r>
              <a:rPr lang="es-CO" dirty="0" smtClean="0"/>
              <a:t>Cuando se ejecuta </a:t>
            </a:r>
            <a:r>
              <a:rPr lang="es-CO" b="1" dirty="0" smtClean="0"/>
              <a:t>R</a:t>
            </a:r>
            <a:r>
              <a:rPr lang="es-CO" dirty="0" smtClean="0"/>
              <a:t>, aparece en la ventana </a:t>
            </a:r>
            <a:r>
              <a:rPr lang="es-CO" b="1" dirty="0" smtClean="0"/>
              <a:t>R </a:t>
            </a:r>
            <a:r>
              <a:rPr lang="es-CO" b="1" dirty="0" err="1" smtClean="0"/>
              <a:t>Console</a:t>
            </a:r>
            <a:r>
              <a:rPr lang="es-CO" b="1" dirty="0" smtClean="0"/>
              <a:t> </a:t>
            </a:r>
            <a:r>
              <a:rPr lang="es-CO" dirty="0" smtClean="0"/>
              <a:t>el </a:t>
            </a:r>
            <a:r>
              <a:rPr lang="es-CO" dirty="0" err="1" smtClean="0"/>
              <a:t>simbolo</a:t>
            </a:r>
            <a:r>
              <a:rPr lang="es-CO" dirty="0" smtClean="0"/>
              <a:t> </a:t>
            </a:r>
            <a:r>
              <a:rPr lang="es-CO" b="1" dirty="0" smtClean="0">
                <a:solidFill>
                  <a:srgbClr val="FF0000"/>
                </a:solidFill>
              </a:rPr>
              <a:t>&gt;</a:t>
            </a:r>
            <a:r>
              <a:rPr lang="es-CO" dirty="0" smtClean="0"/>
              <a:t>, el</a:t>
            </a:r>
            <a:br>
              <a:rPr lang="es-CO" dirty="0" smtClean="0"/>
            </a:br>
            <a:r>
              <a:rPr lang="es-CO" dirty="0" smtClean="0"/>
              <a:t>cual indica que </a:t>
            </a:r>
            <a:r>
              <a:rPr lang="es-CO" b="1" dirty="0" smtClean="0"/>
              <a:t>R </a:t>
            </a:r>
            <a:r>
              <a:rPr lang="es-CO" dirty="0" smtClean="0"/>
              <a:t>esta listo para recibir una instrucción</a:t>
            </a:r>
          </a:p>
          <a:p>
            <a:r>
              <a:rPr lang="es-CO" dirty="0" smtClean="0"/>
              <a:t>Los comandos que se utilizan  para asignar nombres a los objetos son los siguientes:  </a:t>
            </a:r>
            <a:r>
              <a:rPr lang="es-CO" dirty="0" smtClean="0">
                <a:solidFill>
                  <a:srgbClr val="FF0000"/>
                </a:solidFill>
              </a:rPr>
              <a:t>= ; &lt;- ; -&gt;</a:t>
            </a:r>
          </a:p>
          <a:p>
            <a:pPr>
              <a:buNone/>
            </a:pPr>
            <a:r>
              <a:rPr lang="es-CO" dirty="0" smtClean="0"/>
              <a:t>Ejemplo: a la letra “x” asignar el valor 2. Escribir en la consola:</a:t>
            </a:r>
          </a:p>
          <a:p>
            <a:pPr>
              <a:buNone/>
            </a:pPr>
            <a:r>
              <a:rPr lang="es-CO" dirty="0" smtClean="0"/>
              <a:t>&gt;    x&lt;-2 ; x</a:t>
            </a:r>
          </a:p>
          <a:p>
            <a:pPr>
              <a:buNone/>
            </a:pPr>
            <a:r>
              <a:rPr lang="it-IT" dirty="0" smtClean="0"/>
              <a:t>Automáticamente la ventana </a:t>
            </a:r>
            <a:r>
              <a:rPr lang="it-IT" b="1" dirty="0" smtClean="0"/>
              <a:t>R Console </a:t>
            </a:r>
            <a:r>
              <a:rPr lang="it-IT" dirty="0" smtClean="0"/>
              <a:t>le mostrara:</a:t>
            </a:r>
            <a:br>
              <a:rPr lang="it-IT" dirty="0" smtClean="0"/>
            </a:br>
            <a:r>
              <a:rPr lang="it-IT" b="1" dirty="0" smtClean="0">
                <a:solidFill>
                  <a:srgbClr val="0070C0"/>
                </a:solidFill>
              </a:rPr>
              <a:t>[1] 2</a:t>
            </a:r>
          </a:p>
          <a:p>
            <a:pPr>
              <a:buNone/>
            </a:pPr>
            <a:r>
              <a:rPr lang="es-CO" dirty="0" smtClean="0"/>
              <a:t>    El símbolo </a:t>
            </a:r>
            <a:r>
              <a:rPr lang="es-CO" b="1" dirty="0" smtClean="0">
                <a:solidFill>
                  <a:srgbClr val="FF0000"/>
                </a:solidFill>
              </a:rPr>
              <a:t>&lt;-</a:t>
            </a:r>
            <a:r>
              <a:rPr lang="es-CO" b="1" dirty="0" smtClean="0"/>
              <a:t> </a:t>
            </a:r>
            <a:r>
              <a:rPr lang="es-CO" dirty="0" smtClean="0"/>
              <a:t>es un operador de asignación: </a:t>
            </a:r>
            <a:r>
              <a:rPr lang="es-CO" b="1" dirty="0" err="1" smtClean="0">
                <a:solidFill>
                  <a:srgbClr val="FF0000"/>
                </a:solidFill>
              </a:rPr>
              <a:t>help</a:t>
            </a:r>
            <a:r>
              <a:rPr lang="es-CO" b="1" dirty="0" smtClean="0">
                <a:solidFill>
                  <a:srgbClr val="FF0000"/>
                </a:solidFill>
              </a:rPr>
              <a:t>("&lt;-")</a:t>
            </a:r>
            <a:r>
              <a:rPr lang="es-CO" dirty="0" smtClean="0">
                <a:solidFill>
                  <a:srgbClr val="FF0000"/>
                </a:solidFill>
              </a:rPr>
              <a:t>.</a:t>
            </a:r>
            <a:r>
              <a:rPr lang="es-CO" dirty="0" smtClean="0"/>
              <a:t/>
            </a:r>
            <a:br>
              <a:rPr lang="es-CO" dirty="0" smtClean="0"/>
            </a:br>
            <a:r>
              <a:rPr lang="es-CO" dirty="0" smtClean="0"/>
              <a:t>El símbolo </a:t>
            </a:r>
            <a:r>
              <a:rPr lang="es-CO" b="1" dirty="0" smtClean="0">
                <a:solidFill>
                  <a:srgbClr val="FF0000"/>
                </a:solidFill>
              </a:rPr>
              <a:t>;</a:t>
            </a:r>
            <a:r>
              <a:rPr lang="es-CO" b="1" dirty="0" smtClean="0"/>
              <a:t> </a:t>
            </a:r>
            <a:r>
              <a:rPr lang="es-CO" dirty="0" smtClean="0"/>
              <a:t>sirve para separar una orden de comandos.</a:t>
            </a:r>
            <a:br>
              <a:rPr lang="es-CO" dirty="0" smtClean="0"/>
            </a:br>
            <a:r>
              <a:rPr lang="es-CO" dirty="0" smtClean="0"/>
              <a:t>El </a:t>
            </a:r>
            <a:r>
              <a:rPr lang="es-CO" b="1" dirty="0" smtClean="0">
                <a:solidFill>
                  <a:srgbClr val="FF0000"/>
                </a:solidFill>
              </a:rPr>
              <a:t>[1] </a:t>
            </a:r>
            <a:r>
              <a:rPr lang="es-CO" dirty="0" smtClean="0"/>
              <a:t>indica la posición del elemento dentro del objeto</a:t>
            </a:r>
            <a:br>
              <a:rPr lang="es-CO" dirty="0" smtClean="0"/>
            </a:br>
            <a:r>
              <a:rPr lang="es-CO" dirty="0" smtClean="0"/>
              <a:t/>
            </a:r>
            <a:br>
              <a:rPr lang="es-CO" dirty="0" smtClean="0"/>
            </a:br>
            <a:r>
              <a:rPr lang="es-CO" i="1" dirty="0" smtClean="0">
                <a:solidFill>
                  <a:srgbClr val="0070C0"/>
                </a:solidFill>
              </a:rPr>
              <a:t>Se puede acceder a los componentes de un objeto empleando corchetes </a:t>
            </a:r>
            <a:r>
              <a:rPr lang="es-CO" dirty="0" smtClean="0">
                <a:solidFill>
                  <a:srgbClr val="0070C0"/>
                </a:solidFill>
              </a:rPr>
              <a:t>[]</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Asignaciones</a:t>
            </a:r>
            <a:endParaRPr lang="es-CO" dirty="0"/>
          </a:p>
        </p:txBody>
      </p:sp>
      <p:sp>
        <p:nvSpPr>
          <p:cNvPr id="3" name="2 Marcador de contenido"/>
          <p:cNvSpPr>
            <a:spLocks noGrp="1"/>
          </p:cNvSpPr>
          <p:nvPr>
            <p:ph idx="1"/>
          </p:nvPr>
        </p:nvSpPr>
        <p:spPr/>
        <p:txBody>
          <a:bodyPr>
            <a:normAutofit fontScale="85000" lnSpcReduction="20000"/>
          </a:bodyPr>
          <a:lstStyle/>
          <a:p>
            <a:pPr>
              <a:buNone/>
            </a:pPr>
            <a:r>
              <a:rPr lang="es-CO" dirty="0" smtClean="0"/>
              <a:t/>
            </a:r>
            <a:br>
              <a:rPr lang="es-CO" dirty="0" smtClean="0"/>
            </a:br>
            <a:r>
              <a:rPr lang="es-CO" b="1" dirty="0" smtClean="0"/>
              <a:t>Ejemplo</a:t>
            </a:r>
            <a:r>
              <a:rPr lang="es-CO" dirty="0" smtClean="0"/>
              <a:t>: Ejecutando asignaciones:</a:t>
            </a:r>
            <a:br>
              <a:rPr lang="es-CO" dirty="0" smtClean="0"/>
            </a:br>
            <a:endParaRPr lang="es-CO" dirty="0" smtClean="0"/>
          </a:p>
          <a:p>
            <a:pPr>
              <a:buNone/>
            </a:pPr>
            <a:r>
              <a:rPr lang="es-CO" dirty="0" smtClean="0"/>
              <a:t>La asignación, también puede realizarse con una flecha apuntando a la</a:t>
            </a:r>
            <a:br>
              <a:rPr lang="es-CO" dirty="0" smtClean="0"/>
            </a:br>
            <a:r>
              <a:rPr lang="es-CO" dirty="0" smtClean="0"/>
              <a:t>derecha </a:t>
            </a:r>
            <a:r>
              <a:rPr lang="es-CO" b="1" dirty="0" smtClean="0">
                <a:solidFill>
                  <a:srgbClr val="FF0000"/>
                </a:solidFill>
              </a:rPr>
              <a:t>-&gt;</a:t>
            </a:r>
            <a:r>
              <a:rPr lang="es-CO" dirty="0" smtClean="0"/>
              <a:t>.</a:t>
            </a:r>
            <a:br>
              <a:rPr lang="es-CO" dirty="0" smtClean="0"/>
            </a:br>
            <a:r>
              <a:rPr lang="es-CO" dirty="0" smtClean="0"/>
              <a:t>3 -&gt; x; x</a:t>
            </a:r>
            <a:br>
              <a:rPr lang="es-CO" dirty="0" smtClean="0"/>
            </a:br>
            <a:endParaRPr lang="es-CO" dirty="0" smtClean="0"/>
          </a:p>
          <a:p>
            <a:pPr>
              <a:buNone/>
            </a:pPr>
            <a:r>
              <a:rPr lang="es-CO" dirty="0" smtClean="0"/>
              <a:t>La asignación, puede realizarse también mediante la función </a:t>
            </a:r>
            <a:r>
              <a:rPr lang="es-CO" b="1" dirty="0" err="1" smtClean="0">
                <a:solidFill>
                  <a:srgbClr val="FF0000"/>
                </a:solidFill>
              </a:rPr>
              <a:t>assign</a:t>
            </a:r>
            <a:r>
              <a:rPr lang="es-CO" b="1" dirty="0" smtClean="0">
                <a:solidFill>
                  <a:srgbClr val="FF0000"/>
                </a:solidFill>
              </a:rPr>
              <a:t>()</a:t>
            </a:r>
            <a:r>
              <a:rPr lang="es-CO" dirty="0" smtClean="0">
                <a:solidFill>
                  <a:srgbClr val="FF0000"/>
                </a:solidFill>
              </a:rPr>
              <a:t>.</a:t>
            </a:r>
            <a:r>
              <a:rPr lang="es-CO" dirty="0" smtClean="0"/>
              <a:t/>
            </a:r>
            <a:br>
              <a:rPr lang="es-CO" dirty="0" smtClean="0"/>
            </a:br>
            <a:r>
              <a:rPr lang="es-CO" dirty="0" err="1" smtClean="0"/>
              <a:t>assign</a:t>
            </a:r>
            <a:r>
              <a:rPr lang="es-CO" dirty="0" smtClean="0"/>
              <a:t>("x", 4); x</a:t>
            </a:r>
            <a:br>
              <a:rPr lang="es-CO" dirty="0" smtClean="0"/>
            </a:br>
            <a:r>
              <a:rPr lang="es-CO" dirty="0" err="1" smtClean="0"/>
              <a:t>assign</a:t>
            </a:r>
            <a:r>
              <a:rPr lang="es-CO" dirty="0" smtClean="0"/>
              <a:t>("y", 10</a:t>
            </a:r>
            <a:r>
              <a:rPr lang="es-CO" dirty="0" smtClean="0">
                <a:solidFill>
                  <a:srgbClr val="FF0000"/>
                </a:solidFill>
              </a:rPr>
              <a:t>:</a:t>
            </a:r>
            <a:r>
              <a:rPr lang="es-CO" dirty="0" smtClean="0"/>
              <a:t>14); y</a:t>
            </a:r>
            <a:br>
              <a:rPr lang="es-CO" dirty="0" smtClean="0"/>
            </a:br>
            <a:endParaRPr lang="es-CO" dirty="0" smtClean="0"/>
          </a:p>
          <a:p>
            <a:pPr>
              <a:buNone/>
            </a:pPr>
            <a:r>
              <a:rPr lang="es-CO" dirty="0" smtClean="0"/>
              <a:t>El símbolo </a:t>
            </a:r>
            <a:r>
              <a:rPr lang="es-CO" b="1" dirty="0" smtClean="0">
                <a:solidFill>
                  <a:srgbClr val="FF0000"/>
                </a:solidFill>
              </a:rPr>
              <a:t>:</a:t>
            </a:r>
            <a:r>
              <a:rPr lang="es-CO" b="1" dirty="0" smtClean="0"/>
              <a:t> </a:t>
            </a:r>
            <a:r>
              <a:rPr lang="es-CO" dirty="0" smtClean="0"/>
              <a:t>sirve para generar una secuencia de números.</a:t>
            </a:r>
            <a:br>
              <a:rPr lang="es-CO"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Algunos objetos que se pueden crear: </a:t>
            </a:r>
            <a:r>
              <a:rPr lang="es-CO" dirty="0" smtClean="0">
                <a:solidFill>
                  <a:srgbClr val="FF0000"/>
                </a:solidFill>
              </a:rPr>
              <a:t>Vector</a:t>
            </a:r>
            <a:endParaRPr lang="es-CO" dirty="0">
              <a:solidFill>
                <a:srgbClr val="FF0000"/>
              </a:solidFill>
            </a:endParaRPr>
          </a:p>
        </p:txBody>
      </p:sp>
      <p:sp>
        <p:nvSpPr>
          <p:cNvPr id="3" name="2 Marcador de contenido"/>
          <p:cNvSpPr>
            <a:spLocks noGrp="1"/>
          </p:cNvSpPr>
          <p:nvPr>
            <p:ph idx="1"/>
          </p:nvPr>
        </p:nvSpPr>
        <p:spPr/>
        <p:txBody>
          <a:bodyPr>
            <a:normAutofit fontScale="85000" lnSpcReduction="20000"/>
          </a:bodyPr>
          <a:lstStyle/>
          <a:p>
            <a:r>
              <a:rPr lang="es-CO" sz="3000" b="1" dirty="0" smtClean="0"/>
              <a:t>R </a:t>
            </a:r>
            <a:r>
              <a:rPr lang="es-CO" sz="3000" dirty="0" smtClean="0"/>
              <a:t>maneja diferentes clases de objetos, entre los más básicos se</a:t>
            </a:r>
            <a:br>
              <a:rPr lang="es-CO" sz="3000" dirty="0" smtClean="0"/>
            </a:br>
            <a:r>
              <a:rPr lang="es-CO" sz="3000" dirty="0" smtClean="0"/>
              <a:t>encuentran</a:t>
            </a:r>
            <a:br>
              <a:rPr lang="es-CO" sz="3000" dirty="0" smtClean="0"/>
            </a:br>
            <a:r>
              <a:rPr lang="es-CO" sz="3000" dirty="0" smtClean="0"/>
              <a:t/>
            </a:r>
            <a:br>
              <a:rPr lang="es-CO" sz="3000" dirty="0" smtClean="0"/>
            </a:br>
            <a:r>
              <a:rPr lang="es-CO" sz="3000" b="1" dirty="0" smtClean="0"/>
              <a:t>Vector: </a:t>
            </a:r>
            <a:r>
              <a:rPr lang="es-CO" sz="3000" dirty="0" smtClean="0"/>
              <a:t>Colección de elementos del mismo tipo. Los elementos de un vector pueden definirse mediante la función combinar </a:t>
            </a:r>
            <a:r>
              <a:rPr lang="es-CO" sz="3000" b="1" dirty="0" smtClean="0">
                <a:solidFill>
                  <a:srgbClr val="FF0000"/>
                </a:solidFill>
              </a:rPr>
              <a:t>c()</a:t>
            </a:r>
          </a:p>
          <a:p>
            <a:pPr>
              <a:buNone/>
            </a:pPr>
            <a:endParaRPr lang="es-CO" sz="3000" dirty="0" smtClean="0"/>
          </a:p>
          <a:p>
            <a:r>
              <a:rPr lang="es-CO" sz="3000" dirty="0" smtClean="0">
                <a:solidFill>
                  <a:srgbClr val="FF0000"/>
                </a:solidFill>
              </a:rPr>
              <a:t>x1 &lt;- c(1, 2, 3, 4, 5); x2 &lt;- 1:5; x1; x2</a:t>
            </a:r>
            <a:br>
              <a:rPr lang="es-CO" sz="3000" dirty="0" smtClean="0">
                <a:solidFill>
                  <a:srgbClr val="FF0000"/>
                </a:solidFill>
              </a:rPr>
            </a:br>
            <a:r>
              <a:rPr lang="es-CO" sz="3000" dirty="0" smtClean="0">
                <a:solidFill>
                  <a:srgbClr val="FF0000"/>
                </a:solidFill>
              </a:rPr>
              <a:t>x &lt;- x1; x</a:t>
            </a:r>
            <a:r>
              <a:rPr lang="es-CO" dirty="0" smtClean="0"/>
              <a:t/>
            </a:r>
            <a:br>
              <a:rPr lang="es-CO" dirty="0" smtClean="0"/>
            </a:br>
            <a:r>
              <a:rPr lang="es-CO" dirty="0" smtClean="0"/>
              <a:t/>
            </a:r>
            <a:br>
              <a:rPr lang="es-CO" dirty="0" smtClean="0"/>
            </a:br>
            <a:r>
              <a:rPr lang="es-CO" dirty="0" smtClean="0"/>
              <a:t>También se pueden usar: </a:t>
            </a:r>
            <a:r>
              <a:rPr lang="es-CO" dirty="0" err="1" smtClean="0"/>
              <a:t>rbind</a:t>
            </a:r>
            <a:r>
              <a:rPr lang="es-CO" dirty="0" smtClean="0"/>
              <a:t>, </a:t>
            </a:r>
            <a:r>
              <a:rPr lang="es-CO" dirty="0" err="1" smtClean="0"/>
              <a:t>cbind</a:t>
            </a:r>
            <a:r>
              <a:rPr lang="es-CO" dirty="0" smtClean="0"/>
              <a:t>, </a:t>
            </a:r>
            <a:r>
              <a:rPr lang="es-CO" dirty="0" err="1" smtClean="0"/>
              <a:t>array</a:t>
            </a:r>
            <a:r>
              <a:rPr lang="es-CO" dirty="0" smtClean="0"/>
              <a:t> para la creación de vectores o matrices</a:t>
            </a:r>
            <a:br>
              <a:rPr lang="es-CO" dirty="0" smtClean="0"/>
            </a:br>
            <a:r>
              <a:rPr lang="es-CO" dirty="0" smtClean="0"/>
              <a:t/>
            </a:r>
            <a:br>
              <a:rPr lang="es-CO"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Algunos objetos que se pueden crear: </a:t>
            </a:r>
            <a:r>
              <a:rPr lang="es-CO" dirty="0" smtClean="0">
                <a:solidFill>
                  <a:srgbClr val="FF0000"/>
                </a:solidFill>
              </a:rPr>
              <a:t>Vector</a:t>
            </a:r>
            <a:endParaRPr lang="es-CO" dirty="0">
              <a:solidFill>
                <a:srgbClr val="FF0000"/>
              </a:solidFill>
            </a:endParaRPr>
          </a:p>
        </p:txBody>
      </p:sp>
      <p:sp>
        <p:nvSpPr>
          <p:cNvPr id="3" name="2 Marcador de contenido"/>
          <p:cNvSpPr>
            <a:spLocks noGrp="1"/>
          </p:cNvSpPr>
          <p:nvPr>
            <p:ph idx="1"/>
          </p:nvPr>
        </p:nvSpPr>
        <p:spPr/>
        <p:txBody>
          <a:bodyPr/>
          <a:lstStyle/>
          <a:p>
            <a:r>
              <a:rPr lang="es-CO" dirty="0" smtClean="0"/>
              <a:t>Es posible crear vectores de caracteres, los cuales también son</a:t>
            </a:r>
            <a:br>
              <a:rPr lang="es-CO" dirty="0" smtClean="0"/>
            </a:br>
            <a:r>
              <a:rPr lang="es-CO" dirty="0" smtClean="0"/>
              <a:t>utilizadas en </a:t>
            </a:r>
            <a:r>
              <a:rPr lang="es-CO" b="1" dirty="0" smtClean="0"/>
              <a:t>R</a:t>
            </a:r>
            <a:r>
              <a:rPr lang="es-CO" dirty="0" smtClean="0"/>
              <a:t>, para etiquetar gráficos. Una cadena de caracteres se construye escribiendo entre comillas la sucesión de caracteres que la define, por ejemplo:</a:t>
            </a:r>
            <a:br>
              <a:rPr lang="es-CO" dirty="0" smtClean="0"/>
            </a:br>
            <a:endParaRPr lang="es-CO" dirty="0" smtClean="0"/>
          </a:p>
          <a:p>
            <a:r>
              <a:rPr lang="es-CO" dirty="0" smtClean="0">
                <a:solidFill>
                  <a:srgbClr val="FF0000"/>
                </a:solidFill>
              </a:rPr>
              <a:t>y &lt;- c("Bogotá", "Cali", "Medellín", "Cartagena", "Barranquilla"); y</a:t>
            </a:r>
            <a:br>
              <a:rPr lang="es-CO" dirty="0" smtClean="0">
                <a:solidFill>
                  <a:srgbClr val="FF0000"/>
                </a:solidFill>
              </a:rPr>
            </a:br>
            <a:r>
              <a:rPr lang="es-CO" dirty="0" smtClean="0">
                <a:solidFill>
                  <a:srgbClr val="FF0000"/>
                </a:solidFill>
              </a:rPr>
              <a:t>z &lt;- c(x, y); z</a:t>
            </a:r>
            <a:r>
              <a:rPr lang="es-CO" dirty="0" smtClean="0"/>
              <a:t/>
            </a:r>
            <a:br>
              <a:rPr lang="es-CO" dirty="0" smtClean="0"/>
            </a:br>
            <a:r>
              <a:rPr lang="es-CO" dirty="0" smtClean="0"/>
              <a:t/>
            </a:r>
            <a:br>
              <a:rPr lang="es-CO"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Atributos del </a:t>
            </a:r>
            <a:r>
              <a:rPr lang="es-CO" dirty="0" smtClean="0">
                <a:solidFill>
                  <a:srgbClr val="FF0000"/>
                </a:solidFill>
              </a:rPr>
              <a:t>Vector</a:t>
            </a:r>
            <a:endParaRPr lang="es-CO" dirty="0">
              <a:solidFill>
                <a:srgbClr val="FF0000"/>
              </a:solidFill>
            </a:endParaRPr>
          </a:p>
        </p:txBody>
      </p:sp>
      <p:sp>
        <p:nvSpPr>
          <p:cNvPr id="3" name="2 Marcador de contenido"/>
          <p:cNvSpPr>
            <a:spLocks noGrp="1"/>
          </p:cNvSpPr>
          <p:nvPr>
            <p:ph idx="1"/>
          </p:nvPr>
        </p:nvSpPr>
        <p:spPr/>
        <p:txBody>
          <a:bodyPr>
            <a:normAutofit lnSpcReduction="10000"/>
          </a:bodyPr>
          <a:lstStyle/>
          <a:p>
            <a:r>
              <a:rPr lang="es-CO" dirty="0" smtClean="0"/>
              <a:t>A través de la función </a:t>
            </a:r>
            <a:r>
              <a:rPr lang="es-CO" b="1" dirty="0" err="1" smtClean="0"/>
              <a:t>mode</a:t>
            </a:r>
            <a:r>
              <a:rPr lang="es-CO" b="1" dirty="0" smtClean="0"/>
              <a:t>() </a:t>
            </a:r>
            <a:r>
              <a:rPr lang="es-CO" dirty="0" smtClean="0"/>
              <a:t>o </a:t>
            </a:r>
            <a:r>
              <a:rPr lang="es-CO" b="1" dirty="0" err="1" smtClean="0"/>
              <a:t>class</a:t>
            </a:r>
            <a:r>
              <a:rPr lang="es-CO" b="1" dirty="0" smtClean="0"/>
              <a:t>()</a:t>
            </a:r>
            <a:r>
              <a:rPr lang="es-CO" dirty="0" smtClean="0"/>
              <a:t>, se puede consultar el tipo de vector que se maneja y con la función </a:t>
            </a:r>
            <a:r>
              <a:rPr lang="es-CO" b="1" dirty="0" err="1" smtClean="0"/>
              <a:t>length</a:t>
            </a:r>
            <a:r>
              <a:rPr lang="es-CO" b="1" dirty="0" smtClean="0"/>
              <a:t>()</a:t>
            </a:r>
            <a:r>
              <a:rPr lang="es-CO" dirty="0" smtClean="0"/>
              <a:t>, su longitud</a:t>
            </a:r>
          </a:p>
          <a:p>
            <a:endParaRPr lang="es-CO" dirty="0" smtClean="0"/>
          </a:p>
          <a:p>
            <a:r>
              <a:rPr lang="es-CO" b="1" dirty="0" err="1" smtClean="0">
                <a:solidFill>
                  <a:srgbClr val="0070C0"/>
                </a:solidFill>
              </a:rPr>
              <a:t>mode</a:t>
            </a:r>
            <a:r>
              <a:rPr lang="es-CO" b="1" dirty="0" smtClean="0">
                <a:solidFill>
                  <a:srgbClr val="0070C0"/>
                </a:solidFill>
              </a:rPr>
              <a:t>(x); </a:t>
            </a:r>
            <a:r>
              <a:rPr lang="es-CO" b="1" dirty="0" err="1" smtClean="0">
                <a:solidFill>
                  <a:srgbClr val="0070C0"/>
                </a:solidFill>
              </a:rPr>
              <a:t>mode</a:t>
            </a:r>
            <a:r>
              <a:rPr lang="es-CO" b="1" dirty="0" smtClean="0">
                <a:solidFill>
                  <a:srgbClr val="0070C0"/>
                </a:solidFill>
              </a:rPr>
              <a:t>(y); </a:t>
            </a:r>
            <a:r>
              <a:rPr lang="es-CO" b="1" dirty="0" err="1" smtClean="0">
                <a:solidFill>
                  <a:srgbClr val="0070C0"/>
                </a:solidFill>
              </a:rPr>
              <a:t>mode</a:t>
            </a:r>
            <a:r>
              <a:rPr lang="es-CO" b="1" dirty="0" smtClean="0">
                <a:solidFill>
                  <a:srgbClr val="0070C0"/>
                </a:solidFill>
              </a:rPr>
              <a:t>(z)</a:t>
            </a:r>
            <a:br>
              <a:rPr lang="es-CO" b="1" dirty="0" smtClean="0">
                <a:solidFill>
                  <a:srgbClr val="0070C0"/>
                </a:solidFill>
              </a:rPr>
            </a:br>
            <a:r>
              <a:rPr lang="es-CO" b="1" dirty="0" err="1" smtClean="0">
                <a:solidFill>
                  <a:srgbClr val="0070C0"/>
                </a:solidFill>
              </a:rPr>
              <a:t>class</a:t>
            </a:r>
            <a:r>
              <a:rPr lang="es-CO" b="1" dirty="0" smtClean="0">
                <a:solidFill>
                  <a:srgbClr val="0070C0"/>
                </a:solidFill>
              </a:rPr>
              <a:t>(x); </a:t>
            </a:r>
            <a:r>
              <a:rPr lang="es-CO" b="1" dirty="0" err="1" smtClean="0">
                <a:solidFill>
                  <a:srgbClr val="0070C0"/>
                </a:solidFill>
              </a:rPr>
              <a:t>class</a:t>
            </a:r>
            <a:r>
              <a:rPr lang="es-CO" b="1" dirty="0" smtClean="0">
                <a:solidFill>
                  <a:srgbClr val="0070C0"/>
                </a:solidFill>
              </a:rPr>
              <a:t>(y); </a:t>
            </a:r>
            <a:r>
              <a:rPr lang="es-CO" b="1" dirty="0" err="1" smtClean="0">
                <a:solidFill>
                  <a:srgbClr val="0070C0"/>
                </a:solidFill>
              </a:rPr>
              <a:t>class</a:t>
            </a:r>
            <a:r>
              <a:rPr lang="es-CO" b="1" dirty="0" smtClean="0">
                <a:solidFill>
                  <a:srgbClr val="0070C0"/>
                </a:solidFill>
              </a:rPr>
              <a:t>(z) # Puede ser más detallada.</a:t>
            </a:r>
            <a:br>
              <a:rPr lang="es-CO" b="1" dirty="0" smtClean="0">
                <a:solidFill>
                  <a:srgbClr val="0070C0"/>
                </a:solidFill>
              </a:rPr>
            </a:br>
            <a:r>
              <a:rPr lang="es-CO" b="1" dirty="0" err="1" smtClean="0">
                <a:solidFill>
                  <a:srgbClr val="0070C0"/>
                </a:solidFill>
              </a:rPr>
              <a:t>length</a:t>
            </a:r>
            <a:r>
              <a:rPr lang="es-CO" b="1" dirty="0" smtClean="0">
                <a:solidFill>
                  <a:srgbClr val="0070C0"/>
                </a:solidFill>
              </a:rPr>
              <a:t>(x); </a:t>
            </a:r>
            <a:r>
              <a:rPr lang="es-CO" b="1" dirty="0" err="1" smtClean="0">
                <a:solidFill>
                  <a:srgbClr val="0070C0"/>
                </a:solidFill>
              </a:rPr>
              <a:t>length</a:t>
            </a:r>
            <a:r>
              <a:rPr lang="es-CO" b="1" dirty="0" smtClean="0">
                <a:solidFill>
                  <a:srgbClr val="0070C0"/>
                </a:solidFill>
              </a:rPr>
              <a:t>(y); </a:t>
            </a:r>
            <a:r>
              <a:rPr lang="es-CO" b="1" dirty="0" err="1" smtClean="0">
                <a:solidFill>
                  <a:srgbClr val="0070C0"/>
                </a:solidFill>
              </a:rPr>
              <a:t>length</a:t>
            </a:r>
            <a:r>
              <a:rPr lang="es-CO" b="1" dirty="0" smtClean="0">
                <a:solidFill>
                  <a:srgbClr val="0070C0"/>
                </a:solidFill>
              </a:rPr>
              <a:t>(z)</a:t>
            </a:r>
            <a:r>
              <a:rPr lang="es-CO" dirty="0" smtClean="0"/>
              <a:t/>
            </a:r>
            <a:br>
              <a:rPr lang="es-CO" dirty="0" smtClean="0"/>
            </a:br>
            <a:r>
              <a:rPr lang="es-CO" dirty="0" smtClean="0"/>
              <a:t/>
            </a:r>
            <a:br>
              <a:rPr lang="es-CO" dirty="0" smtClean="0"/>
            </a:br>
            <a:r>
              <a:rPr lang="es-CO" dirty="0" smtClean="0"/>
              <a:t/>
            </a:r>
            <a:br>
              <a:rPr lang="es-CO" dirty="0" smtClean="0"/>
            </a:br>
            <a:r>
              <a:rPr lang="es-CO" dirty="0" smtClean="0"/>
              <a:t/>
            </a:r>
            <a:br>
              <a:rPr lang="es-CO"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93686" y="5357826"/>
            <a:ext cx="10971372" cy="957250"/>
          </a:xfrm>
        </p:spPr>
        <p:txBody>
          <a:bodyPr/>
          <a:lstStyle/>
          <a:p>
            <a:r>
              <a:rPr lang="es-CO" dirty="0" smtClean="0"/>
              <a:t>Algunos objetos que se pueden crear: </a:t>
            </a:r>
            <a:r>
              <a:rPr lang="es-CO" dirty="0" smtClean="0">
                <a:solidFill>
                  <a:srgbClr val="FF0000"/>
                </a:solidFill>
              </a:rPr>
              <a:t>Vector</a:t>
            </a:r>
            <a:endParaRPr lang="es-CO" dirty="0">
              <a:solidFill>
                <a:srgbClr val="FF0000"/>
              </a:solidFill>
            </a:endParaRPr>
          </a:p>
        </p:txBody>
      </p:sp>
      <p:sp>
        <p:nvSpPr>
          <p:cNvPr id="3" name="2 Marcador de contenido"/>
          <p:cNvSpPr>
            <a:spLocks noGrp="1"/>
          </p:cNvSpPr>
          <p:nvPr>
            <p:ph idx="1"/>
          </p:nvPr>
        </p:nvSpPr>
        <p:spPr>
          <a:xfrm>
            <a:off x="450810" y="714356"/>
            <a:ext cx="5943607" cy="4672026"/>
          </a:xfrm>
        </p:spPr>
        <p:txBody>
          <a:bodyPr>
            <a:normAutofit lnSpcReduction="10000"/>
          </a:bodyPr>
          <a:lstStyle/>
          <a:p>
            <a:pPr>
              <a:buNone/>
            </a:pPr>
            <a:r>
              <a:rPr lang="es-CO" dirty="0" smtClean="0">
                <a:solidFill>
                  <a:srgbClr val="FF0000"/>
                </a:solidFill>
              </a:rPr>
              <a:t>    Creación de vectores con secuencias Ejemplos:</a:t>
            </a:r>
          </a:p>
          <a:p>
            <a:r>
              <a:rPr lang="es-CO" dirty="0" err="1" smtClean="0">
                <a:solidFill>
                  <a:srgbClr val="FF0000"/>
                </a:solidFill>
              </a:rPr>
              <a:t>xx</a:t>
            </a:r>
            <a:r>
              <a:rPr lang="es-CO" dirty="0" smtClean="0">
                <a:solidFill>
                  <a:srgbClr val="FF0000"/>
                </a:solidFill>
              </a:rPr>
              <a:t> &lt;- </a:t>
            </a:r>
            <a:r>
              <a:rPr lang="es-CO" dirty="0" err="1" smtClean="0">
                <a:solidFill>
                  <a:srgbClr val="FF0000"/>
                </a:solidFill>
              </a:rPr>
              <a:t>seq</a:t>
            </a:r>
            <a:r>
              <a:rPr lang="es-CO" dirty="0" smtClean="0">
                <a:solidFill>
                  <a:srgbClr val="FF0000"/>
                </a:solidFill>
              </a:rPr>
              <a:t>(0,1,0.2); </a:t>
            </a:r>
            <a:r>
              <a:rPr lang="es-CO" dirty="0" err="1" smtClean="0">
                <a:solidFill>
                  <a:srgbClr val="FF0000"/>
                </a:solidFill>
              </a:rPr>
              <a:t>xx</a:t>
            </a:r>
            <a:endParaRPr lang="es-CO" dirty="0" smtClean="0">
              <a:solidFill>
                <a:srgbClr val="FF0000"/>
              </a:solidFill>
            </a:endParaRPr>
          </a:p>
          <a:p>
            <a:r>
              <a:rPr lang="es-CO" dirty="0" err="1" smtClean="0">
                <a:solidFill>
                  <a:srgbClr val="FF0000"/>
                </a:solidFill>
              </a:rPr>
              <a:t>rr</a:t>
            </a:r>
            <a:r>
              <a:rPr lang="es-CO" dirty="0" smtClean="0">
                <a:solidFill>
                  <a:srgbClr val="FF0000"/>
                </a:solidFill>
              </a:rPr>
              <a:t> &lt;- 1:10; </a:t>
            </a:r>
            <a:r>
              <a:rPr lang="es-CO" dirty="0" err="1" smtClean="0">
                <a:solidFill>
                  <a:srgbClr val="FF0000"/>
                </a:solidFill>
              </a:rPr>
              <a:t>rr</a:t>
            </a:r>
            <a:endParaRPr lang="es-CO" dirty="0" smtClean="0">
              <a:solidFill>
                <a:srgbClr val="FF0000"/>
              </a:solidFill>
            </a:endParaRPr>
          </a:p>
          <a:p>
            <a:r>
              <a:rPr lang="es-CO" dirty="0" smtClean="0">
                <a:solidFill>
                  <a:srgbClr val="FF0000"/>
                </a:solidFill>
              </a:rPr>
              <a:t>sec1 &lt;- </a:t>
            </a:r>
            <a:r>
              <a:rPr lang="es-CO" dirty="0" err="1" smtClean="0">
                <a:solidFill>
                  <a:srgbClr val="FF0000"/>
                </a:solidFill>
              </a:rPr>
              <a:t>seq</a:t>
            </a:r>
            <a:r>
              <a:rPr lang="es-CO" dirty="0" smtClean="0">
                <a:solidFill>
                  <a:srgbClr val="FF0000"/>
                </a:solidFill>
              </a:rPr>
              <a:t>(0,100,10); sec1</a:t>
            </a:r>
          </a:p>
          <a:p>
            <a:r>
              <a:rPr lang="es-CO" b="1" dirty="0" smtClean="0"/>
              <a:t>R </a:t>
            </a:r>
            <a:r>
              <a:rPr lang="es-CO" dirty="0" smtClean="0"/>
              <a:t>realiza cambios de modo cada vez que se le indica o es necesario</a:t>
            </a:r>
            <a:br>
              <a:rPr lang="es-CO" dirty="0" smtClean="0"/>
            </a:br>
            <a:r>
              <a:rPr lang="es-CO" dirty="0" smtClean="0"/>
              <a:t/>
            </a:r>
            <a:br>
              <a:rPr lang="es-CO" dirty="0" smtClean="0"/>
            </a:br>
            <a:r>
              <a:rPr lang="es-CO" b="1" dirty="0" smtClean="0">
                <a:solidFill>
                  <a:srgbClr val="0070C0"/>
                </a:solidFill>
              </a:rPr>
              <a:t>sec2 &lt;- </a:t>
            </a:r>
            <a:r>
              <a:rPr lang="es-CO" b="1" dirty="0" err="1" smtClean="0">
                <a:solidFill>
                  <a:srgbClr val="0070C0"/>
                </a:solidFill>
              </a:rPr>
              <a:t>as.character</a:t>
            </a:r>
            <a:r>
              <a:rPr lang="es-CO" b="1" dirty="0" smtClean="0">
                <a:solidFill>
                  <a:srgbClr val="0070C0"/>
                </a:solidFill>
              </a:rPr>
              <a:t>(sec1) ; sec2</a:t>
            </a:r>
          </a:p>
          <a:p>
            <a:r>
              <a:rPr lang="es-CO" b="1" dirty="0" smtClean="0">
                <a:solidFill>
                  <a:srgbClr val="0070C0"/>
                </a:solidFill>
              </a:rPr>
              <a:t>## Cambio de numérico a carácter.</a:t>
            </a:r>
          </a:p>
        </p:txBody>
      </p:sp>
      <p:sp>
        <p:nvSpPr>
          <p:cNvPr id="4" name="2 Marcador de contenido"/>
          <p:cNvSpPr txBox="1">
            <a:spLocks/>
          </p:cNvSpPr>
          <p:nvPr/>
        </p:nvSpPr>
        <p:spPr>
          <a:xfrm>
            <a:off x="6951668" y="785794"/>
            <a:ext cx="4500595" cy="4672026"/>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800"/>
              </a:spcBef>
              <a:spcAft>
                <a:spcPts val="0"/>
              </a:spcAft>
              <a:buClr>
                <a:schemeClr val="tx1"/>
              </a:buClr>
              <a:buSzPct val="80000"/>
              <a:buFont typeface="Arial" pitchFamily="34" charset="0"/>
              <a:buChar char="•"/>
              <a:tabLst/>
              <a:defRPr/>
            </a:pPr>
            <a:endParaRPr kumimoji="0" lang="es-CO" sz="2800" b="1" i="0" u="none" strike="noStrike" kern="1200" cap="none" spc="0" normalizeH="0" baseline="0" noProof="0" dirty="0" smtClean="0">
              <a:ln>
                <a:noFill/>
              </a:ln>
              <a:solidFill>
                <a:srgbClr val="0070C0"/>
              </a:solidFill>
              <a:effectLst/>
              <a:uLnTx/>
              <a:uFillTx/>
              <a:latin typeface="+mn-lt"/>
              <a:ea typeface="+mn-ea"/>
              <a:cs typeface="+mn-cs"/>
            </a:endParaRPr>
          </a:p>
          <a:p>
            <a:pPr marL="228600" marR="0" lvl="0" indent="-228600" algn="l" defTabSz="914400" rtl="0" eaLnBrk="1" fontAlgn="auto" latinLnBrk="0" hangingPunct="1">
              <a:lnSpc>
                <a:spcPct val="90000"/>
              </a:lnSpc>
              <a:spcBef>
                <a:spcPts val="1800"/>
              </a:spcBef>
              <a:spcAft>
                <a:spcPts val="0"/>
              </a:spcAft>
              <a:buClr>
                <a:schemeClr val="tx1"/>
              </a:buClr>
              <a:buSzPct val="80000"/>
              <a:buFont typeface="Arial" pitchFamily="34" charset="0"/>
              <a:buChar char="•"/>
              <a:tabLst/>
              <a:defRPr/>
            </a:pPr>
            <a:r>
              <a:rPr lang="es-CO" sz="2800" b="1" dirty="0" smtClean="0">
                <a:solidFill>
                  <a:srgbClr val="0070C0"/>
                </a:solidFill>
              </a:rPr>
              <a:t>Otro ejemplo:</a:t>
            </a:r>
          </a:p>
          <a:p>
            <a:pPr marL="228600" lvl="0" indent="-228600">
              <a:lnSpc>
                <a:spcPct val="90000"/>
              </a:lnSpc>
              <a:spcBef>
                <a:spcPts val="1800"/>
              </a:spcBef>
              <a:buClr>
                <a:schemeClr val="tx1"/>
              </a:buClr>
              <a:buSzPct val="80000"/>
            </a:pPr>
            <a:r>
              <a:rPr lang="fr-FR" sz="2800" dirty="0" smtClean="0"/>
              <a:t>    sec4 &lt;- c(1, 5, 7); sec4</a:t>
            </a:r>
            <a:br>
              <a:rPr lang="fr-FR" sz="2800" dirty="0" smtClean="0"/>
            </a:br>
            <a:r>
              <a:rPr lang="es-CO" sz="2800" dirty="0" err="1" smtClean="0"/>
              <a:t>is.numeric</a:t>
            </a:r>
            <a:r>
              <a:rPr lang="es-CO" sz="2800" dirty="0" smtClean="0"/>
              <a:t>(sec4)</a:t>
            </a:r>
            <a:br>
              <a:rPr lang="es-CO" sz="2800" dirty="0" smtClean="0"/>
            </a:br>
            <a:r>
              <a:rPr lang="es-CO" sz="2800" dirty="0" smtClean="0"/>
              <a:t>sec5 &lt;- </a:t>
            </a:r>
            <a:r>
              <a:rPr lang="es-CO" sz="2800" dirty="0" err="1" smtClean="0"/>
              <a:t>as.character</a:t>
            </a:r>
            <a:r>
              <a:rPr lang="es-CO" sz="2800" dirty="0" smtClean="0"/>
              <a:t>(sec4)</a:t>
            </a:r>
            <a:br>
              <a:rPr lang="es-CO" sz="2800" dirty="0" smtClean="0"/>
            </a:br>
            <a:r>
              <a:rPr lang="es-CO" sz="2800" dirty="0" smtClean="0"/>
              <a:t>sec5</a:t>
            </a:r>
            <a:br>
              <a:rPr lang="es-CO" sz="2800" dirty="0" smtClean="0"/>
            </a:br>
            <a:r>
              <a:rPr lang="es-CO" sz="2800" dirty="0" err="1" smtClean="0"/>
              <a:t>is.character</a:t>
            </a:r>
            <a:r>
              <a:rPr lang="es-CO" sz="2800" dirty="0" smtClean="0"/>
              <a:t>(sec5)</a:t>
            </a:r>
            <a:br>
              <a:rPr lang="es-CO" sz="2800" dirty="0" smtClean="0"/>
            </a:br>
            <a:r>
              <a:rPr lang="fr-FR" sz="2800" dirty="0" smtClean="0"/>
              <a:t/>
            </a:r>
            <a:br>
              <a:rPr lang="fr-FR" sz="2800" dirty="0" smtClean="0"/>
            </a:br>
            <a:endParaRPr kumimoji="0" lang="es-CO" sz="2800" b="1" i="0" u="none" strike="noStrike" kern="1200" cap="none" spc="0" normalizeH="0" baseline="0" noProof="0" dirty="0" smtClean="0">
              <a:ln>
                <a:noFill/>
              </a:ln>
              <a:solidFill>
                <a:srgbClr val="0070C0"/>
              </a:solidFill>
              <a:effectLst/>
              <a:uLnTx/>
              <a:uFillTx/>
              <a:latin typeface="+mn-lt"/>
              <a:ea typeface="+mn-ea"/>
              <a:cs typeface="+mn-cs"/>
            </a:endParaRPr>
          </a:p>
          <a:p>
            <a:pPr marL="228600" marR="0" lvl="0" indent="-228600" algn="l" defTabSz="914400" rtl="0" eaLnBrk="1" fontAlgn="auto" latinLnBrk="0" hangingPunct="1">
              <a:lnSpc>
                <a:spcPct val="90000"/>
              </a:lnSpc>
              <a:spcBef>
                <a:spcPts val="1800"/>
              </a:spcBef>
              <a:spcAft>
                <a:spcPts val="0"/>
              </a:spcAft>
              <a:buClr>
                <a:schemeClr val="tx1"/>
              </a:buClr>
              <a:buSzPct val="80000"/>
              <a:buFont typeface="Arial" pitchFamily="34" charset="0"/>
              <a:buChar char="•"/>
              <a:tabLst/>
              <a:defRPr/>
            </a:pPr>
            <a:endParaRPr kumimoji="0" lang="es-CO" sz="2800" b="1" i="0" u="none" strike="noStrike" kern="1200" cap="none" spc="0" normalizeH="0" baseline="0" noProof="0" dirty="0" smtClean="0">
              <a:ln>
                <a:noFill/>
              </a:ln>
              <a:solidFill>
                <a:srgbClr val="0070C0"/>
              </a:solidFill>
              <a:effectLst/>
              <a:uLnTx/>
              <a:uFillTx/>
              <a:latin typeface="+mn-lt"/>
              <a:ea typeface="+mn-ea"/>
              <a:cs typeface="+mn-cs"/>
            </a:endParaRPr>
          </a:p>
          <a:p>
            <a:pPr marL="228600" marR="0" lvl="0" indent="-228600" algn="l" defTabSz="914400" rtl="0" eaLnBrk="1" fontAlgn="auto" latinLnBrk="0" hangingPunct="1">
              <a:lnSpc>
                <a:spcPct val="90000"/>
              </a:lnSpc>
              <a:spcBef>
                <a:spcPts val="1800"/>
              </a:spcBef>
              <a:spcAft>
                <a:spcPts val="0"/>
              </a:spcAft>
              <a:buClr>
                <a:schemeClr val="tx1"/>
              </a:buClr>
              <a:buSzPct val="80000"/>
              <a:buFont typeface="Arial" pitchFamily="34" charset="0"/>
              <a:buChar char="•"/>
              <a:tabLst/>
              <a:defRPr/>
            </a:pPr>
            <a:endParaRPr kumimoji="0" lang="es-CO" sz="2800" b="1" i="0" u="none" strike="noStrike" kern="1200" cap="none" spc="0" normalizeH="0" baseline="0" noProof="0" dirty="0" smtClean="0">
              <a:ln>
                <a:noFill/>
              </a:ln>
              <a:solidFill>
                <a:srgbClr val="0070C0"/>
              </a:solidFill>
              <a:effectLst/>
              <a:uLnTx/>
              <a:uFillTx/>
              <a:latin typeface="+mn-lt"/>
              <a:ea typeface="+mn-ea"/>
              <a:cs typeface="+mn-cs"/>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Algunos objetos que se pueden crear: Vector</a:t>
            </a:r>
            <a:endParaRPr lang="es-CO" dirty="0"/>
          </a:p>
        </p:txBody>
      </p:sp>
      <p:sp>
        <p:nvSpPr>
          <p:cNvPr id="3" name="2 Marcador de contenido"/>
          <p:cNvSpPr>
            <a:spLocks noGrp="1"/>
          </p:cNvSpPr>
          <p:nvPr>
            <p:ph idx="1"/>
          </p:nvPr>
        </p:nvSpPr>
        <p:spPr>
          <a:xfrm>
            <a:off x="1308066" y="714356"/>
            <a:ext cx="10287000" cy="4190999"/>
          </a:xfrm>
        </p:spPr>
        <p:txBody>
          <a:bodyPr>
            <a:normAutofit fontScale="92500" lnSpcReduction="20000"/>
          </a:bodyPr>
          <a:lstStyle/>
          <a:p>
            <a:r>
              <a:rPr lang="es-CO" dirty="0" smtClean="0">
                <a:solidFill>
                  <a:srgbClr val="FF0000"/>
                </a:solidFill>
              </a:rPr>
              <a:t>Función paste() </a:t>
            </a:r>
            <a:r>
              <a:rPr lang="es-CO" dirty="0" smtClean="0"/>
              <a:t>une todos los vectores que se suministran y construye una sola cadena de caracteres</a:t>
            </a:r>
          </a:p>
          <a:p>
            <a:pPr>
              <a:buNone/>
            </a:pPr>
            <a:r>
              <a:rPr lang="es-CO" dirty="0" smtClean="0"/>
              <a:t> y &lt;- c("Bogotá", "Cali", "Medellín", "Cartagena", "Barranquilla") </a:t>
            </a:r>
          </a:p>
          <a:p>
            <a:pPr>
              <a:buNone/>
            </a:pPr>
            <a:r>
              <a:rPr lang="es-CO" dirty="0" smtClean="0"/>
              <a:t> w &lt;- c("Muy malo", "Malo", "Regular", "Bueno", "Muy bueno"); w</a:t>
            </a:r>
          </a:p>
          <a:p>
            <a:pPr>
              <a:buNone/>
            </a:pPr>
            <a:r>
              <a:rPr lang="es-CO" dirty="0" smtClean="0"/>
              <a:t>paste(y, w, </a:t>
            </a:r>
            <a:r>
              <a:rPr lang="es-CO" dirty="0" err="1" smtClean="0"/>
              <a:t>sep</a:t>
            </a:r>
            <a:r>
              <a:rPr lang="es-CO" dirty="0" smtClean="0"/>
              <a:t>=" ")</a:t>
            </a:r>
          </a:p>
          <a:p>
            <a:pPr>
              <a:buNone/>
            </a:pPr>
            <a:r>
              <a:rPr lang="es-CO" dirty="0" smtClean="0"/>
              <a:t>     </a:t>
            </a:r>
            <a:r>
              <a:rPr lang="es-CO" b="1" dirty="0" smtClean="0">
                <a:solidFill>
                  <a:srgbClr val="0070C0"/>
                </a:solidFill>
              </a:rPr>
              <a:t>[1] "Bogotá Muy malo" "Cali Malo" "Medellín Regular“</a:t>
            </a:r>
          </a:p>
          <a:p>
            <a:pPr>
              <a:buNone/>
            </a:pPr>
            <a:r>
              <a:rPr lang="es-CO" b="1" dirty="0" smtClean="0">
                <a:solidFill>
                  <a:srgbClr val="0070C0"/>
                </a:solidFill>
              </a:rPr>
              <a:t>      [4] "Cartagena Bueno" "Barranquilla Muy bueno"</a:t>
            </a:r>
          </a:p>
          <a:p>
            <a:pPr>
              <a:buNone/>
            </a:pPr>
            <a:r>
              <a:rPr lang="es-CO" dirty="0" smtClean="0"/>
              <a:t>paste(z, 1:10, </a:t>
            </a:r>
            <a:r>
              <a:rPr lang="es-CO" dirty="0" err="1" smtClean="0"/>
              <a:t>sep</a:t>
            </a:r>
            <a:r>
              <a:rPr lang="es-CO" dirty="0" smtClean="0"/>
              <a:t>=" ")</a:t>
            </a:r>
            <a:br>
              <a:rPr lang="es-CO" dirty="0" smtClean="0"/>
            </a:br>
            <a:endParaRPr lang="es-CO" dirty="0" smtClean="0">
              <a:solidFill>
                <a:srgbClr val="FF0000"/>
              </a:solidFill>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Algunos objetos que se pueden crear: Vector</a:t>
            </a:r>
            <a:endParaRPr lang="es-CO" dirty="0"/>
          </a:p>
        </p:txBody>
      </p:sp>
      <p:sp>
        <p:nvSpPr>
          <p:cNvPr id="3" name="2 Marcador de contenido"/>
          <p:cNvSpPr>
            <a:spLocks noGrp="1"/>
          </p:cNvSpPr>
          <p:nvPr>
            <p:ph idx="1"/>
          </p:nvPr>
        </p:nvSpPr>
        <p:spPr/>
        <p:txBody>
          <a:bodyPr/>
          <a:lstStyle/>
          <a:p>
            <a:r>
              <a:rPr lang="es-CO" dirty="0" smtClean="0">
                <a:solidFill>
                  <a:srgbClr val="FF0000"/>
                </a:solidFill>
              </a:rPr>
              <a:t>la función </a:t>
            </a:r>
            <a:r>
              <a:rPr lang="es-CO" b="1" dirty="0" err="1" smtClean="0">
                <a:solidFill>
                  <a:srgbClr val="FF0000"/>
                </a:solidFill>
              </a:rPr>
              <a:t>substr</a:t>
            </a:r>
            <a:r>
              <a:rPr lang="es-CO" b="1" dirty="0" smtClean="0">
                <a:solidFill>
                  <a:srgbClr val="FF0000"/>
                </a:solidFill>
              </a:rPr>
              <a:t>() </a:t>
            </a:r>
            <a:r>
              <a:rPr lang="es-CO" dirty="0" smtClean="0"/>
              <a:t>extrae </a:t>
            </a:r>
            <a:r>
              <a:rPr lang="es-CO" dirty="0" err="1" smtClean="0"/>
              <a:t>subcadenas</a:t>
            </a:r>
            <a:r>
              <a:rPr lang="es-CO" dirty="0" smtClean="0"/>
              <a:t> de un vector de</a:t>
            </a:r>
            <a:br>
              <a:rPr lang="es-CO" dirty="0" smtClean="0"/>
            </a:br>
            <a:r>
              <a:rPr lang="es-CO" dirty="0" smtClean="0"/>
              <a:t>caracteres.</a:t>
            </a:r>
            <a:br>
              <a:rPr lang="es-CO" dirty="0" smtClean="0"/>
            </a:br>
            <a:r>
              <a:rPr lang="es-CO" dirty="0" smtClean="0"/>
              <a:t>#</a:t>
            </a:r>
            <a:r>
              <a:rPr lang="es-CO" dirty="0" err="1" smtClean="0"/>
              <a:t>substr</a:t>
            </a:r>
            <a:r>
              <a:rPr lang="es-CO" dirty="0" smtClean="0"/>
              <a:t>(datos, comienzo, parada)</a:t>
            </a:r>
            <a:br>
              <a:rPr lang="es-CO" dirty="0" smtClean="0"/>
            </a:br>
            <a:r>
              <a:rPr lang="es-CO" dirty="0" err="1" smtClean="0"/>
              <a:t>substr</a:t>
            </a:r>
            <a:r>
              <a:rPr lang="es-CO" dirty="0" smtClean="0"/>
              <a:t>("</a:t>
            </a:r>
            <a:r>
              <a:rPr lang="es-CO" dirty="0" err="1" smtClean="0"/>
              <a:t>aeiou</a:t>
            </a:r>
            <a:r>
              <a:rPr lang="es-CO" dirty="0" smtClean="0"/>
              <a:t>", 3, 4)</a:t>
            </a:r>
            <a:br>
              <a:rPr lang="es-CO" dirty="0" smtClean="0"/>
            </a:br>
            <a:r>
              <a:rPr lang="es-CO" dirty="0" err="1" smtClean="0"/>
              <a:t>substr</a:t>
            </a:r>
            <a:r>
              <a:rPr lang="es-CO" dirty="0" smtClean="0"/>
              <a:t>(y, 2, 4); y</a:t>
            </a:r>
            <a:br>
              <a:rPr lang="es-CO" dirty="0" smtClean="0"/>
            </a:br>
            <a:r>
              <a:rPr lang="es-CO" dirty="0" err="1" smtClean="0"/>
              <a:t>substr</a:t>
            </a:r>
            <a:r>
              <a:rPr lang="es-CO" dirty="0" smtClean="0"/>
              <a:t>(2000:2010, 2, 3)</a:t>
            </a:r>
            <a:br>
              <a:rPr lang="es-CO" dirty="0" smtClean="0"/>
            </a:br>
            <a:r>
              <a:rPr lang="es-CO" dirty="0" smtClean="0"/>
              <a:t/>
            </a:r>
            <a:br>
              <a:rPr lang="es-CO"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solidFill>
                  <a:srgbClr val="FF0000"/>
                </a:solidFill>
              </a:rPr>
              <a:t>Uso de los [] en vectores numéricos</a:t>
            </a:r>
            <a:endParaRPr lang="es-CO" dirty="0">
              <a:solidFill>
                <a:srgbClr val="FF0000"/>
              </a:solidFill>
            </a:endParaRPr>
          </a:p>
        </p:txBody>
      </p:sp>
      <p:sp>
        <p:nvSpPr>
          <p:cNvPr id="3" name="2 Marcador de contenido"/>
          <p:cNvSpPr>
            <a:spLocks noGrp="1"/>
          </p:cNvSpPr>
          <p:nvPr>
            <p:ph idx="1"/>
          </p:nvPr>
        </p:nvSpPr>
        <p:spPr/>
        <p:txBody>
          <a:bodyPr/>
          <a:lstStyle/>
          <a:p>
            <a:r>
              <a:rPr lang="es-CO" dirty="0" smtClean="0"/>
              <a:t>x[1] ## Extrae los valores de x en la posición 1 del vector</a:t>
            </a:r>
          </a:p>
          <a:p>
            <a:r>
              <a:rPr lang="es-CO" dirty="0" smtClean="0"/>
              <a:t>x[2:4] ## Extrae los valores de x en las posiciones de 2 hasta 4</a:t>
            </a:r>
          </a:p>
          <a:p>
            <a:r>
              <a:rPr lang="es-CO" dirty="0" smtClean="0"/>
              <a:t>x[-1] ## Quita el primer elemento del vector</a:t>
            </a:r>
          </a:p>
          <a:p>
            <a:r>
              <a:rPr lang="es-CO" dirty="0" smtClean="0"/>
              <a:t>x[-4] ## Quita el cuarto elemento del vector</a:t>
            </a:r>
          </a:p>
          <a:p>
            <a:r>
              <a:rPr lang="es-CO" dirty="0" smtClean="0"/>
              <a:t>x[c(T,F,T,T,T)] ## Quita el elemento con False</a:t>
            </a:r>
          </a:p>
          <a:p>
            <a:r>
              <a:rPr lang="es-CO" dirty="0" smtClean="0"/>
              <a:t>x[c(F,F,T,F,F)] ## Solo dejo el elemento de la posición 3</a:t>
            </a: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solidFill>
                  <a:srgbClr val="FF0000"/>
                </a:solidFill>
              </a:rPr>
              <a:t>Uso de los [] en vectores cualitativos</a:t>
            </a:r>
            <a:endParaRPr lang="es-CO" dirty="0">
              <a:solidFill>
                <a:srgbClr val="FF0000"/>
              </a:solidFill>
            </a:endParaRPr>
          </a:p>
        </p:txBody>
      </p:sp>
      <p:sp>
        <p:nvSpPr>
          <p:cNvPr id="3" name="2 Marcador de contenido"/>
          <p:cNvSpPr>
            <a:spLocks noGrp="1"/>
          </p:cNvSpPr>
          <p:nvPr>
            <p:ph idx="1"/>
          </p:nvPr>
        </p:nvSpPr>
        <p:spPr/>
        <p:txBody>
          <a:bodyPr/>
          <a:lstStyle/>
          <a:p>
            <a:r>
              <a:rPr lang="es-CO" dirty="0" err="1" smtClean="0"/>
              <a:t>names</a:t>
            </a:r>
            <a:r>
              <a:rPr lang="es-CO" dirty="0" smtClean="0"/>
              <a:t>(y) &lt;- c("</a:t>
            </a:r>
            <a:r>
              <a:rPr lang="es-CO" dirty="0" err="1" smtClean="0"/>
              <a:t>a","b","c","d","e</a:t>
            </a:r>
            <a:r>
              <a:rPr lang="es-CO" dirty="0" smtClean="0"/>
              <a:t>")</a:t>
            </a:r>
          </a:p>
          <a:p>
            <a:r>
              <a:rPr lang="es-CO" dirty="0" smtClean="0"/>
              <a:t>y</a:t>
            </a:r>
          </a:p>
          <a:p>
            <a:r>
              <a:rPr lang="es-CO" dirty="0" smtClean="0"/>
              <a:t>y["a"]</a:t>
            </a:r>
          </a:p>
          <a:p>
            <a:r>
              <a:rPr lang="es-CO" dirty="0" smtClean="0"/>
              <a:t>y["b"]</a:t>
            </a:r>
          </a:p>
          <a:p>
            <a:pPr>
              <a:buNone/>
            </a:pPr>
            <a:r>
              <a:rPr lang="es-CO" dirty="0" smtClean="0"/>
              <a:t>&gt; y[c("</a:t>
            </a:r>
            <a:r>
              <a:rPr lang="es-CO" dirty="0" err="1" smtClean="0"/>
              <a:t>a","b</a:t>
            </a:r>
            <a:r>
              <a:rPr lang="es-CO" dirty="0" smtClean="0"/>
              <a:t>")]</a:t>
            </a:r>
          </a:p>
          <a:p>
            <a:pPr>
              <a:buNone/>
            </a:pPr>
            <a:r>
              <a:rPr lang="es-CO" b="1" dirty="0" smtClean="0">
                <a:solidFill>
                  <a:srgbClr val="0070C0"/>
                </a:solidFill>
              </a:rPr>
              <a:t>a b </a:t>
            </a:r>
          </a:p>
          <a:p>
            <a:pPr>
              <a:buNone/>
            </a:pPr>
            <a:r>
              <a:rPr lang="es-CO" b="1" dirty="0" smtClean="0">
                <a:solidFill>
                  <a:srgbClr val="0070C0"/>
                </a:solidFill>
              </a:rPr>
              <a:t>"Bogotá" "Cali"</a:t>
            </a:r>
            <a:endParaRPr lang="es-CO" b="1" dirty="0">
              <a:solidFill>
                <a:srgbClr val="0070C0"/>
              </a:solidFill>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293813" y="685800"/>
            <a:ext cx="10287000" cy="5457844"/>
          </a:xfrm>
        </p:spPr>
        <p:txBody>
          <a:bodyPr>
            <a:normAutofit fontScale="92500" lnSpcReduction="20000"/>
          </a:bodyPr>
          <a:lstStyle/>
          <a:p>
            <a:r>
              <a:rPr lang="es-CO" dirty="0" smtClean="0">
                <a:solidFill>
                  <a:srgbClr val="FF0000"/>
                </a:solidFill>
              </a:rPr>
              <a:t>Ejercicio 1</a:t>
            </a:r>
          </a:p>
          <a:p>
            <a:pPr>
              <a:buNone/>
            </a:pPr>
            <a:r>
              <a:rPr lang="es-CO" dirty="0" smtClean="0"/>
              <a:t>1. Genere el siguiente vector de edades</a:t>
            </a:r>
            <a:br>
              <a:rPr lang="es-CO" dirty="0" smtClean="0"/>
            </a:br>
            <a:r>
              <a:rPr lang="es-CO" dirty="0" smtClean="0"/>
              <a:t>Edad&lt;- c(25, 30, 22, 26, 32, 25, 21, 29, 34, 37, 30, 28, 41, 22)</a:t>
            </a:r>
          </a:p>
          <a:p>
            <a:pPr>
              <a:buNone/>
            </a:pPr>
            <a:r>
              <a:rPr lang="es-CO" dirty="0" smtClean="0"/>
              <a:t> 2. Genere un vector de los nombres de los funcionarios</a:t>
            </a:r>
          </a:p>
          <a:p>
            <a:r>
              <a:rPr lang="pt-BR" sz="2000" dirty="0" smtClean="0"/>
              <a:t>Pedro, James, Miguel, Daniel, Jose, Diana, Sandra, Adriana, Alexis, Claudia, Ana, Andrea, Jorge, Carlos</a:t>
            </a:r>
            <a:r>
              <a:rPr lang="pt-BR" dirty="0" smtClean="0"/>
              <a:t/>
            </a:r>
            <a:br>
              <a:rPr lang="pt-BR" dirty="0" smtClean="0"/>
            </a:br>
            <a:endParaRPr lang="pt-BR" dirty="0" smtClean="0"/>
          </a:p>
          <a:p>
            <a:pPr>
              <a:buNone/>
            </a:pPr>
            <a:r>
              <a:rPr lang="pt-BR" dirty="0" smtClean="0"/>
              <a:t>3. Identifique </a:t>
            </a:r>
            <a:r>
              <a:rPr lang="pt-BR" dirty="0" err="1" smtClean="0"/>
              <a:t>cuales</a:t>
            </a:r>
            <a:r>
              <a:rPr lang="pt-BR" dirty="0" smtClean="0"/>
              <a:t> </a:t>
            </a:r>
            <a:r>
              <a:rPr lang="pt-BR" dirty="0" err="1" smtClean="0"/>
              <a:t>son</a:t>
            </a:r>
            <a:r>
              <a:rPr lang="pt-BR" dirty="0" smtClean="0"/>
              <a:t> </a:t>
            </a:r>
            <a:r>
              <a:rPr lang="pt-BR" dirty="0" err="1" smtClean="0"/>
              <a:t>los</a:t>
            </a:r>
            <a:r>
              <a:rPr lang="pt-BR" dirty="0" smtClean="0"/>
              <a:t> </a:t>
            </a:r>
            <a:r>
              <a:rPr lang="pt-BR" dirty="0" err="1" smtClean="0"/>
              <a:t>nombres</a:t>
            </a:r>
            <a:r>
              <a:rPr lang="pt-BR" dirty="0" smtClean="0"/>
              <a:t> de </a:t>
            </a:r>
            <a:r>
              <a:rPr lang="pt-BR" dirty="0" err="1" smtClean="0"/>
              <a:t>los</a:t>
            </a:r>
            <a:r>
              <a:rPr lang="pt-BR" dirty="0" smtClean="0"/>
              <a:t> </a:t>
            </a:r>
            <a:r>
              <a:rPr lang="pt-BR" dirty="0" err="1" smtClean="0"/>
              <a:t>empleados</a:t>
            </a:r>
            <a:r>
              <a:rPr lang="pt-BR" dirty="0" smtClean="0"/>
              <a:t> </a:t>
            </a:r>
            <a:r>
              <a:rPr lang="pt-BR" dirty="0" err="1" smtClean="0"/>
              <a:t>con</a:t>
            </a:r>
            <a:r>
              <a:rPr lang="pt-BR" dirty="0" smtClean="0"/>
              <a:t> </a:t>
            </a:r>
            <a:r>
              <a:rPr lang="pt-BR" dirty="0" err="1" smtClean="0"/>
              <a:t>edades</a:t>
            </a:r>
            <a:r>
              <a:rPr lang="pt-BR" dirty="0" smtClean="0"/>
              <a:t> menores 25 ¿Como </a:t>
            </a:r>
            <a:r>
              <a:rPr lang="pt-BR" dirty="0" err="1" smtClean="0"/>
              <a:t>lo</a:t>
            </a:r>
            <a:r>
              <a:rPr lang="pt-BR" dirty="0" smtClean="0"/>
              <a:t> </a:t>
            </a:r>
            <a:r>
              <a:rPr lang="pt-BR" dirty="0" err="1" smtClean="0"/>
              <a:t>haría</a:t>
            </a:r>
            <a:r>
              <a:rPr lang="pt-BR" dirty="0" smtClean="0"/>
              <a:t> </a:t>
            </a:r>
            <a:r>
              <a:rPr lang="pt-BR" dirty="0" err="1" smtClean="0"/>
              <a:t>en</a:t>
            </a:r>
            <a:r>
              <a:rPr lang="pt-BR" dirty="0" smtClean="0"/>
              <a:t> R?</a:t>
            </a:r>
          </a:p>
          <a:p>
            <a:pPr>
              <a:buNone/>
            </a:pPr>
            <a:r>
              <a:rPr lang="pt-BR" dirty="0" smtClean="0"/>
              <a:t>4. </a:t>
            </a:r>
            <a:r>
              <a:rPr lang="pt-BR" dirty="0" err="1" smtClean="0"/>
              <a:t>Cree</a:t>
            </a:r>
            <a:r>
              <a:rPr lang="pt-BR" dirty="0" smtClean="0"/>
              <a:t> </a:t>
            </a:r>
            <a:r>
              <a:rPr lang="pt-BR" dirty="0" err="1" smtClean="0"/>
              <a:t>un</a:t>
            </a:r>
            <a:r>
              <a:rPr lang="pt-BR" dirty="0" smtClean="0"/>
              <a:t> objeto que junte </a:t>
            </a:r>
            <a:r>
              <a:rPr lang="pt-BR" dirty="0" err="1" smtClean="0"/>
              <a:t>el</a:t>
            </a:r>
            <a:r>
              <a:rPr lang="pt-BR" dirty="0" smtClean="0"/>
              <a:t> </a:t>
            </a:r>
            <a:r>
              <a:rPr lang="pt-BR" dirty="0" err="1" smtClean="0"/>
              <a:t>vector</a:t>
            </a:r>
            <a:r>
              <a:rPr lang="pt-BR" dirty="0" smtClean="0"/>
              <a:t> </a:t>
            </a:r>
            <a:r>
              <a:rPr lang="pt-BR" dirty="0" err="1" smtClean="0"/>
              <a:t>Edad</a:t>
            </a:r>
            <a:r>
              <a:rPr lang="pt-BR" dirty="0" smtClean="0"/>
              <a:t> </a:t>
            </a:r>
            <a:r>
              <a:rPr lang="pt-BR" dirty="0" err="1" smtClean="0"/>
              <a:t>con</a:t>
            </a:r>
            <a:r>
              <a:rPr lang="pt-BR" dirty="0" smtClean="0"/>
              <a:t> </a:t>
            </a:r>
            <a:r>
              <a:rPr lang="pt-BR" dirty="0" err="1" smtClean="0"/>
              <a:t>Nombres</a:t>
            </a:r>
            <a:r>
              <a:rPr lang="pt-BR" dirty="0" smtClean="0"/>
              <a:t>. De tal forma que se </a:t>
            </a:r>
            <a:r>
              <a:rPr lang="pt-BR" dirty="0" err="1" smtClean="0"/>
              <a:t>vizualice</a:t>
            </a:r>
            <a:r>
              <a:rPr lang="pt-BR" dirty="0" smtClean="0"/>
              <a:t> </a:t>
            </a:r>
            <a:r>
              <a:rPr lang="pt-BR" dirty="0" err="1" smtClean="0"/>
              <a:t>lo</a:t>
            </a:r>
            <a:r>
              <a:rPr lang="pt-BR" dirty="0" smtClean="0"/>
              <a:t> </a:t>
            </a:r>
            <a:r>
              <a:rPr lang="pt-BR" dirty="0" err="1" smtClean="0"/>
              <a:t>siguiente</a:t>
            </a:r>
            <a:r>
              <a:rPr lang="pt-BR" dirty="0" smtClean="0"/>
              <a:t>:</a:t>
            </a:r>
          </a:p>
          <a:p>
            <a:pPr>
              <a:buNone/>
            </a:pPr>
            <a:r>
              <a:rPr lang="pt-BR" dirty="0" smtClean="0"/>
              <a:t>“Pedro </a:t>
            </a:r>
            <a:r>
              <a:rPr lang="pt-BR" dirty="0" err="1" smtClean="0"/>
              <a:t>tiene</a:t>
            </a:r>
            <a:r>
              <a:rPr lang="pt-BR" dirty="0" smtClean="0"/>
              <a:t> 25 </a:t>
            </a:r>
            <a:r>
              <a:rPr lang="pt-BR" dirty="0" err="1" smtClean="0"/>
              <a:t>años</a:t>
            </a:r>
            <a:r>
              <a:rPr lang="pt-BR" dirty="0" smtClean="0"/>
              <a:t>”</a:t>
            </a:r>
            <a:br>
              <a:rPr lang="pt-BR" dirty="0" smtClean="0"/>
            </a:br>
            <a:r>
              <a:rPr lang="es-CO" dirty="0" smtClean="0"/>
              <a:t/>
            </a:r>
            <a:br>
              <a:rPr lang="es-CO"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Operaciones Aritméticas de Vectores</a:t>
            </a:r>
            <a:endParaRPr lang="es-CO" dirty="0"/>
          </a:p>
        </p:txBody>
      </p:sp>
      <p:sp>
        <p:nvSpPr>
          <p:cNvPr id="3" name="2 Marcador de contenido"/>
          <p:cNvSpPr>
            <a:spLocks noGrp="1"/>
          </p:cNvSpPr>
          <p:nvPr>
            <p:ph idx="1"/>
          </p:nvPr>
        </p:nvSpPr>
        <p:spPr/>
        <p:txBody>
          <a:bodyPr>
            <a:normAutofit fontScale="92500"/>
          </a:bodyPr>
          <a:lstStyle/>
          <a:p>
            <a:r>
              <a:rPr lang="es-CO" b="1" dirty="0" smtClean="0"/>
              <a:t>Operaciones con vectores:</a:t>
            </a:r>
          </a:p>
          <a:p>
            <a:pPr>
              <a:buNone/>
            </a:pPr>
            <a:r>
              <a:rPr lang="es-CO" dirty="0" smtClean="0"/>
              <a:t/>
            </a:r>
            <a:br>
              <a:rPr lang="es-CO" dirty="0" smtClean="0"/>
            </a:br>
            <a:r>
              <a:rPr lang="es-CO" dirty="0" smtClean="0"/>
              <a:t>Potencia: </a:t>
            </a:r>
            <a:r>
              <a:rPr lang="es-CO" b="1" dirty="0" smtClean="0"/>
              <a:t>^</a:t>
            </a:r>
            <a:r>
              <a:rPr lang="es-CO" dirty="0" smtClean="0"/>
              <a:t>, </a:t>
            </a:r>
            <a:r>
              <a:rPr lang="es-CO" dirty="0" err="1" smtClean="0"/>
              <a:t>Raiz</a:t>
            </a:r>
            <a:r>
              <a:rPr lang="es-CO" dirty="0" smtClean="0"/>
              <a:t> cuadrada: </a:t>
            </a:r>
            <a:r>
              <a:rPr lang="es-CO" b="1" dirty="0" err="1" smtClean="0"/>
              <a:t>sqrt</a:t>
            </a:r>
            <a:r>
              <a:rPr lang="es-CO" b="1" dirty="0" smtClean="0"/>
              <a:t>()</a:t>
            </a:r>
            <a:r>
              <a:rPr lang="es-CO" dirty="0" smtClean="0"/>
              <a:t>, Valor absoluto: </a:t>
            </a:r>
            <a:r>
              <a:rPr lang="es-CO" b="1" dirty="0" err="1" smtClean="0"/>
              <a:t>abs</a:t>
            </a:r>
            <a:r>
              <a:rPr lang="es-CO" b="1" dirty="0" smtClean="0"/>
              <a:t>()</a:t>
            </a:r>
            <a:r>
              <a:rPr lang="es-CO" dirty="0" smtClean="0"/>
              <a:t>, </a:t>
            </a:r>
            <a:r>
              <a:rPr lang="es-CO" b="1" dirty="0" smtClean="0"/>
              <a:t>log()</a:t>
            </a:r>
            <a:r>
              <a:rPr lang="es-CO" dirty="0" smtClean="0"/>
              <a:t>, </a:t>
            </a:r>
            <a:r>
              <a:rPr lang="es-CO" b="1" dirty="0" smtClean="0"/>
              <a:t>log10()</a:t>
            </a:r>
            <a:r>
              <a:rPr lang="es-CO" dirty="0" smtClean="0"/>
              <a:t>,</a:t>
            </a:r>
            <a:br>
              <a:rPr lang="es-CO" dirty="0" smtClean="0"/>
            </a:br>
            <a:r>
              <a:rPr lang="es-CO" b="1" dirty="0" smtClean="0"/>
              <a:t>log(x, base)</a:t>
            </a:r>
            <a:r>
              <a:rPr lang="es-CO" dirty="0" smtClean="0"/>
              <a:t>, </a:t>
            </a:r>
            <a:r>
              <a:rPr lang="es-CO" b="1" dirty="0" err="1" smtClean="0"/>
              <a:t>exp</a:t>
            </a:r>
            <a:r>
              <a:rPr lang="es-CO" b="1" dirty="0" smtClean="0"/>
              <a:t>()</a:t>
            </a:r>
            <a:r>
              <a:rPr lang="es-CO" dirty="0" smtClean="0"/>
              <a:t>, </a:t>
            </a:r>
            <a:r>
              <a:rPr lang="es-CO" b="1" dirty="0" smtClean="0"/>
              <a:t>sin()</a:t>
            </a:r>
            <a:r>
              <a:rPr lang="es-CO" dirty="0" smtClean="0"/>
              <a:t>, </a:t>
            </a:r>
            <a:r>
              <a:rPr lang="es-CO" b="1" dirty="0" err="1" smtClean="0"/>
              <a:t>cos</a:t>
            </a:r>
            <a:r>
              <a:rPr lang="es-CO" b="1" dirty="0" smtClean="0"/>
              <a:t>()</a:t>
            </a:r>
            <a:r>
              <a:rPr lang="es-CO" dirty="0" smtClean="0"/>
              <a:t>, </a:t>
            </a:r>
            <a:r>
              <a:rPr lang="es-CO" b="1" dirty="0" smtClean="0"/>
              <a:t>tan()</a:t>
            </a:r>
            <a:r>
              <a:rPr lang="es-CO" dirty="0" smtClean="0"/>
              <a:t>, …</a:t>
            </a:r>
            <a:br>
              <a:rPr lang="es-CO" dirty="0" smtClean="0"/>
            </a:br>
            <a:r>
              <a:rPr lang="es-CO" dirty="0" smtClean="0"/>
              <a:t>Ordenar(1): </a:t>
            </a:r>
            <a:r>
              <a:rPr lang="es-CO" b="1" dirty="0" err="1" smtClean="0"/>
              <a:t>sort</a:t>
            </a:r>
            <a:r>
              <a:rPr lang="es-CO" b="1" dirty="0" smtClean="0"/>
              <a:t>()</a:t>
            </a:r>
            <a:r>
              <a:rPr lang="es-CO" dirty="0" smtClean="0"/>
              <a:t>, Producto: </a:t>
            </a:r>
            <a:r>
              <a:rPr lang="es-CO" b="1" dirty="0" err="1" smtClean="0"/>
              <a:t>prod</a:t>
            </a:r>
            <a:r>
              <a:rPr lang="es-CO" b="1" dirty="0" smtClean="0"/>
              <a:t>()</a:t>
            </a:r>
            <a:r>
              <a:rPr lang="es-CO" dirty="0" smtClean="0"/>
              <a:t>, Suma: </a:t>
            </a:r>
            <a:r>
              <a:rPr lang="es-CO" b="1" dirty="0" err="1" smtClean="0"/>
              <a:t>sum</a:t>
            </a:r>
            <a:r>
              <a:rPr lang="es-CO" b="1" dirty="0" smtClean="0"/>
              <a:t>()</a:t>
            </a:r>
            <a:r>
              <a:rPr lang="es-CO" dirty="0" smtClean="0"/>
              <a:t>, Rango: </a:t>
            </a:r>
            <a:r>
              <a:rPr lang="es-CO" b="1" dirty="0" err="1" smtClean="0"/>
              <a:t>range</a:t>
            </a:r>
            <a:r>
              <a:rPr lang="es-CO" b="1" dirty="0" smtClean="0"/>
              <a:t>()</a:t>
            </a:r>
            <a:r>
              <a:rPr lang="es-CO" dirty="0" smtClean="0"/>
              <a:t>,</a:t>
            </a:r>
            <a:br>
              <a:rPr lang="es-CO" dirty="0" smtClean="0"/>
            </a:br>
            <a:r>
              <a:rPr lang="es-CO" dirty="0" smtClean="0"/>
              <a:t>Máximo: </a:t>
            </a:r>
            <a:r>
              <a:rPr lang="es-CO" b="1" dirty="0" err="1" smtClean="0"/>
              <a:t>max</a:t>
            </a:r>
            <a:r>
              <a:rPr lang="es-CO" b="1" dirty="0" smtClean="0"/>
              <a:t>()</a:t>
            </a:r>
            <a:r>
              <a:rPr lang="es-CO" dirty="0" smtClean="0"/>
              <a:t>, Mínimo: </a:t>
            </a:r>
            <a:r>
              <a:rPr lang="es-CO" b="1" dirty="0" smtClean="0"/>
              <a:t>min()</a:t>
            </a:r>
            <a:r>
              <a:rPr lang="es-CO" dirty="0" smtClean="0"/>
              <a:t>, Máximos de más de un vector: </a:t>
            </a:r>
            <a:r>
              <a:rPr lang="es-CO" b="1" dirty="0" err="1" smtClean="0"/>
              <a:t>pmax</a:t>
            </a:r>
            <a:r>
              <a:rPr lang="es-CO" b="1" dirty="0" smtClean="0"/>
              <a:t>()</a:t>
            </a:r>
            <a:r>
              <a:rPr lang="es-CO" dirty="0" smtClean="0"/>
              <a:t>,</a:t>
            </a:r>
            <a:br>
              <a:rPr lang="es-CO" dirty="0" smtClean="0"/>
            </a:br>
            <a:r>
              <a:rPr lang="es-CO" dirty="0" smtClean="0"/>
              <a:t>Mínimos de más de un vector: </a:t>
            </a:r>
            <a:r>
              <a:rPr lang="es-CO" b="1" dirty="0" err="1" smtClean="0"/>
              <a:t>pmin</a:t>
            </a:r>
            <a:r>
              <a:rPr lang="es-CO" b="1" dirty="0" smtClean="0"/>
              <a:t>()</a:t>
            </a:r>
            <a:r>
              <a:rPr lang="es-CO" dirty="0" smtClean="0"/>
              <a:t>, Colocar las componentes de un</a:t>
            </a:r>
            <a:br>
              <a:rPr lang="es-CO" dirty="0" smtClean="0"/>
            </a:br>
            <a:r>
              <a:rPr lang="es-CO" dirty="0" smtClean="0"/>
              <a:t>vector en orden inverso a como han sido introducidas: </a:t>
            </a:r>
            <a:r>
              <a:rPr lang="es-CO" b="1" dirty="0" err="1" smtClean="0"/>
              <a:t>rev</a:t>
            </a:r>
            <a:r>
              <a:rPr lang="es-CO" b="1" dirty="0" smtClean="0"/>
              <a:t>()</a:t>
            </a:r>
            <a:r>
              <a:rPr lang="es-CO" dirty="0" smtClean="0"/>
              <a:t/>
            </a:r>
            <a:br>
              <a:rPr lang="es-CO" dirty="0" smtClean="0"/>
            </a:br>
            <a:r>
              <a:rPr lang="es-CO" dirty="0" smtClean="0"/>
              <a:t/>
            </a:r>
            <a:br>
              <a:rPr lang="es-CO"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Operaciones Aritméticas de Vectores</a:t>
            </a:r>
            <a:endParaRPr lang="es-CO" dirty="0"/>
          </a:p>
        </p:txBody>
      </p:sp>
      <p:sp>
        <p:nvSpPr>
          <p:cNvPr id="3" name="2 Marcador de contenido"/>
          <p:cNvSpPr>
            <a:spLocks noGrp="1"/>
          </p:cNvSpPr>
          <p:nvPr>
            <p:ph idx="1"/>
          </p:nvPr>
        </p:nvSpPr>
        <p:spPr/>
        <p:txBody>
          <a:bodyPr>
            <a:normAutofit/>
          </a:bodyPr>
          <a:lstStyle/>
          <a:p>
            <a:r>
              <a:rPr lang="es-CO" dirty="0" smtClean="0"/>
              <a:t>Ejemplos operaciones entre vectores</a:t>
            </a:r>
          </a:p>
          <a:p>
            <a:r>
              <a:rPr lang="es-CO" dirty="0" smtClean="0"/>
              <a:t>x.1 &lt;- </a:t>
            </a:r>
            <a:r>
              <a:rPr lang="es-CO" dirty="0" err="1" smtClean="0"/>
              <a:t>runif</a:t>
            </a:r>
            <a:r>
              <a:rPr lang="es-CO" dirty="0" smtClean="0"/>
              <a:t>(10)  # Generación de 10 número uniformes(0,1)</a:t>
            </a:r>
          </a:p>
          <a:p>
            <a:r>
              <a:rPr lang="es-CO" dirty="0" smtClean="0"/>
              <a:t>x.2 &lt;- </a:t>
            </a:r>
            <a:r>
              <a:rPr lang="es-CO" dirty="0" err="1" smtClean="0"/>
              <a:t>runif</a:t>
            </a:r>
            <a:r>
              <a:rPr lang="es-CO" dirty="0" smtClean="0"/>
              <a:t>(10)</a:t>
            </a:r>
          </a:p>
          <a:p>
            <a:r>
              <a:rPr lang="es-CO" dirty="0" smtClean="0"/>
              <a:t>x.1+x.2; x.1-x.2; x.1*x.2; x.1/x.2</a:t>
            </a:r>
          </a:p>
          <a:p>
            <a:r>
              <a:rPr lang="es-CO" dirty="0" smtClean="0"/>
              <a:t>(x.1+x.2)^2</a:t>
            </a:r>
          </a:p>
          <a:p>
            <a:r>
              <a:rPr lang="es-CO" dirty="0" smtClean="0"/>
              <a:t>log(x.1+x.2)</a:t>
            </a: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Operaciones Lógicas</a:t>
            </a:r>
            <a:endParaRPr lang="es-CO" dirty="0"/>
          </a:p>
        </p:txBody>
      </p:sp>
      <p:pic>
        <p:nvPicPr>
          <p:cNvPr id="1026" name="Picture 2"/>
          <p:cNvPicPr>
            <a:picLocks noGrp="1" noChangeAspect="1" noChangeArrowheads="1"/>
          </p:cNvPicPr>
          <p:nvPr>
            <p:ph idx="1"/>
          </p:nvPr>
        </p:nvPicPr>
        <p:blipFill>
          <a:blip r:embed="rId2"/>
          <a:srcRect l="37381" t="36859" r="35257" b="38806"/>
          <a:stretch>
            <a:fillRect/>
          </a:stretch>
        </p:blipFill>
        <p:spPr bwMode="auto">
          <a:xfrm>
            <a:off x="879438" y="928670"/>
            <a:ext cx="5000660" cy="2500330"/>
          </a:xfrm>
          <a:prstGeom prst="rect">
            <a:avLst/>
          </a:prstGeom>
          <a:noFill/>
          <a:ln w="9525">
            <a:noFill/>
            <a:miter lim="800000"/>
            <a:headEnd/>
            <a:tailEnd/>
          </a:ln>
          <a:effectLst/>
        </p:spPr>
      </p:pic>
      <p:sp>
        <p:nvSpPr>
          <p:cNvPr id="6" name="5 Rectángulo"/>
          <p:cNvSpPr/>
          <p:nvPr/>
        </p:nvSpPr>
        <p:spPr>
          <a:xfrm>
            <a:off x="6380164" y="1000108"/>
            <a:ext cx="4214842" cy="43577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smtClean="0"/>
              <a:t>Ejercicio 2.</a:t>
            </a:r>
          </a:p>
          <a:p>
            <a:pPr algn="ctr"/>
            <a:endParaRPr lang="es-CO" dirty="0" smtClean="0"/>
          </a:p>
          <a:p>
            <a:pPr algn="ctr"/>
            <a:r>
              <a:rPr lang="es-CO" dirty="0" smtClean="0"/>
              <a:t>1. Genere el vector peso:</a:t>
            </a:r>
          </a:p>
          <a:p>
            <a:pPr algn="ctr"/>
            <a:endParaRPr lang="es-CO" dirty="0" smtClean="0"/>
          </a:p>
          <a:p>
            <a:pPr algn="ctr"/>
            <a:r>
              <a:rPr lang="es-CO" dirty="0" smtClean="0"/>
              <a:t>Peso &lt;- c(19,14,15,17,20,23,30,19,25)</a:t>
            </a:r>
          </a:p>
          <a:p>
            <a:pPr algn="ctr"/>
            <a:endParaRPr lang="es-CO" dirty="0" smtClean="0"/>
          </a:p>
          <a:p>
            <a:pPr algn="ctr"/>
            <a:r>
              <a:rPr lang="es-CO" dirty="0" smtClean="0"/>
              <a:t>2. Cuales son los pesos &lt;20?</a:t>
            </a:r>
          </a:p>
          <a:p>
            <a:pPr algn="ctr"/>
            <a:r>
              <a:rPr lang="es-CO" dirty="0" smtClean="0"/>
              <a:t>3. Cuales son los pesos &lt;17 y &gt;25</a:t>
            </a:r>
          </a:p>
          <a:p>
            <a:pPr algn="ctr"/>
            <a:r>
              <a:rPr lang="es-CO" dirty="0" smtClean="0"/>
              <a:t>4. Cuales son los pesos diferentes de 30?</a:t>
            </a: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Creación de Matrices</a:t>
            </a:r>
            <a:endParaRPr lang="es-CO" dirty="0"/>
          </a:p>
        </p:txBody>
      </p:sp>
      <p:sp>
        <p:nvSpPr>
          <p:cNvPr id="3" name="2 Marcador de contenido"/>
          <p:cNvSpPr>
            <a:spLocks noGrp="1"/>
          </p:cNvSpPr>
          <p:nvPr>
            <p:ph idx="1"/>
          </p:nvPr>
        </p:nvSpPr>
        <p:spPr>
          <a:xfrm>
            <a:off x="1022314" y="685800"/>
            <a:ext cx="10558499" cy="4190999"/>
          </a:xfrm>
        </p:spPr>
        <p:txBody>
          <a:bodyPr>
            <a:normAutofit fontScale="92500"/>
          </a:bodyPr>
          <a:lstStyle/>
          <a:p>
            <a:r>
              <a:rPr lang="es-CO" b="1" dirty="0" smtClean="0"/>
              <a:t>Matrices: </a:t>
            </a:r>
            <a:r>
              <a:rPr lang="es-CO" dirty="0" smtClean="0"/>
              <a:t>Las matrices o más generalmente, variables indexadas</a:t>
            </a:r>
            <a:br>
              <a:rPr lang="es-CO" dirty="0" smtClean="0"/>
            </a:br>
            <a:r>
              <a:rPr lang="es-CO" dirty="0" smtClean="0"/>
              <a:t>(</a:t>
            </a:r>
            <a:r>
              <a:rPr lang="es-CO" b="1" dirty="0" err="1" smtClean="0"/>
              <a:t>Arrays</a:t>
            </a:r>
            <a:r>
              <a:rPr lang="es-CO" dirty="0" smtClean="0"/>
              <a:t>) son generalizaciones multidimensionales de los vectores. De</a:t>
            </a:r>
            <a:br>
              <a:rPr lang="es-CO" dirty="0" smtClean="0"/>
            </a:br>
            <a:r>
              <a:rPr lang="es-CO" dirty="0" smtClean="0"/>
              <a:t>hecho, son vectores indexados por dos o más índices y que se</a:t>
            </a:r>
            <a:br>
              <a:rPr lang="es-CO" dirty="0" smtClean="0"/>
            </a:br>
            <a:r>
              <a:rPr lang="es-CO" dirty="0" smtClean="0"/>
              <a:t>imprimen de modo especial.</a:t>
            </a:r>
          </a:p>
          <a:p>
            <a:pPr>
              <a:buNone/>
            </a:pPr>
            <a:r>
              <a:rPr lang="es-CO" dirty="0" smtClean="0"/>
              <a:t/>
            </a:r>
            <a:br>
              <a:rPr lang="es-CO" dirty="0" smtClean="0"/>
            </a:br>
            <a:r>
              <a:rPr lang="es-CO" b="1" dirty="0" err="1" smtClean="0">
                <a:solidFill>
                  <a:srgbClr val="0070C0"/>
                </a:solidFill>
              </a:rPr>
              <a:t>mf</a:t>
            </a:r>
            <a:r>
              <a:rPr lang="es-CO" b="1" dirty="0" smtClean="0">
                <a:solidFill>
                  <a:srgbClr val="0070C0"/>
                </a:solidFill>
              </a:rPr>
              <a:t> &lt;- </a:t>
            </a:r>
            <a:r>
              <a:rPr lang="es-CO" b="1" dirty="0" err="1" smtClean="0">
                <a:solidFill>
                  <a:srgbClr val="0070C0"/>
                </a:solidFill>
              </a:rPr>
              <a:t>matrix</a:t>
            </a:r>
            <a:r>
              <a:rPr lang="es-CO" b="1" dirty="0" smtClean="0">
                <a:solidFill>
                  <a:srgbClr val="0070C0"/>
                </a:solidFill>
              </a:rPr>
              <a:t>(1:12, </a:t>
            </a:r>
            <a:r>
              <a:rPr lang="es-CO" b="1" dirty="0" err="1" smtClean="0">
                <a:solidFill>
                  <a:srgbClr val="0070C0"/>
                </a:solidFill>
              </a:rPr>
              <a:t>ncol</a:t>
            </a:r>
            <a:r>
              <a:rPr lang="es-CO" b="1" dirty="0" smtClean="0">
                <a:solidFill>
                  <a:srgbClr val="0070C0"/>
                </a:solidFill>
              </a:rPr>
              <a:t>=4, </a:t>
            </a:r>
            <a:r>
              <a:rPr lang="es-CO" b="1" dirty="0" err="1" smtClean="0">
                <a:solidFill>
                  <a:srgbClr val="0070C0"/>
                </a:solidFill>
              </a:rPr>
              <a:t>nrow</a:t>
            </a:r>
            <a:r>
              <a:rPr lang="es-CO" b="1" dirty="0" smtClean="0">
                <a:solidFill>
                  <a:srgbClr val="0070C0"/>
                </a:solidFill>
              </a:rPr>
              <a:t>=3, </a:t>
            </a:r>
            <a:r>
              <a:rPr lang="es-CO" b="1" dirty="0" err="1" smtClean="0">
                <a:solidFill>
                  <a:srgbClr val="0070C0"/>
                </a:solidFill>
              </a:rPr>
              <a:t>byrow</a:t>
            </a:r>
            <a:r>
              <a:rPr lang="es-CO" b="1" dirty="0" smtClean="0">
                <a:solidFill>
                  <a:srgbClr val="0070C0"/>
                </a:solidFill>
              </a:rPr>
              <a:t>=T); </a:t>
            </a:r>
            <a:r>
              <a:rPr lang="es-CO" b="1" dirty="0" err="1" smtClean="0">
                <a:solidFill>
                  <a:srgbClr val="0070C0"/>
                </a:solidFill>
              </a:rPr>
              <a:t>mf</a:t>
            </a:r>
            <a:r>
              <a:rPr lang="es-CO" b="1" dirty="0" smtClean="0">
                <a:solidFill>
                  <a:srgbClr val="0070C0"/>
                </a:solidFill>
              </a:rPr>
              <a:t/>
            </a:r>
            <a:br>
              <a:rPr lang="es-CO" b="1" dirty="0" smtClean="0">
                <a:solidFill>
                  <a:srgbClr val="0070C0"/>
                </a:solidFill>
              </a:rPr>
            </a:br>
            <a:r>
              <a:rPr lang="es-CO" b="1" dirty="0" err="1" smtClean="0">
                <a:solidFill>
                  <a:srgbClr val="0070C0"/>
                </a:solidFill>
              </a:rPr>
              <a:t>mc</a:t>
            </a:r>
            <a:r>
              <a:rPr lang="es-CO" b="1" dirty="0" smtClean="0">
                <a:solidFill>
                  <a:srgbClr val="0070C0"/>
                </a:solidFill>
              </a:rPr>
              <a:t> &lt;- </a:t>
            </a:r>
            <a:r>
              <a:rPr lang="es-CO" b="1" dirty="0" err="1" smtClean="0">
                <a:solidFill>
                  <a:srgbClr val="0070C0"/>
                </a:solidFill>
              </a:rPr>
              <a:t>matrix</a:t>
            </a:r>
            <a:r>
              <a:rPr lang="es-CO" b="1" dirty="0" smtClean="0">
                <a:solidFill>
                  <a:srgbClr val="0070C0"/>
                </a:solidFill>
              </a:rPr>
              <a:t>(1:12, </a:t>
            </a:r>
            <a:r>
              <a:rPr lang="es-CO" b="1" dirty="0" err="1" smtClean="0">
                <a:solidFill>
                  <a:srgbClr val="0070C0"/>
                </a:solidFill>
              </a:rPr>
              <a:t>ncol</a:t>
            </a:r>
            <a:r>
              <a:rPr lang="es-CO" b="1" dirty="0" smtClean="0">
                <a:solidFill>
                  <a:srgbClr val="0070C0"/>
                </a:solidFill>
              </a:rPr>
              <a:t>=4, </a:t>
            </a:r>
            <a:r>
              <a:rPr lang="es-CO" b="1" dirty="0" err="1" smtClean="0">
                <a:solidFill>
                  <a:srgbClr val="0070C0"/>
                </a:solidFill>
              </a:rPr>
              <a:t>nrow</a:t>
            </a:r>
            <a:r>
              <a:rPr lang="es-CO" b="1" dirty="0" smtClean="0">
                <a:solidFill>
                  <a:srgbClr val="0070C0"/>
                </a:solidFill>
              </a:rPr>
              <a:t>=3, </a:t>
            </a:r>
            <a:r>
              <a:rPr lang="es-CO" b="1" dirty="0" err="1" smtClean="0">
                <a:solidFill>
                  <a:srgbClr val="0070C0"/>
                </a:solidFill>
              </a:rPr>
              <a:t>byrow</a:t>
            </a:r>
            <a:r>
              <a:rPr lang="es-CO" b="1" dirty="0" smtClean="0">
                <a:solidFill>
                  <a:srgbClr val="0070C0"/>
                </a:solidFill>
              </a:rPr>
              <a:t>=F); </a:t>
            </a:r>
            <a:r>
              <a:rPr lang="es-CO" b="1" dirty="0" err="1" smtClean="0">
                <a:solidFill>
                  <a:srgbClr val="0070C0"/>
                </a:solidFill>
              </a:rPr>
              <a:t>mc</a:t>
            </a:r>
            <a:r>
              <a:rPr lang="es-CO" b="1" dirty="0" smtClean="0">
                <a:solidFill>
                  <a:srgbClr val="0070C0"/>
                </a:solidFill>
              </a:rPr>
              <a:t/>
            </a:r>
            <a:br>
              <a:rPr lang="es-CO" b="1" dirty="0" smtClean="0">
                <a:solidFill>
                  <a:srgbClr val="0070C0"/>
                </a:solidFill>
              </a:rPr>
            </a:br>
            <a:r>
              <a:rPr lang="es-CO" b="1" dirty="0" err="1" smtClean="0">
                <a:solidFill>
                  <a:srgbClr val="0070C0"/>
                </a:solidFill>
              </a:rPr>
              <a:t>mode</a:t>
            </a:r>
            <a:r>
              <a:rPr lang="es-CO" b="1" dirty="0" smtClean="0">
                <a:solidFill>
                  <a:srgbClr val="0070C0"/>
                </a:solidFill>
              </a:rPr>
              <a:t>(</a:t>
            </a:r>
            <a:r>
              <a:rPr lang="es-CO" b="1" dirty="0" err="1" smtClean="0">
                <a:solidFill>
                  <a:srgbClr val="0070C0"/>
                </a:solidFill>
              </a:rPr>
              <a:t>mf</a:t>
            </a:r>
            <a:r>
              <a:rPr lang="es-CO" b="1" dirty="0" smtClean="0">
                <a:solidFill>
                  <a:srgbClr val="0070C0"/>
                </a:solidFill>
              </a:rPr>
              <a:t>); </a:t>
            </a:r>
            <a:r>
              <a:rPr lang="es-CO" b="1" dirty="0" err="1" smtClean="0">
                <a:solidFill>
                  <a:srgbClr val="0070C0"/>
                </a:solidFill>
              </a:rPr>
              <a:t>mode</a:t>
            </a:r>
            <a:r>
              <a:rPr lang="es-CO" b="1" dirty="0" smtClean="0">
                <a:solidFill>
                  <a:srgbClr val="0070C0"/>
                </a:solidFill>
              </a:rPr>
              <a:t>(</a:t>
            </a:r>
            <a:r>
              <a:rPr lang="es-CO" b="1" dirty="0" err="1" smtClean="0">
                <a:solidFill>
                  <a:srgbClr val="0070C0"/>
                </a:solidFill>
              </a:rPr>
              <a:t>mc</a:t>
            </a:r>
            <a:r>
              <a:rPr lang="es-CO" b="1" dirty="0" smtClean="0">
                <a:solidFill>
                  <a:srgbClr val="0070C0"/>
                </a:solidFill>
              </a:rPr>
              <a:t>) # Consulta del modo de la matriz</a:t>
            </a:r>
            <a:br>
              <a:rPr lang="es-CO" b="1" dirty="0" smtClean="0">
                <a:solidFill>
                  <a:srgbClr val="0070C0"/>
                </a:solidFill>
              </a:rPr>
            </a:br>
            <a:r>
              <a:rPr lang="es-CO" b="1" dirty="0" err="1" smtClean="0">
                <a:solidFill>
                  <a:srgbClr val="0070C0"/>
                </a:solidFill>
              </a:rPr>
              <a:t>nrow</a:t>
            </a:r>
            <a:r>
              <a:rPr lang="es-CO" b="1" dirty="0" smtClean="0">
                <a:solidFill>
                  <a:srgbClr val="0070C0"/>
                </a:solidFill>
              </a:rPr>
              <a:t>(</a:t>
            </a:r>
            <a:r>
              <a:rPr lang="es-CO" b="1" dirty="0" err="1" smtClean="0">
                <a:solidFill>
                  <a:srgbClr val="0070C0"/>
                </a:solidFill>
              </a:rPr>
              <a:t>mf</a:t>
            </a:r>
            <a:r>
              <a:rPr lang="es-CO" b="1" dirty="0" smtClean="0">
                <a:solidFill>
                  <a:srgbClr val="0070C0"/>
                </a:solidFill>
              </a:rPr>
              <a:t>); </a:t>
            </a:r>
            <a:r>
              <a:rPr lang="es-CO" b="1" dirty="0" err="1" smtClean="0">
                <a:solidFill>
                  <a:srgbClr val="0070C0"/>
                </a:solidFill>
              </a:rPr>
              <a:t>ncol</a:t>
            </a:r>
            <a:r>
              <a:rPr lang="es-CO" b="1" dirty="0" smtClean="0">
                <a:solidFill>
                  <a:srgbClr val="0070C0"/>
                </a:solidFill>
              </a:rPr>
              <a:t>(</a:t>
            </a:r>
            <a:r>
              <a:rPr lang="es-CO" b="1" dirty="0" err="1" smtClean="0">
                <a:solidFill>
                  <a:srgbClr val="0070C0"/>
                </a:solidFill>
              </a:rPr>
              <a:t>mf</a:t>
            </a:r>
            <a:r>
              <a:rPr lang="es-CO" b="1" dirty="0" smtClean="0">
                <a:solidFill>
                  <a:srgbClr val="0070C0"/>
                </a:solidFill>
              </a:rPr>
              <a:t>); </a:t>
            </a:r>
            <a:r>
              <a:rPr lang="es-CO" b="1" dirty="0" err="1" smtClean="0">
                <a:solidFill>
                  <a:srgbClr val="0070C0"/>
                </a:solidFill>
              </a:rPr>
              <a:t>dim</a:t>
            </a:r>
            <a:r>
              <a:rPr lang="es-CO" b="1" dirty="0" smtClean="0">
                <a:solidFill>
                  <a:srgbClr val="0070C0"/>
                </a:solidFill>
              </a:rPr>
              <a:t>(</a:t>
            </a:r>
            <a:r>
              <a:rPr lang="es-CO" b="1" dirty="0" err="1" smtClean="0">
                <a:solidFill>
                  <a:srgbClr val="0070C0"/>
                </a:solidFill>
              </a:rPr>
              <a:t>mf</a:t>
            </a:r>
            <a:r>
              <a:rPr lang="es-CO" b="1" dirty="0" smtClean="0">
                <a:solidFill>
                  <a:srgbClr val="0070C0"/>
                </a:solidFill>
              </a:rPr>
              <a:t>) # Consulta de atributos y dimensiones</a:t>
            </a:r>
            <a:br>
              <a:rPr lang="es-CO" b="1" dirty="0" smtClean="0">
                <a:solidFill>
                  <a:srgbClr val="0070C0"/>
                </a:solidFill>
              </a:rPr>
            </a:br>
            <a:r>
              <a:rPr lang="es-CO" b="1" dirty="0" err="1" smtClean="0">
                <a:solidFill>
                  <a:srgbClr val="0070C0"/>
                </a:solidFill>
              </a:rPr>
              <a:t>nrow</a:t>
            </a:r>
            <a:r>
              <a:rPr lang="es-CO" b="1" dirty="0" smtClean="0">
                <a:solidFill>
                  <a:srgbClr val="0070C0"/>
                </a:solidFill>
              </a:rPr>
              <a:t>(</a:t>
            </a:r>
            <a:r>
              <a:rPr lang="es-CO" b="1" dirty="0" err="1" smtClean="0">
                <a:solidFill>
                  <a:srgbClr val="0070C0"/>
                </a:solidFill>
              </a:rPr>
              <a:t>mc</a:t>
            </a:r>
            <a:r>
              <a:rPr lang="es-CO" b="1" dirty="0" smtClean="0">
                <a:solidFill>
                  <a:srgbClr val="0070C0"/>
                </a:solidFill>
              </a:rPr>
              <a:t>); </a:t>
            </a:r>
            <a:r>
              <a:rPr lang="es-CO" b="1" dirty="0" err="1" smtClean="0">
                <a:solidFill>
                  <a:srgbClr val="0070C0"/>
                </a:solidFill>
              </a:rPr>
              <a:t>ncol</a:t>
            </a:r>
            <a:r>
              <a:rPr lang="es-CO" b="1" dirty="0" smtClean="0">
                <a:solidFill>
                  <a:srgbClr val="0070C0"/>
                </a:solidFill>
              </a:rPr>
              <a:t>(</a:t>
            </a:r>
            <a:r>
              <a:rPr lang="es-CO" b="1" dirty="0" err="1" smtClean="0">
                <a:solidFill>
                  <a:srgbClr val="0070C0"/>
                </a:solidFill>
              </a:rPr>
              <a:t>mc</a:t>
            </a:r>
            <a:r>
              <a:rPr lang="es-CO" b="1" dirty="0" smtClean="0">
                <a:solidFill>
                  <a:srgbClr val="0070C0"/>
                </a:solidFill>
              </a:rPr>
              <a:t>); </a:t>
            </a:r>
            <a:r>
              <a:rPr lang="es-CO" b="1" dirty="0" err="1" smtClean="0">
                <a:solidFill>
                  <a:srgbClr val="0070C0"/>
                </a:solidFill>
              </a:rPr>
              <a:t>dim</a:t>
            </a:r>
            <a:r>
              <a:rPr lang="es-CO" b="1" dirty="0" smtClean="0">
                <a:solidFill>
                  <a:srgbClr val="0070C0"/>
                </a:solidFill>
              </a:rPr>
              <a:t>(</a:t>
            </a:r>
            <a:r>
              <a:rPr lang="es-CO" b="1" dirty="0" err="1" smtClean="0">
                <a:solidFill>
                  <a:srgbClr val="0070C0"/>
                </a:solidFill>
              </a:rPr>
              <a:t>mc</a:t>
            </a:r>
            <a:r>
              <a:rPr lang="es-CO" b="1" dirty="0" smtClean="0">
                <a:solidFill>
                  <a:srgbClr val="0070C0"/>
                </a:solidFill>
              </a:rPr>
              <a:t>) # Consulta de atributos y dimensiones</a:t>
            </a:r>
            <a:endParaRPr lang="es-CO" b="1" dirty="0">
              <a:solidFill>
                <a:srgbClr val="0070C0"/>
              </a:solidFill>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Creación de Matrices</a:t>
            </a:r>
            <a:endParaRPr lang="es-CO" dirty="0"/>
          </a:p>
        </p:txBody>
      </p:sp>
      <p:sp>
        <p:nvSpPr>
          <p:cNvPr id="3" name="2 Marcador de contenido"/>
          <p:cNvSpPr>
            <a:spLocks noGrp="1"/>
          </p:cNvSpPr>
          <p:nvPr>
            <p:ph idx="1"/>
          </p:nvPr>
        </p:nvSpPr>
        <p:spPr/>
        <p:txBody>
          <a:bodyPr/>
          <a:lstStyle/>
          <a:p>
            <a:r>
              <a:rPr lang="es-CO" dirty="0" smtClean="0"/>
              <a:t>Se puede acceder a sus elementos de la siguiente forma:</a:t>
            </a:r>
            <a:br>
              <a:rPr lang="es-CO" dirty="0" smtClean="0"/>
            </a:br>
            <a:r>
              <a:rPr lang="es-CO" b="1" dirty="0" smtClean="0"/>
              <a:t>[i, j]</a:t>
            </a:r>
            <a:r>
              <a:rPr lang="es-CO" dirty="0" smtClean="0"/>
              <a:t/>
            </a:r>
            <a:br>
              <a:rPr lang="es-CO" dirty="0" smtClean="0"/>
            </a:br>
            <a:r>
              <a:rPr lang="es-CO" dirty="0" smtClean="0"/>
              <a:t>Filas</a:t>
            </a:r>
            <a:br>
              <a:rPr lang="es-CO" dirty="0" smtClean="0"/>
            </a:br>
            <a:r>
              <a:rPr lang="es-CO" b="1" dirty="0" smtClean="0"/>
              <a:t>[i, ]</a:t>
            </a:r>
            <a:r>
              <a:rPr lang="es-CO" dirty="0" smtClean="0"/>
              <a:t/>
            </a:r>
            <a:br>
              <a:rPr lang="es-CO" dirty="0" smtClean="0"/>
            </a:br>
            <a:r>
              <a:rPr lang="es-CO" dirty="0" smtClean="0"/>
              <a:t>Columnas</a:t>
            </a:r>
            <a:br>
              <a:rPr lang="es-CO" dirty="0" smtClean="0"/>
            </a:br>
            <a:r>
              <a:rPr lang="es-CO" b="1" dirty="0" smtClean="0"/>
              <a:t>[, j]</a:t>
            </a:r>
            <a:r>
              <a:rPr lang="es-CO" dirty="0" smtClean="0"/>
              <a:t/>
            </a:r>
            <a:br>
              <a:rPr lang="es-CO" dirty="0" smtClean="0"/>
            </a:br>
            <a:r>
              <a:rPr lang="es-CO" dirty="0" smtClean="0"/>
              <a:t/>
            </a:r>
            <a:br>
              <a:rPr lang="es-CO"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solidFill>
                  <a:srgbClr val="FF0000"/>
                </a:solidFill>
              </a:rPr>
              <a:t>Uso de [] en matrices</a:t>
            </a:r>
            <a:endParaRPr lang="es-CO" dirty="0">
              <a:solidFill>
                <a:srgbClr val="FF0000"/>
              </a:solidFill>
            </a:endParaRPr>
          </a:p>
        </p:txBody>
      </p:sp>
      <p:sp>
        <p:nvSpPr>
          <p:cNvPr id="3" name="2 Marcador de contenido"/>
          <p:cNvSpPr>
            <a:spLocks noGrp="1"/>
          </p:cNvSpPr>
          <p:nvPr>
            <p:ph idx="1"/>
          </p:nvPr>
        </p:nvSpPr>
        <p:spPr/>
        <p:txBody>
          <a:bodyPr/>
          <a:lstStyle/>
          <a:p>
            <a:r>
              <a:rPr lang="es-CO" b="1" dirty="0" smtClean="0"/>
              <a:t>Ejemplo:</a:t>
            </a:r>
            <a:r>
              <a:rPr lang="es-CO" dirty="0" smtClean="0"/>
              <a:t/>
            </a:r>
            <a:br>
              <a:rPr lang="es-CO" dirty="0" smtClean="0"/>
            </a:br>
            <a:r>
              <a:rPr lang="es-CO" dirty="0" err="1" smtClean="0"/>
              <a:t>mf</a:t>
            </a:r>
            <a:r>
              <a:rPr lang="es-CO" dirty="0" smtClean="0"/>
              <a:t> # Muestra la matriz completa</a:t>
            </a:r>
            <a:br>
              <a:rPr lang="es-CO" dirty="0" smtClean="0"/>
            </a:br>
            <a:r>
              <a:rPr lang="es-CO" dirty="0" err="1" smtClean="0"/>
              <a:t>mf</a:t>
            </a:r>
            <a:r>
              <a:rPr lang="es-CO" dirty="0" smtClean="0"/>
              <a:t>[, 2] # Muestra los elementos de la 2da columna</a:t>
            </a:r>
            <a:br>
              <a:rPr lang="es-CO" dirty="0" smtClean="0"/>
            </a:br>
            <a:r>
              <a:rPr lang="es-CO" dirty="0" err="1" smtClean="0"/>
              <a:t>mf</a:t>
            </a:r>
            <a:r>
              <a:rPr lang="es-CO" dirty="0" smtClean="0"/>
              <a:t>[c(1, 3), ] # Muestra los elementos de la 1ra y 3ra fila</a:t>
            </a:r>
            <a:br>
              <a:rPr lang="es-CO" dirty="0" smtClean="0"/>
            </a:br>
            <a:r>
              <a:rPr lang="es-CO" dirty="0" err="1" smtClean="0"/>
              <a:t>mf</a:t>
            </a:r>
            <a:r>
              <a:rPr lang="es-CO" dirty="0" smtClean="0"/>
              <a:t>[-2, ] # Omite los elementos de la 2da fila</a:t>
            </a:r>
            <a:br>
              <a:rPr lang="es-CO" dirty="0" smtClean="0"/>
            </a:br>
            <a:r>
              <a:rPr lang="es-CO" dirty="0" err="1" smtClean="0"/>
              <a:t>mf</a:t>
            </a:r>
            <a:r>
              <a:rPr lang="es-CO" dirty="0" smtClean="0"/>
              <a:t>[2, 3] # Muestra el elemento de la fila 2 y columna 3</a:t>
            </a:r>
            <a:br>
              <a:rPr lang="es-CO" dirty="0" smtClean="0"/>
            </a:br>
            <a:r>
              <a:rPr lang="es-CO" dirty="0" smtClean="0"/>
              <a:t/>
            </a:r>
            <a:br>
              <a:rPr lang="es-CO"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Operaciones con matrices </a:t>
            </a:r>
            <a:endParaRPr lang="es-CO" dirty="0"/>
          </a:p>
        </p:txBody>
      </p:sp>
      <p:pic>
        <p:nvPicPr>
          <p:cNvPr id="4" name="Picture 2"/>
          <p:cNvPicPr>
            <a:picLocks noChangeAspect="1" noChangeArrowheads="1"/>
          </p:cNvPicPr>
          <p:nvPr/>
        </p:nvPicPr>
        <p:blipFill>
          <a:blip r:embed="rId2"/>
          <a:srcRect l="34337" t="39886" r="32473" b="15795"/>
          <a:stretch>
            <a:fillRect/>
          </a:stretch>
        </p:blipFill>
        <p:spPr bwMode="auto">
          <a:xfrm>
            <a:off x="1022314" y="500042"/>
            <a:ext cx="5857916" cy="4397719"/>
          </a:xfrm>
          <a:prstGeom prst="rect">
            <a:avLst/>
          </a:prstGeom>
          <a:noFill/>
          <a:ln w="9525">
            <a:noFill/>
            <a:miter lim="800000"/>
            <a:headEnd/>
            <a:tailEnd/>
          </a:ln>
          <a:effectLst/>
        </p:spPr>
      </p:pic>
      <p:sp>
        <p:nvSpPr>
          <p:cNvPr id="5" name="4 Rectángulo"/>
          <p:cNvSpPr/>
          <p:nvPr/>
        </p:nvSpPr>
        <p:spPr>
          <a:xfrm>
            <a:off x="7308858" y="1428736"/>
            <a:ext cx="4451339" cy="3571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O" sz="2000" dirty="0" smtClean="0"/>
          </a:p>
          <a:p>
            <a:r>
              <a:rPr lang="es-CO" sz="2000" dirty="0" smtClean="0"/>
              <a:t>Ejemplos:</a:t>
            </a:r>
          </a:p>
          <a:p>
            <a:r>
              <a:rPr lang="es-CO" sz="2000" dirty="0" err="1" smtClean="0"/>
              <a:t>mf</a:t>
            </a:r>
            <a:r>
              <a:rPr lang="es-CO" sz="2000" dirty="0" smtClean="0"/>
              <a:t> + </a:t>
            </a:r>
            <a:r>
              <a:rPr lang="es-CO" sz="2000" dirty="0" err="1" smtClean="0"/>
              <a:t>mc</a:t>
            </a:r>
            <a:r>
              <a:rPr lang="es-CO" sz="2000" dirty="0" smtClean="0"/>
              <a:t> ## Suma de matrices</a:t>
            </a:r>
            <a:br>
              <a:rPr lang="es-CO" sz="2000" dirty="0" smtClean="0"/>
            </a:br>
            <a:r>
              <a:rPr lang="es-CO" sz="2000" dirty="0" smtClean="0"/>
              <a:t>t(</a:t>
            </a:r>
            <a:r>
              <a:rPr lang="es-CO" sz="2000" dirty="0" err="1" smtClean="0"/>
              <a:t>mf</a:t>
            </a:r>
            <a:r>
              <a:rPr lang="es-CO" sz="2000" dirty="0" smtClean="0"/>
              <a:t>) ## transpuesta de la </a:t>
            </a:r>
            <a:r>
              <a:rPr lang="es-CO" sz="2000" dirty="0" err="1" smtClean="0"/>
              <a:t>matrix</a:t>
            </a:r>
            <a:r>
              <a:rPr lang="es-CO" sz="2000" dirty="0" smtClean="0"/>
              <a:t> t</a:t>
            </a:r>
            <a:br>
              <a:rPr lang="es-CO" sz="2000" dirty="0" smtClean="0"/>
            </a:br>
            <a:r>
              <a:rPr lang="es-CO" sz="2000" dirty="0" err="1" smtClean="0"/>
              <a:t>m.mult</a:t>
            </a:r>
            <a:r>
              <a:rPr lang="es-CO" sz="2000" dirty="0" smtClean="0"/>
              <a:t> &lt;- </a:t>
            </a:r>
            <a:r>
              <a:rPr lang="es-CO" sz="2000" dirty="0" err="1" smtClean="0"/>
              <a:t>mf</a:t>
            </a:r>
            <a:r>
              <a:rPr lang="es-CO" sz="2000" dirty="0" smtClean="0"/>
              <a:t> %*% t(</a:t>
            </a:r>
            <a:r>
              <a:rPr lang="es-CO" sz="2000" dirty="0" err="1" smtClean="0"/>
              <a:t>mc</a:t>
            </a:r>
            <a:r>
              <a:rPr lang="es-CO" sz="2000" dirty="0" smtClean="0"/>
              <a:t>) - </a:t>
            </a:r>
            <a:r>
              <a:rPr lang="es-CO" sz="2000" dirty="0" err="1" smtClean="0"/>
              <a:t>diag</a:t>
            </a:r>
            <a:r>
              <a:rPr lang="es-CO" sz="2000" dirty="0" smtClean="0"/>
              <a:t>(3); </a:t>
            </a:r>
            <a:r>
              <a:rPr lang="es-CO" sz="2000" dirty="0" err="1" smtClean="0"/>
              <a:t>m.mult</a:t>
            </a:r>
            <a:r>
              <a:rPr lang="es-CO" sz="2000" dirty="0" smtClean="0"/>
              <a:t/>
            </a:r>
            <a:br>
              <a:rPr lang="es-CO" sz="2000" dirty="0" smtClean="0"/>
            </a:br>
            <a:r>
              <a:rPr lang="es-CO" sz="2000" dirty="0" err="1" smtClean="0"/>
              <a:t>mat</a:t>
            </a:r>
            <a:r>
              <a:rPr lang="es-CO" sz="2000" dirty="0" smtClean="0"/>
              <a:t> &lt;- </a:t>
            </a:r>
            <a:r>
              <a:rPr lang="es-CO" sz="2000" dirty="0" err="1" smtClean="0"/>
              <a:t>matrix</a:t>
            </a:r>
            <a:r>
              <a:rPr lang="es-CO" sz="2000" dirty="0" smtClean="0"/>
              <a:t>(c(3, 5, 8, 4, 7, 3, 2, 1, 6), 3, 3, </a:t>
            </a:r>
            <a:r>
              <a:rPr lang="es-CO" sz="2000" dirty="0" err="1" smtClean="0"/>
              <a:t>byrow</a:t>
            </a:r>
            <a:r>
              <a:rPr lang="es-CO" sz="2000" dirty="0" smtClean="0"/>
              <a:t>=T); </a:t>
            </a:r>
            <a:r>
              <a:rPr lang="es-CO" sz="2000" dirty="0" err="1" smtClean="0"/>
              <a:t>mat</a:t>
            </a:r>
            <a:r>
              <a:rPr lang="es-CO" sz="2000" dirty="0" smtClean="0"/>
              <a:t/>
            </a:r>
            <a:br>
              <a:rPr lang="es-CO" sz="2000" dirty="0" smtClean="0"/>
            </a:br>
            <a:r>
              <a:rPr lang="es-CO" sz="2000" dirty="0" err="1" smtClean="0"/>
              <a:t>det</a:t>
            </a:r>
            <a:r>
              <a:rPr lang="es-CO" sz="2000" dirty="0" smtClean="0"/>
              <a:t>(</a:t>
            </a:r>
            <a:r>
              <a:rPr lang="es-CO" sz="2000" dirty="0" err="1" smtClean="0"/>
              <a:t>mat</a:t>
            </a:r>
            <a:r>
              <a:rPr lang="es-CO" sz="2000" dirty="0" smtClean="0"/>
              <a:t>)</a:t>
            </a:r>
            <a:br>
              <a:rPr lang="es-CO" sz="2000" dirty="0" smtClean="0"/>
            </a:br>
            <a:r>
              <a:rPr lang="es-CO" sz="2000" dirty="0" err="1" smtClean="0"/>
              <a:t>solve</a:t>
            </a:r>
            <a:r>
              <a:rPr lang="es-CO" sz="2000" dirty="0" smtClean="0"/>
              <a:t>(</a:t>
            </a:r>
            <a:r>
              <a:rPr lang="es-CO" sz="2000" dirty="0" err="1" smtClean="0"/>
              <a:t>mat</a:t>
            </a:r>
            <a:r>
              <a:rPr lang="es-CO" sz="2000" dirty="0" smtClean="0"/>
              <a:t>)</a:t>
            </a:r>
            <a:br>
              <a:rPr lang="es-CO" sz="2000" dirty="0" smtClean="0"/>
            </a:br>
            <a:r>
              <a:rPr lang="es-CO" sz="2000" dirty="0" err="1" smtClean="0"/>
              <a:t>eigen</a:t>
            </a:r>
            <a:r>
              <a:rPr lang="es-CO" sz="2000" dirty="0" smtClean="0"/>
              <a:t>(</a:t>
            </a:r>
            <a:r>
              <a:rPr lang="es-CO" sz="2000" dirty="0" err="1" smtClean="0"/>
              <a:t>mat</a:t>
            </a:r>
            <a:r>
              <a:rPr lang="es-CO" sz="2000" dirty="0" smtClean="0"/>
              <a:t>) # Calcular vectores y valores propios</a:t>
            </a:r>
            <a:r>
              <a:rPr lang="es-CO" dirty="0" smtClean="0"/>
              <a:t/>
            </a:r>
            <a:br>
              <a:rPr lang="es-CO" dirty="0" smtClean="0"/>
            </a:br>
            <a:r>
              <a:rPr lang="es-CO" dirty="0" smtClean="0"/>
              <a:t/>
            </a:r>
            <a:br>
              <a:rPr lang="es-CO"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Uso de </a:t>
            </a:r>
            <a:r>
              <a:rPr lang="es-CO" dirty="0" err="1" smtClean="0"/>
              <a:t>cbind</a:t>
            </a:r>
            <a:r>
              <a:rPr lang="es-CO" dirty="0" smtClean="0"/>
              <a:t> y </a:t>
            </a:r>
            <a:r>
              <a:rPr lang="es-CO" dirty="0" err="1" smtClean="0"/>
              <a:t>rbind</a:t>
            </a:r>
            <a:endParaRPr lang="es-CO" dirty="0"/>
          </a:p>
        </p:txBody>
      </p:sp>
      <p:sp>
        <p:nvSpPr>
          <p:cNvPr id="5" name="4 Marcador de contenido"/>
          <p:cNvSpPr>
            <a:spLocks noGrp="1"/>
          </p:cNvSpPr>
          <p:nvPr>
            <p:ph idx="1"/>
          </p:nvPr>
        </p:nvSpPr>
        <p:spPr/>
        <p:txBody>
          <a:bodyPr/>
          <a:lstStyle/>
          <a:p>
            <a:r>
              <a:rPr lang="es-CO" b="1" dirty="0" err="1" smtClean="0"/>
              <a:t>cbind</a:t>
            </a:r>
            <a:r>
              <a:rPr lang="es-CO" b="1" dirty="0" smtClean="0"/>
              <a:t>() </a:t>
            </a:r>
            <a:r>
              <a:rPr lang="es-CO" dirty="0" smtClean="0"/>
              <a:t>y </a:t>
            </a:r>
            <a:r>
              <a:rPr lang="es-CO" b="1" dirty="0" err="1" smtClean="0"/>
              <a:t>rbind</a:t>
            </a:r>
            <a:r>
              <a:rPr lang="es-CO" b="1" dirty="0" smtClean="0"/>
              <a:t>() </a:t>
            </a:r>
            <a:r>
              <a:rPr lang="es-CO" dirty="0" smtClean="0"/>
              <a:t>permiten que los datos puedan ser</a:t>
            </a:r>
            <a:br>
              <a:rPr lang="es-CO" dirty="0" smtClean="0"/>
            </a:br>
            <a:r>
              <a:rPr lang="es-CO" dirty="0" smtClean="0"/>
              <a:t>convertidos a matrices</a:t>
            </a:r>
            <a:br>
              <a:rPr lang="es-CO" dirty="0" smtClean="0"/>
            </a:br>
            <a:r>
              <a:rPr lang="es-CO" dirty="0" smtClean="0"/>
              <a:t/>
            </a:r>
            <a:br>
              <a:rPr lang="es-CO" dirty="0" smtClean="0"/>
            </a:br>
            <a:r>
              <a:rPr lang="es-CO" dirty="0" smtClean="0"/>
              <a:t>d</a:t>
            </a:r>
            <a:r>
              <a:rPr lang="it-IT" dirty="0" smtClean="0"/>
              <a:t>ato &lt;- 1:10; dato</a:t>
            </a:r>
            <a:br>
              <a:rPr lang="it-IT" dirty="0" smtClean="0"/>
            </a:br>
            <a:r>
              <a:rPr lang="it-IT" dirty="0" smtClean="0"/>
              <a:t>fila &lt;- rbind(dato); fila</a:t>
            </a:r>
            <a:br>
              <a:rPr lang="it-IT" dirty="0" smtClean="0"/>
            </a:br>
            <a:r>
              <a:rPr lang="it-IT" dirty="0" smtClean="0"/>
              <a:t>columna &lt;- cbind(dato); columna</a:t>
            </a:r>
            <a:br>
              <a:rPr lang="it-IT" dirty="0" smtClean="0"/>
            </a:br>
            <a:r>
              <a:rPr lang="it-IT" dirty="0" smtClean="0"/>
              <a:t/>
            </a:r>
            <a:br>
              <a:rPr lang="it-IT"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293813" y="685800"/>
            <a:ext cx="10287000" cy="5243530"/>
          </a:xfrm>
        </p:spPr>
        <p:txBody>
          <a:bodyPr>
            <a:normAutofit fontScale="92500" lnSpcReduction="10000"/>
          </a:bodyPr>
          <a:lstStyle/>
          <a:p>
            <a:r>
              <a:rPr lang="es-CO" sz="2400" dirty="0" smtClean="0"/>
              <a:t>Ejercicio </a:t>
            </a:r>
          </a:p>
          <a:p>
            <a:pPr>
              <a:buNone/>
            </a:pPr>
            <a:r>
              <a:rPr lang="es-CO" sz="2400" dirty="0" smtClean="0"/>
              <a:t>1. Los siguientes valores (50, 70, 130, 40, 100, 70, 140, 30, 110) corresponden al precio de licores (</a:t>
            </a:r>
            <a:r>
              <a:rPr lang="es-CO" sz="2400" dirty="0" err="1" smtClean="0"/>
              <a:t>xbotella</a:t>
            </a:r>
            <a:r>
              <a:rPr lang="es-CO" sz="2400" dirty="0" smtClean="0"/>
              <a:t>) en discotecas de Cali, clasificados por licores (columnas: Blanco, Caldas, Márquez) y discotecas (filas: Living, Pérgola, Caderona)</a:t>
            </a:r>
          </a:p>
          <a:p>
            <a:pPr>
              <a:buNone/>
            </a:pPr>
            <a:r>
              <a:rPr lang="es-CO" sz="2400" dirty="0" smtClean="0"/>
              <a:t>2. Se solicita anexar en la matriz los precios de las discotecas: Lolas(120,130,140) y Urbano(80, 100,120).</a:t>
            </a:r>
          </a:p>
          <a:p>
            <a:pPr>
              <a:buNone/>
            </a:pPr>
            <a:r>
              <a:rPr lang="es-CO" sz="2400" dirty="0" smtClean="0"/>
              <a:t>3. Además se solicita anexar el valor de la cerveza “corona” la cuál es muy vendida en dichas discotecas: (20,15,25,17,22)</a:t>
            </a:r>
          </a:p>
          <a:p>
            <a:pPr>
              <a:buNone/>
            </a:pPr>
            <a:r>
              <a:rPr lang="es-CO" sz="2400" dirty="0" smtClean="0"/>
              <a:t>4. Seleccione todos los precios de la discoteca Lolas</a:t>
            </a:r>
          </a:p>
          <a:p>
            <a:pPr>
              <a:buNone/>
            </a:pPr>
            <a:r>
              <a:rPr lang="es-CO" sz="2400" dirty="0" smtClean="0"/>
              <a:t>5. Identifique cual es la discoteca con precios más altos en licor Márquez</a:t>
            </a:r>
          </a:p>
          <a:p>
            <a:pPr>
              <a:buNone/>
            </a:pPr>
            <a:r>
              <a:rPr lang="es-CO" sz="2400" dirty="0" smtClean="0"/>
              <a:t>6. Identifique </a:t>
            </a:r>
            <a:r>
              <a:rPr lang="es-CO" sz="2400" dirty="0" smtClean="0"/>
              <a:t>cuales son las discotecas </a:t>
            </a:r>
            <a:r>
              <a:rPr lang="es-CO" sz="2400" dirty="0" smtClean="0"/>
              <a:t>con precios más altos en Blanco y Corona</a:t>
            </a:r>
            <a:r>
              <a:rPr lang="es-CO" dirty="0" smtClean="0"/>
              <a:t/>
            </a:r>
            <a:br>
              <a:rPr lang="es-CO" dirty="0" smtClean="0"/>
            </a:br>
            <a:r>
              <a:rPr lang="es-CO" dirty="0" smtClean="0"/>
              <a:t/>
            </a:r>
            <a:br>
              <a:rPr lang="es-CO"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theme/theme1.xml><?xml version="1.0" encoding="utf-8"?>
<a:theme xmlns:a="http://schemas.openxmlformats.org/drawingml/2006/main" name="tf02801084">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extLst>
    <a:ext uri="{05A4C25C-085E-4340-85A3-A5531E510DB2}">
      <thm15:themeFamily xmlns:thm15="http://schemas.microsoft.com/office/thememl/2012/main" xmlns="" name="Office_13666347_TF02801084" id="{CD88FFC4-256B-4A8B-A834-3ED1FB95D122}" vid="{8EBA3372-4352-4BB3-92A0-2911D09DA088}"/>
    </a:ext>
  </a:extLst>
</a:theme>
</file>

<file path=ppt/theme/theme2.xml><?xml version="1.0" encoding="utf-8"?>
<a:theme xmlns:a="http://schemas.openxmlformats.org/drawingml/2006/main" name="Tema de Offic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ppt/theme/theme3.xml><?xml version="1.0" encoding="utf-8"?>
<a:theme xmlns:a="http://schemas.openxmlformats.org/drawingml/2006/main" name="Tema de Offic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0AACE6D-8EB6-447A-8DFD-C2C0C52916AC}">
  <ds:schemaRef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40262f94-9f35-4ac3-9a90-690165a166b7"/>
    <ds:schemaRef ds:uri="a4f35948-e619-41b3-aa29-22878b09cfd2"/>
    <ds:schemaRef ds:uri="http://www.w3.org/XML/1998/namespace"/>
  </ds:schemaRefs>
</ds:datastoreItem>
</file>

<file path=customXml/itemProps2.xml><?xml version="1.0" encoding="utf-8"?>
<ds:datastoreItem xmlns:ds="http://schemas.openxmlformats.org/officeDocument/2006/customXml" ds:itemID="{7F9B8BCC-BF24-4800-92E1-9F891BBB27E6}">
  <ds:schemaRefs>
    <ds:schemaRef ds:uri="http://schemas.microsoft.com/sharepoint/v3/contenttype/forms"/>
  </ds:schemaRefs>
</ds:datastoreItem>
</file>

<file path=customXml/itemProps3.xml><?xml version="1.0" encoding="utf-8"?>
<ds:datastoreItem xmlns:ds="http://schemas.openxmlformats.org/officeDocument/2006/customXml" ds:itemID="{5CCB2C71-1ED8-4540-B003-293B5E75C7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tf02801084</Template>
  <TotalTime>627</TotalTime>
  <Words>873</Words>
  <Application>Microsoft Office PowerPoint</Application>
  <PresentationFormat>Personalizado</PresentationFormat>
  <Paragraphs>140</Paragraphs>
  <Slides>27</Slides>
  <Notes>2</Notes>
  <HiddenSlides>0</HiddenSlides>
  <MMClips>0</MMClips>
  <ScaleCrop>false</ScaleCrop>
  <HeadingPairs>
    <vt:vector size="4" baseType="variant">
      <vt:variant>
        <vt:lpstr>Tema</vt:lpstr>
      </vt:variant>
      <vt:variant>
        <vt:i4>1</vt:i4>
      </vt:variant>
      <vt:variant>
        <vt:lpstr>Títulos de diapositiva</vt:lpstr>
      </vt:variant>
      <vt:variant>
        <vt:i4>27</vt:i4>
      </vt:variant>
    </vt:vector>
  </HeadingPairs>
  <TitlesOfParts>
    <vt:vector size="28" baseType="lpstr">
      <vt:lpstr>tf02801084</vt:lpstr>
      <vt:lpstr>Sección Creación de Objetos</vt:lpstr>
      <vt:lpstr>Contenido</vt:lpstr>
      <vt:lpstr>Tipos de Objetos</vt:lpstr>
      <vt:lpstr>Tipos de Objetos</vt:lpstr>
      <vt:lpstr>Creación de Objetos</vt:lpstr>
      <vt:lpstr>Creación de Objetos</vt:lpstr>
      <vt:lpstr>Creación de Objetos</vt:lpstr>
      <vt:lpstr>Creación de Objetos (Asignación)</vt:lpstr>
      <vt:lpstr>Asignaciones</vt:lpstr>
      <vt:lpstr>Algunos objetos que se pueden crear: Vector</vt:lpstr>
      <vt:lpstr>Algunos objetos que se pueden crear: Vector</vt:lpstr>
      <vt:lpstr>Atributos del Vector</vt:lpstr>
      <vt:lpstr>Algunos objetos que se pueden crear: Vector</vt:lpstr>
      <vt:lpstr>Algunos objetos que se pueden crear: Vector</vt:lpstr>
      <vt:lpstr>Algunos objetos que se pueden crear: Vector</vt:lpstr>
      <vt:lpstr>Uso de los [] en vectores numéricos</vt:lpstr>
      <vt:lpstr>Uso de los [] en vectores cualitativos</vt:lpstr>
      <vt:lpstr>Diapositiva 18</vt:lpstr>
      <vt:lpstr>Operaciones Aritméticas de Vectores</vt:lpstr>
      <vt:lpstr>Operaciones Aritméticas de Vectores</vt:lpstr>
      <vt:lpstr>Operaciones Lógicas</vt:lpstr>
      <vt:lpstr>Creación de Matrices</vt:lpstr>
      <vt:lpstr>Creación de Matrices</vt:lpstr>
      <vt:lpstr>Uso de [] en matrices</vt:lpstr>
      <vt:lpstr>Operaciones con matrices </vt:lpstr>
      <vt:lpstr>Uso de cbind y rbind</vt:lpstr>
      <vt:lpstr>Diapositiva 27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Andres</dc:creator>
  <cp:lastModifiedBy>Andres</cp:lastModifiedBy>
  <cp:revision>76</cp:revision>
  <dcterms:created xsi:type="dcterms:W3CDTF">2018-04-11T20:09:05Z</dcterms:created>
  <dcterms:modified xsi:type="dcterms:W3CDTF">2018-05-03T18:22:06Z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