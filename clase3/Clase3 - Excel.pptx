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5" r:id="rId6"/>
    <p:sldId id="257" r:id="rId7"/>
    <p:sldId id="258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2" r:id="rId18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dres\Desktop\Procesamiento%20Datos%202026\datosCensoArboles\paraTrabajarClase\censo-arboreo-comuna-2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C" sz="1800" b="1" dirty="0"/>
              <a:t>Diagrama</a:t>
            </a:r>
            <a:r>
              <a:rPr lang="es-EC" sz="1800" b="1" baseline="0" dirty="0"/>
              <a:t> de barras del barrio vs nombre común del árbol en la comuna 22.</a:t>
            </a:r>
            <a:endParaRPr lang="es-EC" sz="18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Hoja1!$B$17</c:f>
              <c:strCache>
                <c:ptCount val="1"/>
                <c:pt idx="0">
                  <c:v>Acacia robinia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Hoja1!$A$18:$A$22</c:f>
              <c:strCache>
                <c:ptCount val="5"/>
                <c:pt idx="0">
                  <c:v>Ciudad Campestre</c:v>
                </c:pt>
                <c:pt idx="1">
                  <c:v>Club Campestre</c:v>
                </c:pt>
                <c:pt idx="2">
                  <c:v>Parcelaciones Pance</c:v>
                </c:pt>
                <c:pt idx="3">
                  <c:v>Urbanizacion Ciudad Jardin</c:v>
                </c:pt>
                <c:pt idx="4">
                  <c:v>Urbanizacion Rio Lili</c:v>
                </c:pt>
              </c:strCache>
            </c:strRef>
          </c:cat>
          <c:val>
            <c:numRef>
              <c:f>Hoja1!$B$18:$B$22</c:f>
              <c:numCache>
                <c:formatCode>General</c:formatCode>
                <c:ptCount val="5"/>
                <c:pt idx="0">
                  <c:v>47</c:v>
                </c:pt>
                <c:pt idx="1">
                  <c:v>8</c:v>
                </c:pt>
                <c:pt idx="2">
                  <c:v>660</c:v>
                </c:pt>
                <c:pt idx="3">
                  <c:v>268</c:v>
                </c:pt>
                <c:pt idx="4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69-47F8-A760-BE2FF77A7BB5}"/>
            </c:ext>
          </c:extLst>
        </c:ser>
        <c:ser>
          <c:idx val="1"/>
          <c:order val="1"/>
          <c:tx>
            <c:strRef>
              <c:f>Hoja1!$C$17</c:f>
              <c:strCache>
                <c:ptCount val="1"/>
                <c:pt idx="0">
                  <c:v>Palma areca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Hoja1!$A$18:$A$22</c:f>
              <c:strCache>
                <c:ptCount val="5"/>
                <c:pt idx="0">
                  <c:v>Ciudad Campestre</c:v>
                </c:pt>
                <c:pt idx="1">
                  <c:v>Club Campestre</c:v>
                </c:pt>
                <c:pt idx="2">
                  <c:v>Parcelaciones Pance</c:v>
                </c:pt>
                <c:pt idx="3">
                  <c:v>Urbanizacion Ciudad Jardin</c:v>
                </c:pt>
                <c:pt idx="4">
                  <c:v>Urbanizacion Rio Lili</c:v>
                </c:pt>
              </c:strCache>
            </c:strRef>
          </c:cat>
          <c:val>
            <c:numRef>
              <c:f>Hoja1!$C$18:$C$22</c:f>
              <c:numCache>
                <c:formatCode>General</c:formatCode>
                <c:ptCount val="5"/>
                <c:pt idx="0">
                  <c:v>49</c:v>
                </c:pt>
                <c:pt idx="1">
                  <c:v>5</c:v>
                </c:pt>
                <c:pt idx="2">
                  <c:v>427</c:v>
                </c:pt>
                <c:pt idx="3">
                  <c:v>322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69-47F8-A760-BE2FF77A7BB5}"/>
            </c:ext>
          </c:extLst>
        </c:ser>
        <c:ser>
          <c:idx val="2"/>
          <c:order val="2"/>
          <c:tx>
            <c:strRef>
              <c:f>Hoja1!$D$17</c:f>
              <c:strCache>
                <c:ptCount val="1"/>
                <c:pt idx="0">
                  <c:v>Palma real de Cuba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Hoja1!$A$18:$A$22</c:f>
              <c:strCache>
                <c:ptCount val="5"/>
                <c:pt idx="0">
                  <c:v>Ciudad Campestre</c:v>
                </c:pt>
                <c:pt idx="1">
                  <c:v>Club Campestre</c:v>
                </c:pt>
                <c:pt idx="2">
                  <c:v>Parcelaciones Pance</c:v>
                </c:pt>
                <c:pt idx="3">
                  <c:v>Urbanizacion Ciudad Jardin</c:v>
                </c:pt>
                <c:pt idx="4">
                  <c:v>Urbanizacion Rio Lili</c:v>
                </c:pt>
              </c:strCache>
            </c:strRef>
          </c:cat>
          <c:val>
            <c:numRef>
              <c:f>Hoja1!$D$18:$D$22</c:f>
              <c:numCache>
                <c:formatCode>General</c:formatCode>
                <c:ptCount val="5"/>
                <c:pt idx="0">
                  <c:v>17</c:v>
                </c:pt>
                <c:pt idx="2">
                  <c:v>449</c:v>
                </c:pt>
                <c:pt idx="3">
                  <c:v>296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969-47F8-A760-BE2FF77A7BB5}"/>
            </c:ext>
          </c:extLst>
        </c:ser>
        <c:ser>
          <c:idx val="3"/>
          <c:order val="3"/>
          <c:tx>
            <c:strRef>
              <c:f>Hoja1!$E$17</c:f>
              <c:strCache>
                <c:ptCount val="1"/>
                <c:pt idx="0">
                  <c:v>Chiminango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Hoja1!$A$18:$A$22</c:f>
              <c:strCache>
                <c:ptCount val="5"/>
                <c:pt idx="0">
                  <c:v>Ciudad Campestre</c:v>
                </c:pt>
                <c:pt idx="1">
                  <c:v>Club Campestre</c:v>
                </c:pt>
                <c:pt idx="2">
                  <c:v>Parcelaciones Pance</c:v>
                </c:pt>
                <c:pt idx="3">
                  <c:v>Urbanizacion Ciudad Jardin</c:v>
                </c:pt>
                <c:pt idx="4">
                  <c:v>Urbanizacion Rio Lili</c:v>
                </c:pt>
              </c:strCache>
            </c:strRef>
          </c:cat>
          <c:val>
            <c:numRef>
              <c:f>Hoja1!$E$18:$E$22</c:f>
              <c:numCache>
                <c:formatCode>General</c:formatCode>
                <c:ptCount val="5"/>
                <c:pt idx="0">
                  <c:v>5</c:v>
                </c:pt>
                <c:pt idx="1">
                  <c:v>16</c:v>
                </c:pt>
                <c:pt idx="2">
                  <c:v>341</c:v>
                </c:pt>
                <c:pt idx="3">
                  <c:v>158</c:v>
                </c:pt>
                <c:pt idx="4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969-47F8-A760-BE2FF77A7BB5}"/>
            </c:ext>
          </c:extLst>
        </c:ser>
        <c:ser>
          <c:idx val="4"/>
          <c:order val="4"/>
          <c:tx>
            <c:strRef>
              <c:f>Hoja1!$F$17</c:f>
              <c:strCache>
                <c:ptCount val="1"/>
                <c:pt idx="0">
                  <c:v>Palma manila, Palma navidad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Hoja1!$A$18:$A$22</c:f>
              <c:strCache>
                <c:ptCount val="5"/>
                <c:pt idx="0">
                  <c:v>Ciudad Campestre</c:v>
                </c:pt>
                <c:pt idx="1">
                  <c:v>Club Campestre</c:v>
                </c:pt>
                <c:pt idx="2">
                  <c:v>Parcelaciones Pance</c:v>
                </c:pt>
                <c:pt idx="3">
                  <c:v>Urbanizacion Ciudad Jardin</c:v>
                </c:pt>
                <c:pt idx="4">
                  <c:v>Urbanizacion Rio Lili</c:v>
                </c:pt>
              </c:strCache>
            </c:strRef>
          </c:cat>
          <c:val>
            <c:numRef>
              <c:f>Hoja1!$F$18:$F$22</c:f>
              <c:numCache>
                <c:formatCode>General</c:formatCode>
                <c:ptCount val="5"/>
                <c:pt idx="0">
                  <c:v>25</c:v>
                </c:pt>
                <c:pt idx="1">
                  <c:v>2</c:v>
                </c:pt>
                <c:pt idx="2">
                  <c:v>366</c:v>
                </c:pt>
                <c:pt idx="3">
                  <c:v>134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69-47F8-A760-BE2FF77A7B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91888607"/>
        <c:axId val="591908767"/>
      </c:barChart>
      <c:catAx>
        <c:axId val="59188860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C"/>
                  <a:t>Barrios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591908767"/>
        <c:crosses val="autoZero"/>
        <c:auto val="1"/>
        <c:lblAlgn val="ctr"/>
        <c:lblOffset val="100"/>
        <c:noMultiLvlLbl val="0"/>
      </c:catAx>
      <c:valAx>
        <c:axId val="5919087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C"/>
                  <a:t>Conteo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591888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611C3-4BEC-3B74-EB1E-C36E76812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D5E3F2-C98C-17E9-664F-21FB5F535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9498F0-99AF-F83F-CA96-E5611B858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0E43-3FAB-441C-B05B-7739E06CEDD2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003A47-CA95-0E84-A13E-92C04E1E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D9A952-78B1-A424-BDC0-E25A48219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6053-5A8A-4731-BB0F-68A445CAE15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34783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3D543-3A33-2380-9289-E780B8AF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BC5DF1-64B5-F90B-9DC2-4543B69A2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80274F-39FE-DF02-922C-AC3C6D202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0E43-3FAB-441C-B05B-7739E06CEDD2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BA08B9-2080-7F2A-A5FC-02483226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FA9ECE-CFA2-D0DC-EEC1-3B03ACEA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6053-5A8A-4731-BB0F-68A445CAE15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4695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1FF21-BC02-3D04-F9E5-36162C78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3D825A-AC8C-095A-23D6-D1EBDCEFD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7ED856-8E66-05A7-29AD-E02B934E2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0E43-3FAB-441C-B05B-7739E06CEDD2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495DB9-FF61-DA79-E0AC-1723C469F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662C33-8EB9-C5B9-218A-CA568A31F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6053-5A8A-4731-BB0F-68A445CAE15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0753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19F0F-8F5B-3E68-6575-A91B7845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6E7584-6EC6-0346-B0B4-AC3614C7A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B90AA29-1F8C-C6B3-C67F-D77720216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2C0037-D9C2-4428-FE00-626E19BEB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0E43-3FAB-441C-B05B-7739E06CEDD2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EED912-112B-6A65-94A6-78703C09F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6F3790-48BE-0B48-929A-53B6822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6053-5A8A-4731-BB0F-68A445CAE15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9686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3C1AB-5B39-CD69-A96C-365CCFA0C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1B496E-3A46-08DE-26F4-E913B5508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541C24-1927-7D50-F0EF-A972934FB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97B666-740A-049C-3D7C-1F8E0DED0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B6A433-B7E8-0555-6DE1-211FE81EF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6F425D-A367-B474-478D-01C7D47C8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0E43-3FAB-441C-B05B-7739E06CEDD2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7C41D64-C334-725A-08A9-6AB789BE2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6012BA4-6787-499A-13DD-B2D54EEEB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6053-5A8A-4731-BB0F-68A445CAE15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75800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6D504B-E37F-9A16-151A-D6B5651F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FE08C3F-BE2D-B5C8-6122-2B5E1374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0E43-3FAB-441C-B05B-7739E06CEDD2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725E925-41F1-BEAC-A59B-F0B69B524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7B4598A-5C9F-942B-463E-D27C7B997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6053-5A8A-4731-BB0F-68A445CAE15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81863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E43F1DE-1BC0-4205-C2CD-A822A995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0E43-3FAB-441C-B05B-7739E06CEDD2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7F4BD40-AEF0-5603-990F-605F3706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64B475-3AED-9264-22C4-968BEC947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6053-5A8A-4731-BB0F-68A445CAE15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7623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5B9AB-5258-9356-3EAB-B5F07DB6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C28109-B2E8-CC8A-421A-7E8AE8A77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190607-0CDF-AC7C-E3F8-A2A31EB9D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A5B410-5541-5A76-DDBB-B97DE2257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0E43-3FAB-441C-B05B-7739E06CEDD2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F613BC-FF4F-251E-9848-4456A6B2F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175D22-6891-993C-30BC-A08D50D65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6053-5A8A-4731-BB0F-68A445CAE15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14147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2AB9D-299C-9105-0075-F5B07F19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A186D97-B096-E44E-68D2-62142485C2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156609-A14A-42FA-C3B4-EA6032BA1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926FF9-0F23-09D2-CE12-56BC2524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0E43-3FAB-441C-B05B-7739E06CEDD2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4F88C7-398C-396D-BDDB-A50A5C36F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F48F1F-A27F-429B-3DB6-F758A286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6053-5A8A-4731-BB0F-68A445CAE15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34815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84C82-6119-B62C-DCE4-88CC2C5D4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CFA185-7BE9-C2FD-42CE-F5AA10B80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A5D43E-BEFD-3556-F988-AEA1097F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0E43-3FAB-441C-B05B-7739E06CEDD2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529693-208B-87BA-8F1B-83151AF5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36E626-CE2E-0A53-D195-891AE7AA5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6053-5A8A-4731-BB0F-68A445CAE15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47344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98193A-885A-136E-99C9-7D947E3995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85EBCD-CBE6-D60D-E7F2-F23D2B8F6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40AF7E-C1AE-60B4-04FE-C80350DD5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0E43-3FAB-441C-B05B-7739E06CEDD2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72261D-CABB-1737-B79E-82D376C87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1C3B3F-18C0-62B0-404D-05F578AAB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6053-5A8A-4731-BB0F-68A445CAE15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9766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6E6DD04-D413-289C-7F60-E7F0A4DE0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3A3E56-8988-AF1A-0494-D1C973CEC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0E6351-3CB2-4F92-1008-23169D853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70E43-3FAB-441C-B05B-7739E06CEDD2}" type="datetimeFigureOut">
              <a:rPr lang="es-EC" smtClean="0"/>
              <a:t>26/2/2026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88983F-82CA-1EFA-2999-44CE35248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D571F-C4BA-272D-195A-821D48608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A6053-5A8A-4731-BB0F-68A445CAE15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1100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datos.dane.gov.co/index.php/catalog/central/about" TargetMode="External"/><Relationship Id="rId2" Type="http://schemas.openxmlformats.org/officeDocument/2006/relationships/hyperlink" Target="https://www.datos.gov.co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f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" TargetMode="External"/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hyperlink" Target="https://www.fao.org/faostat/es/#home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45477-EC82-0886-EA78-C15125924C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Clase 3 - Excel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9DE1B0-FD7C-A643-D6FA-0200DAA23D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Andrés Felipe Ochoa Muñoz</a:t>
            </a:r>
          </a:p>
          <a:p>
            <a:endParaRPr lang="es-ES" dirty="0"/>
          </a:p>
          <a:p>
            <a:r>
              <a:rPr lang="es-ES" dirty="0"/>
              <a:t>andres.ochoa@correounivalle.edu.co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6846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B58C85-2099-A783-3A7D-90639260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Tabla de contenido.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D530C0-8049-3428-1240-48ABA0AB2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Datos Censo Arbóreo Cali.</a:t>
            </a:r>
          </a:p>
          <a:p>
            <a:r>
              <a:rPr lang="es-ES" dirty="0"/>
              <a:t>Tablas dinámicas.</a:t>
            </a:r>
          </a:p>
          <a:p>
            <a:r>
              <a:rPr lang="es-ES" dirty="0"/>
              <a:t>Fuentes de datos.</a:t>
            </a:r>
          </a:p>
          <a:p>
            <a:r>
              <a:rPr lang="es-ES" dirty="0"/>
              <a:t>Herramienta grabar macro.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357172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9D5A6-6BC8-BAB4-068D-A80D78EF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Datos Censo Arbóreo Cali - 2015.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3A700F-6273-31D1-DF2C-C78547820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9197" cy="435133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ES" dirty="0"/>
              <a:t>El censo del arbolado urbano del municipio de Santiago de Cali, surgió, como respuesta a la necesidad de la ciudad, identificada por el DAGMA, de contar una herramienta básica para el manejo del arbolado urbano.</a:t>
            </a:r>
            <a:endParaRPr lang="es-EC" dirty="0"/>
          </a:p>
          <a:p>
            <a:endParaRPr lang="es-EC" dirty="0"/>
          </a:p>
          <a:p>
            <a:pPr marL="0" indent="0">
              <a:buNone/>
            </a:pPr>
            <a:r>
              <a:rPr lang="es-EC" dirty="0"/>
              <a:t>Este conjunto de datos cuenta información para las 22 comunas de la cuidad de Cali. Cuenta con 291090 registros fila y 98 columnas.</a:t>
            </a:r>
          </a:p>
          <a:p>
            <a:pPr marL="0" indent="0">
              <a:buNone/>
            </a:pPr>
            <a:endParaRPr lang="es-EC" dirty="0"/>
          </a:p>
          <a:p>
            <a:pPr marL="0" indent="0">
              <a:buNone/>
            </a:pPr>
            <a:r>
              <a:rPr lang="es-EC" dirty="0"/>
              <a:t>https://datos.cali.gov.co/dataset/censo-arboreo-de-santiago-de-cali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8EDB4B3-F8A5-BC3C-FCA8-F9CCA7DBD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021" y="1973704"/>
            <a:ext cx="3362180" cy="332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4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72001D-DD1F-18D1-EB47-72F566CC5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Actividad en Clase.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B4BA29-B55A-5292-DE0F-5A90B3107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49" y="1690687"/>
            <a:ext cx="6514383" cy="4569435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s-ES" sz="2400" dirty="0"/>
              <a:t>Descarguen los datos de la comuna 21 (Potrero Grande, Valle Grande y Compartir) y 22 (Cuidad Jardín,  Cañas Gordas, Pance).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ES" sz="2400" dirty="0"/>
              <a:t>Convertir los archivos de datos a formato xlsx.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ES" sz="2400" dirty="0"/>
              <a:t>Determine el número árboles por barrio en cada comuna.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ES" sz="2400" dirty="0"/>
              <a:t>Analice cuales son los árboles de mayor frecuencia en cada comuna (top 5).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ES" sz="2400" dirty="0"/>
              <a:t>Realice un diagrama de cajas comparando la altura de los árboles en función del tipo de árbol en cada comuna.</a:t>
            </a:r>
          </a:p>
          <a:p>
            <a:pPr marL="0" indent="0" algn="just">
              <a:buNone/>
            </a:pPr>
            <a:r>
              <a:rPr lang="es-ES" sz="2400" dirty="0"/>
              <a:t>Sugerencia: para el punto 3 y 4 realizar una tabla dinámica.</a:t>
            </a:r>
            <a:endParaRPr lang="es-EC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F26019-63D7-61F8-9AF9-E52546A09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911" y="1342841"/>
            <a:ext cx="4164168" cy="417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76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6F0BC-43EB-F8BB-75A4-038A3EF2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3753"/>
            <a:ext cx="10515600" cy="1325563"/>
          </a:xfrm>
        </p:spPr>
        <p:txBody>
          <a:bodyPr/>
          <a:lstStyle/>
          <a:p>
            <a:pPr algn="ctr"/>
            <a:r>
              <a:rPr lang="es-ES" b="1" dirty="0">
                <a:solidFill>
                  <a:schemeClr val="accent1"/>
                </a:solidFill>
              </a:rPr>
              <a:t>Tablas dinámicas.</a:t>
            </a:r>
            <a:endParaRPr lang="es-EC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860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A52CC-BFBC-9603-835D-60E69727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b="1" dirty="0">
                <a:solidFill>
                  <a:schemeClr val="accent1"/>
                </a:solidFill>
              </a:rPr>
              <a:t>Tablas dinámicas. 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9E8A3E-8C1F-742C-38B4-F6C722971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456" y="1811557"/>
            <a:ext cx="4817011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/>
              <a:t>Las tablas dinámicas en Excel son herramientas potentes para resumir, </a:t>
            </a:r>
            <a:r>
              <a:rPr lang="es-ES" b="1" dirty="0">
                <a:solidFill>
                  <a:schemeClr val="accent1"/>
                </a:solidFill>
              </a:rPr>
              <a:t>analizar y explorar grandes volúmenes de datos</a:t>
            </a:r>
            <a:r>
              <a:rPr lang="es-ES" dirty="0"/>
              <a:t> rápidamente, permitiendo agrupar información (como ventas totales por producto) con solo arrastrar y soltar campos. </a:t>
            </a:r>
          </a:p>
        </p:txBody>
      </p:sp>
      <p:pic>
        <p:nvPicPr>
          <p:cNvPr id="5" name="Imagen 4" descr="Pantalla de computadora&#10;&#10;El contenido generado por IA puede ser incorrecto.">
            <a:extLst>
              <a:ext uri="{FF2B5EF4-FFF2-40B4-BE49-F238E27FC236}">
                <a16:creationId xmlns:a16="http://schemas.microsoft.com/office/drawing/2014/main" id="{21160C52-B147-5565-D094-D31CE73E6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633" y="1267338"/>
            <a:ext cx="5992837" cy="489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5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0E059-A4B1-4CE8-F932-E8F1C864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Tablas dinámicas.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CCF4F5-D15E-1466-0405-5D119ADDA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02945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/>
              <a:t>Arrastrando a filas o a columnas podemos generar conteos, sumas o promedios para las categorías de una variable.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Se recomienda en el campo de valores dar clic donde dice </a:t>
            </a:r>
            <a:r>
              <a:rPr lang="es-ES" b="1" dirty="0">
                <a:solidFill>
                  <a:schemeClr val="accent1"/>
                </a:solidFill>
              </a:rPr>
              <a:t>configuración del campo de valor.</a:t>
            </a:r>
            <a:endParaRPr lang="es-EC" b="1" dirty="0">
              <a:solidFill>
                <a:schemeClr val="accent1"/>
              </a:solidFill>
            </a:endParaRPr>
          </a:p>
        </p:txBody>
      </p:sp>
      <p:pic>
        <p:nvPicPr>
          <p:cNvPr id="5" name="Imagen 4" descr="Interfaz de usuario gráfica, Aplicación, Tabla&#10;&#10;El contenido generado por IA puede ser incorrecto.">
            <a:extLst>
              <a:ext uri="{FF2B5EF4-FFF2-40B4-BE49-F238E27FC236}">
                <a16:creationId xmlns:a16="http://schemas.microsoft.com/office/drawing/2014/main" id="{57CE8136-C178-5A42-576F-6AE621701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7906"/>
            <a:ext cx="5636455" cy="455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75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C438B-E2DF-9138-3FFF-E5B5ED75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Tablas dinámicas y tablas cruzadas.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00BA5A-11A5-65FA-0A2F-EB5A68B8E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983" y="1690688"/>
            <a:ext cx="5154637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/>
              <a:t>Podemos fácilmente trabajar con 2 variables cualitativas por ejemplo barrio y </a:t>
            </a:r>
            <a:r>
              <a:rPr lang="es-ES" dirty="0" err="1"/>
              <a:t>nombre_comun</a:t>
            </a:r>
            <a:r>
              <a:rPr lang="es-ES" dirty="0"/>
              <a:t> del árbol, esto permite analizar cuantos tipos de árboles hay en cada barrio.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Posteriormente podemos realizar un gráfico de barras.</a:t>
            </a:r>
            <a:endParaRPr lang="es-EC" dirty="0"/>
          </a:p>
        </p:txBody>
      </p:sp>
      <p:pic>
        <p:nvPicPr>
          <p:cNvPr id="5" name="Imagen 4" descr="Interfaz de usuario gráfica, Aplicación, Tabla&#10;&#10;El contenido generado por IA puede ser incorrecto.">
            <a:extLst>
              <a:ext uri="{FF2B5EF4-FFF2-40B4-BE49-F238E27FC236}">
                <a16:creationId xmlns:a16="http://schemas.microsoft.com/office/drawing/2014/main" id="{8A6A564E-A8BF-BF18-6757-69AB604BD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837" y="1690689"/>
            <a:ext cx="5795888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493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E8B57-B40B-0D1D-E5DA-621C0024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906" y="252584"/>
            <a:ext cx="10086536" cy="1224524"/>
          </a:xfrm>
        </p:spPr>
        <p:txBody>
          <a:bodyPr>
            <a:normAutofit/>
          </a:bodyPr>
          <a:lstStyle/>
          <a:p>
            <a:r>
              <a:rPr lang="es-ES" sz="4000" b="1" dirty="0">
                <a:solidFill>
                  <a:schemeClr val="accent1"/>
                </a:solidFill>
              </a:rPr>
              <a:t>Diagrama de barras (barrio vs </a:t>
            </a:r>
            <a:r>
              <a:rPr lang="es-ES" sz="4000" b="1" dirty="0" err="1">
                <a:solidFill>
                  <a:schemeClr val="accent1"/>
                </a:solidFill>
              </a:rPr>
              <a:t>nombre_comun</a:t>
            </a:r>
            <a:r>
              <a:rPr lang="es-ES" sz="4000" b="1" dirty="0">
                <a:solidFill>
                  <a:schemeClr val="accent1"/>
                </a:solidFill>
              </a:rPr>
              <a:t>).</a:t>
            </a:r>
            <a:endParaRPr lang="es-EC" sz="4000" b="1" dirty="0">
              <a:solidFill>
                <a:schemeClr val="accent1"/>
              </a:solidFill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6A741946-100B-F2EE-CAE9-B38B20FD6A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6955573"/>
              </p:ext>
            </p:extLst>
          </p:nvPr>
        </p:nvGraphicFramePr>
        <p:xfrm>
          <a:off x="1955410" y="1589649"/>
          <a:ext cx="8004516" cy="4656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95061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00CB7-8135-9212-3E61-6177D0B1B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7068"/>
            <a:ext cx="10515600" cy="1325563"/>
          </a:xfrm>
        </p:spPr>
        <p:txBody>
          <a:bodyPr/>
          <a:lstStyle/>
          <a:p>
            <a:pPr algn="ctr"/>
            <a:r>
              <a:rPr lang="es-ES" b="1" dirty="0">
                <a:solidFill>
                  <a:schemeClr val="accent1"/>
                </a:solidFill>
              </a:rPr>
              <a:t>Fuentes de datos.</a:t>
            </a:r>
            <a:endParaRPr lang="es-EC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525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0E9AE-D45C-7E16-8B64-9480CA0C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Fuentes de datos a nivel nacional.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4A62E0-5E8B-3226-3978-16E6E0D8E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s-EC" dirty="0">
                <a:hlinkClick r:id="rId2"/>
              </a:rPr>
              <a:t>https://www.datos.gov.co/</a:t>
            </a:r>
            <a:endParaRPr lang="es-EC" dirty="0"/>
          </a:p>
          <a:p>
            <a:r>
              <a:rPr lang="es-EC" dirty="0">
                <a:hlinkClick r:id="rId3"/>
              </a:rPr>
              <a:t>https://microdatos.dane.gov.co/index.php/catalog/central/about</a:t>
            </a:r>
            <a:endParaRPr lang="es-EC" dirty="0"/>
          </a:p>
          <a:p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3A4866-2C98-9DCB-2CBC-CBD64C9154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090" y="3901073"/>
            <a:ext cx="3219450" cy="14192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4659A01-13FB-CDC6-26D9-9E2D7EFB15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328" y="4001294"/>
            <a:ext cx="322897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73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5595C-A0C0-BA09-86A8-21C5A8D1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Fuentes de datos a nivel internacional.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DC607-F64C-9022-8A91-4336C2227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>
                <a:hlinkClick r:id="rId2"/>
              </a:rPr>
              <a:t>https://www.kaggle.com/</a:t>
            </a:r>
            <a:endParaRPr lang="es-EC" dirty="0"/>
          </a:p>
          <a:p>
            <a:r>
              <a:rPr lang="es-EC" dirty="0">
                <a:hlinkClick r:id="rId3"/>
              </a:rPr>
              <a:t>https://archive.ics.uci.edu/</a:t>
            </a:r>
            <a:endParaRPr lang="es-EC" dirty="0"/>
          </a:p>
          <a:p>
            <a:r>
              <a:rPr lang="es-EC" dirty="0">
                <a:hlinkClick r:id="rId4"/>
              </a:rPr>
              <a:t>https://www.fao.org/faostat/es/#home</a:t>
            </a:r>
            <a:endParaRPr lang="es-EC" dirty="0"/>
          </a:p>
          <a:p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0D9A30-5413-0CA4-6950-2BC3CEC5E2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411" y="4314460"/>
            <a:ext cx="2999496" cy="115174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E1C2359-3C23-7639-9BAE-EDCEDE62F2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420" y="3599058"/>
            <a:ext cx="2577905" cy="257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320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C01CB-C37A-E106-858E-FA45C6823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5279"/>
            <a:ext cx="10515600" cy="1325563"/>
          </a:xfrm>
        </p:spPr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Herramientas grabar macro.</a:t>
            </a:r>
            <a:endParaRPr lang="es-EC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265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2D760-B9E7-E623-70F1-BA7ED7C4F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7" y="365125"/>
            <a:ext cx="10515600" cy="1325563"/>
          </a:xfrm>
        </p:spPr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Grabar macro.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9E9A24-C5F4-0DF1-466E-23D1237EB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117" y="1825625"/>
            <a:ext cx="4296508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/>
              <a:t>La herramienta </a:t>
            </a:r>
            <a:r>
              <a:rPr lang="es-ES" b="1" dirty="0">
                <a:solidFill>
                  <a:srgbClr val="FF0000"/>
                </a:solidFill>
              </a:rPr>
              <a:t>Grabar Macro</a:t>
            </a:r>
            <a:r>
              <a:rPr lang="es-ES" dirty="0"/>
              <a:t> en Excel y otros programas de Office permite automatizar tareas repetitivas capturando clics y pulsaciones de teclas para convertirlos en un script reutilizable (VBA) sin saber programar.</a:t>
            </a:r>
            <a:endParaRPr lang="es-EC" dirty="0"/>
          </a:p>
        </p:txBody>
      </p:sp>
      <p:pic>
        <p:nvPicPr>
          <p:cNvPr id="5" name="Imagen 4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F98E55EF-911C-D9C3-860E-29C5A0689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453" y="534572"/>
            <a:ext cx="6682154" cy="59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060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45F72-5B1F-0166-29B6-9F92D76C4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Grabar macro – Ejemplo iris.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A8FC40-3315-739A-E594-88E92C268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Descargar el archivo “irisMacro2.xlsm”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Ejecutar la macro haciendo clic en el botón “</a:t>
            </a:r>
            <a:r>
              <a:rPr lang="es-ES" dirty="0" err="1"/>
              <a:t>stats</a:t>
            </a:r>
            <a:r>
              <a:rPr lang="es-ES" dirty="0"/>
              <a:t>”.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Crear un nuevo botón llamado “cajas”, el cuál realice diagrama de cajas por especie y coloque las cajas con color azul, verde y rosado.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Coloque a prueba el botón realizado.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153781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CFF8A-E36A-441C-2AE3-98AF3A44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Código para la macro: botón “</a:t>
            </a:r>
            <a:r>
              <a:rPr lang="es-ES" b="1" dirty="0" err="1">
                <a:solidFill>
                  <a:schemeClr val="accent1"/>
                </a:solidFill>
              </a:rPr>
              <a:t>stats</a:t>
            </a:r>
            <a:r>
              <a:rPr lang="es-ES" b="1" dirty="0">
                <a:solidFill>
                  <a:schemeClr val="accent1"/>
                </a:solidFill>
              </a:rPr>
              <a:t>”.</a:t>
            </a:r>
            <a:endParaRPr lang="es-EC" b="1" dirty="0">
              <a:solidFill>
                <a:schemeClr val="accent1"/>
              </a:solidFill>
            </a:endParaRPr>
          </a:p>
        </p:txBody>
      </p:sp>
      <p:pic>
        <p:nvPicPr>
          <p:cNvPr id="7" name="Imagen 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51C9EFC-FA85-28FA-F8B7-6A60F6296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541" y="1684842"/>
            <a:ext cx="5509845" cy="4451543"/>
          </a:xfrm>
          <a:prstGeom prst="rect">
            <a:avLst/>
          </a:prstGeom>
        </p:spPr>
      </p:pic>
      <p:pic>
        <p:nvPicPr>
          <p:cNvPr id="11" name="Imagen 10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9620E00D-71F8-8C99-43FC-7CA6A32CA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55" y="1696534"/>
            <a:ext cx="5109555" cy="443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434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1862680C-E8CD-61FE-09F4-B716FE62D2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050" y="898177"/>
            <a:ext cx="5189836" cy="5227173"/>
          </a:xfrm>
        </p:spPr>
      </p:pic>
    </p:spTree>
    <p:extLst>
      <p:ext uri="{BB962C8B-B14F-4D97-AF65-F5344CB8AC3E}">
        <p14:creationId xmlns:p14="http://schemas.microsoft.com/office/powerpoint/2010/main" val="35800244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562</Words>
  <Application>Microsoft Office PowerPoint</Application>
  <PresentationFormat>Panorámica</PresentationFormat>
  <Paragraphs>54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de Office</vt:lpstr>
      <vt:lpstr>Clase 3 - Excel</vt:lpstr>
      <vt:lpstr>Tabla de contenido.</vt:lpstr>
      <vt:lpstr>Datos Censo Arbóreo Cali - 2015.</vt:lpstr>
      <vt:lpstr>Actividad en Clase.</vt:lpstr>
      <vt:lpstr>Tablas dinámicas.</vt:lpstr>
      <vt:lpstr>Tablas dinámicas. </vt:lpstr>
      <vt:lpstr>Tablas dinámicas.</vt:lpstr>
      <vt:lpstr>Tablas dinámicas y tablas cruzadas.</vt:lpstr>
      <vt:lpstr>Diagrama de barras (barrio vs nombre_comun).</vt:lpstr>
      <vt:lpstr>Fuentes de datos.</vt:lpstr>
      <vt:lpstr>Fuentes de datos a nivel nacional.</vt:lpstr>
      <vt:lpstr>Fuentes de datos a nivel internacional.</vt:lpstr>
      <vt:lpstr>Herramientas grabar macro.</vt:lpstr>
      <vt:lpstr>Grabar macro.</vt:lpstr>
      <vt:lpstr>Grabar macro – Ejemplo iris.</vt:lpstr>
      <vt:lpstr>Código para la macro: botón “stats”.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Administrador</dc:creator>
  <cp:lastModifiedBy>Administrador</cp:lastModifiedBy>
  <cp:revision>14</cp:revision>
  <dcterms:created xsi:type="dcterms:W3CDTF">2026-02-26T19:27:59Z</dcterms:created>
  <dcterms:modified xsi:type="dcterms:W3CDTF">2026-02-27T01:55:45Z</dcterms:modified>
</cp:coreProperties>
</file>