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A7330-389A-B160-658C-CFE827CB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884AB9-B0C7-251C-585F-3868BD003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AAE30C-0568-0527-1103-6B7D03B66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9963-1320-46DB-B689-58B0E71F7EB3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4383D-D8A2-1686-3B2C-32B3D1E58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599455-75BC-E4DE-462B-D39088527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A07E6-812F-4E28-A5CD-B8561982F72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50958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17817-9BB1-2E71-B12F-8C80A3DDE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D5E51F-DEC2-1BE5-3D15-3272C770A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F92DD4-3463-35FA-D02A-CAE4F481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9963-1320-46DB-B689-58B0E71F7EB3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37C242-4268-C856-FE5C-79B902A34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A21C67-C11B-8C78-0F86-25B35CAE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A07E6-812F-4E28-A5CD-B8561982F72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77892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308D8-5309-E97F-6218-023974E0C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AE66B9-25FB-A0C0-8408-4DFF3CBE4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4B3889-496E-0315-2A27-E07A0BE0F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9963-1320-46DB-B689-58B0E71F7EB3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99AF57-0218-B09A-F5BD-23F040B47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D5A0AF-779C-C451-FEB5-A23884354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A07E6-812F-4E28-A5CD-B8561982F72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22853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20290-4FDD-DACB-E0D6-C73D88492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BADDF8-F331-25C5-BA05-C173C3028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7FA7A8-2651-9BDE-6178-35537EA56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17013B-F13E-99AD-D7C8-7C07C2425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9963-1320-46DB-B689-58B0E71F7EB3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EFA054-A095-5795-BA42-6592481F8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55D5FE-C492-E70F-2C16-56E1DFF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A07E6-812F-4E28-A5CD-B8561982F72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6487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3434E-911E-23FC-0C76-8416B403E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349F58-56A0-7A09-A955-6BDB0C0A3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D3096D-4ADE-63B9-3C64-BF6DEB42E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2947357-4279-8FE5-1B1B-7680D7286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123301D-0B25-151E-D5FF-8DC5596BD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DF69AFA-2A59-DD75-1924-5BE3D5D6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9963-1320-46DB-B689-58B0E71F7EB3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AC1C77C-A244-7F2C-8FE7-40E9E9233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28C5CDE-F694-C1FF-9DF6-5F9FAE13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A07E6-812F-4E28-A5CD-B8561982F72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17227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C38C2-E56B-1319-C9FD-F8AE4E8B7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7CF43A-AD0C-CF5D-6094-AD3C1FCF9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9963-1320-46DB-B689-58B0E71F7EB3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C3F12C0-A119-EE2B-7047-AA1A2D6A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6E814BE-9D9C-8260-8B45-56276D34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A07E6-812F-4E28-A5CD-B8561982F72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95941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AE6F56-2EE8-26FA-13EC-9D7DBD597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9963-1320-46DB-B689-58B0E71F7EB3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4D5F688-58BB-ACDA-0772-A0E646029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BD2DA5-86AE-EFF5-FAED-A8D9534B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A07E6-812F-4E28-A5CD-B8561982F72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04059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6934B-E463-DB0A-1994-EDE97F7DF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9FEFB-DAD1-3E08-EBD0-191C5E9CC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E9BC02-D323-AF5A-C4B6-E1DF4F87A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87E7AC-BE22-8838-1577-6E4C51CFD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9963-1320-46DB-B689-58B0E71F7EB3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24EBB7-02C5-3279-237E-A5B502569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D1C29F-FC88-EF7B-A592-F97EC3E98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A07E6-812F-4E28-A5CD-B8561982F72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0439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38F3D-567B-41AB-B0B3-9D9A4171C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DF3074F-78C7-C971-2517-2B54CCE5C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200C9B-708F-9EF0-BBBE-8057571E3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7B9C72-01C7-58FD-01BF-5B43FE5D5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9963-1320-46DB-B689-58B0E71F7EB3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FF07E-AB08-2B57-ECD3-82032E2DF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24F099-15CF-0B59-AA64-4E177B290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A07E6-812F-4E28-A5CD-B8561982F72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61938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374EE-88C3-5E9C-83F1-98C6AE777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A994CB4-3369-93E2-94A5-53D067103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DD920C-D457-B2D3-78D0-330E1F11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9963-1320-46DB-B689-58B0E71F7EB3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E8F793-AF14-BC48-5B02-AF2F9A851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D52E24-FAD1-59C5-2FD1-34C8652F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A07E6-812F-4E28-A5CD-B8561982F72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24913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C9B88C-757E-22A6-6AB2-B8BBE0BC2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052A21-BBBA-E463-0E41-85AA1A71C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B57627-06EC-1322-BF08-8FDAA92E7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9963-1320-46DB-B689-58B0E71F7EB3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00FE0C-680F-E3B8-4B87-B0E943389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5AEC7D-96EA-C54F-D0AD-D6680594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A07E6-812F-4E28-A5CD-B8561982F72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6288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9775EF7-2138-335F-2326-5E1F0BE53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84BE97-97A0-A6BB-E696-D077F2647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17E631-89C1-FE5B-477F-FD51F8F6B8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59963-1320-46DB-B689-58B0E71F7EB3}" type="datetimeFigureOut">
              <a:rPr lang="es-EC" smtClean="0"/>
              <a:t>12/2/2026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B1941A-540E-7CD4-6489-235E1E905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BC8D92-EC92-F802-ADE3-3F807D47E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A07E6-812F-4E28-A5CD-B8561982F72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85446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dresOchoaRSA" TargetMode="External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univalle-git.opcloud.uk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Overleaf&amp;rlz=1C1GCEA_enEC894EC894&amp;oq=que+es+overleaft&amp;gs_lcrp=EgZjaHJvbWUyBggAEEUYOTIJCAEQABgNGIAEMgkIAhAAGA0YgAQyCAgDEAAYDRgeMggIBBAAGA0YHjIICAUQABgNGB4yCggGEAAYgAQYogQyBwgHEAAY7wXSAQg0Nzc1ajBqN6gCALACAA&amp;sourceid=chrome&amp;ie=UTF-8&amp;ved=2ahUKEwj6revF89GSAxXsTDABHYYABtAQgK4QegYIAQgAEAM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dresOchoaRSA/Procesamiento-de-Datos/tree/main/clase1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6F154-C3FB-C830-1D35-949748F6B4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Procesamiento de Datos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B5CC88-0992-3A1D-6AA5-EA4A2AE026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Clase 1: GitHub, </a:t>
            </a:r>
            <a:r>
              <a:rPr lang="es-ES" dirty="0" err="1"/>
              <a:t>Overleaf</a:t>
            </a:r>
            <a:r>
              <a:rPr lang="es-ES" dirty="0"/>
              <a:t> y Excel.</a:t>
            </a:r>
          </a:p>
          <a:p>
            <a:endParaRPr lang="es-ES" dirty="0"/>
          </a:p>
          <a:p>
            <a:r>
              <a:rPr lang="es-ES" dirty="0"/>
              <a:t>Andrés Felipe Ochoa Muñoz</a:t>
            </a:r>
          </a:p>
          <a:p>
            <a:r>
              <a:rPr lang="es-ES" dirty="0"/>
              <a:t>andres.ochoa@correounivalle.edu.co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684696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7CE31-FD43-C396-4BF3-3FB94AF2D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Contenido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65B5F-87CB-BE9D-6FA3-CC8D09126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Introducción a GitHub.</a:t>
            </a:r>
          </a:p>
          <a:p>
            <a:r>
              <a:rPr lang="es-ES" dirty="0" err="1"/>
              <a:t>Overleaf</a:t>
            </a:r>
            <a:r>
              <a:rPr lang="es-ES" dirty="0"/>
              <a:t> para la realización de informes y diapositivas.</a:t>
            </a:r>
          </a:p>
          <a:p>
            <a:r>
              <a:rPr lang="es-ES" dirty="0"/>
              <a:t>Práctica en Excel para análisis de datos.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837687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01AA7-59D8-36A4-6D30-18824208B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GitHub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A57FC6-DF34-2089-CBA9-E777B084F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ES" dirty="0"/>
              <a:t>GitHub es una plataforma en la nube basada en Git que funciona como un servicio de alojamiento para repositorios de código y gestión de proyectos colaborativos. </a:t>
            </a:r>
          </a:p>
          <a:p>
            <a:pPr algn="just"/>
            <a:r>
              <a:rPr lang="es-ES" dirty="0"/>
              <a:t>Permite a los desarrolladores almacenar su código, realizar un seguimiento de los cambios (control de versiones), colaborar con otros en tiempo real y compartir proyectos. </a:t>
            </a:r>
            <a:endParaRPr lang="es-EC" dirty="0"/>
          </a:p>
          <a:p>
            <a:pPr algn="just"/>
            <a:endParaRPr lang="es-EC" dirty="0"/>
          </a:p>
          <a:p>
            <a:r>
              <a:rPr lang="es-EC" dirty="0">
                <a:hlinkClick r:id="rId2"/>
              </a:rPr>
              <a:t>https://github.com/</a:t>
            </a:r>
            <a:endParaRPr lang="es-EC" dirty="0"/>
          </a:p>
          <a:p>
            <a:r>
              <a:rPr lang="es-EC" dirty="0">
                <a:hlinkClick r:id="rId3"/>
              </a:rPr>
              <a:t>https://github.com/AndresOchoaRSA</a:t>
            </a:r>
            <a:endParaRPr lang="es-EC" dirty="0"/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899047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A020A-1352-4FF9-D7F6-A149DFB13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Repositorios GitHub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787722-EB6D-27F9-D634-6A9B033F9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5148" cy="4351338"/>
          </a:xfrm>
        </p:spPr>
        <p:txBody>
          <a:bodyPr/>
          <a:lstStyle/>
          <a:p>
            <a:r>
              <a:rPr lang="es-ES" dirty="0"/>
              <a:t>Para crear un repositorio:</a:t>
            </a:r>
          </a:p>
          <a:p>
            <a:pPr marL="0" indent="0">
              <a:buNone/>
            </a:pPr>
            <a:endParaRPr lang="es-EC" dirty="0"/>
          </a:p>
          <a:p>
            <a:pPr marL="0" indent="0">
              <a:buNone/>
            </a:pPr>
            <a:r>
              <a:rPr lang="es-EC" dirty="0"/>
              <a:t>Indicamos donde dice: New </a:t>
            </a:r>
            <a:r>
              <a:rPr lang="es-EC" dirty="0" err="1"/>
              <a:t>repository</a:t>
            </a:r>
            <a:r>
              <a:rPr lang="es-EC" dirty="0"/>
              <a:t>.</a:t>
            </a:r>
          </a:p>
          <a:p>
            <a:pPr marL="0" indent="0">
              <a:buNone/>
            </a:pPr>
            <a:endParaRPr lang="es-EC" dirty="0"/>
          </a:p>
          <a:p>
            <a:pPr marL="0" indent="0">
              <a:buNone/>
            </a:pPr>
            <a:r>
              <a:rPr lang="es-EC" dirty="0"/>
              <a:t>Ahí podemos decir el nombre del repositorio, una descripción del repositorio y si lo queremos público o privado.</a:t>
            </a:r>
            <a:endParaRPr lang="es-ES" dirty="0"/>
          </a:p>
        </p:txBody>
      </p:sp>
      <p:pic>
        <p:nvPicPr>
          <p:cNvPr id="7" name="Imagen 6" descr="Captura de pantalla de un videojuego&#10;&#10;El contenido generado por IA puede ser incorrecto.">
            <a:extLst>
              <a:ext uri="{FF2B5EF4-FFF2-40B4-BE49-F238E27FC236}">
                <a16:creationId xmlns:a16="http://schemas.microsoft.com/office/drawing/2014/main" id="{D5527AED-EA85-165E-FB44-ACDE31661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285" y="1139483"/>
            <a:ext cx="5955305" cy="479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621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EA9B3-E542-A8BF-B0C3-896501887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Repositorios GitHub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DC0D2E-5981-6894-AB5D-8FADDA5A5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43622" cy="4351338"/>
          </a:xfrm>
        </p:spPr>
        <p:txBody>
          <a:bodyPr/>
          <a:lstStyle/>
          <a:p>
            <a:r>
              <a:rPr lang="es-ES" dirty="0"/>
              <a:t>Puedes utilizar </a:t>
            </a:r>
            <a:r>
              <a:rPr lang="es-ES" dirty="0" err="1"/>
              <a:t>copilot</a:t>
            </a:r>
            <a:r>
              <a:rPr lang="es-ES" dirty="0"/>
              <a:t> como asistente virtual.</a:t>
            </a:r>
          </a:p>
          <a:p>
            <a:r>
              <a:rPr lang="es-ES" dirty="0"/>
              <a:t>También invitar colaboradores al repositorio GitHub.</a:t>
            </a:r>
          </a:p>
          <a:p>
            <a:r>
              <a:rPr lang="es-ES" dirty="0"/>
              <a:t>Para empezar a subir archivos al repositorio se recomienda el botón: </a:t>
            </a:r>
            <a:r>
              <a:rPr lang="es-ES" dirty="0" err="1"/>
              <a:t>uploading</a:t>
            </a:r>
            <a:r>
              <a:rPr lang="es-ES" dirty="0"/>
              <a:t> </a:t>
            </a:r>
            <a:r>
              <a:rPr lang="es-ES" dirty="0" err="1"/>
              <a:t>an</a:t>
            </a:r>
            <a:r>
              <a:rPr lang="es-ES" dirty="0"/>
              <a:t> </a:t>
            </a:r>
            <a:r>
              <a:rPr lang="es-ES" dirty="0" err="1"/>
              <a:t>existing</a:t>
            </a:r>
            <a:r>
              <a:rPr lang="es-ES" dirty="0"/>
              <a:t> file.</a:t>
            </a:r>
            <a:endParaRPr lang="es-EC" dirty="0"/>
          </a:p>
        </p:txBody>
      </p:sp>
      <p:pic>
        <p:nvPicPr>
          <p:cNvPr id="5" name="Imagen 4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D728F043-5ACA-0772-8EE7-490E0A1D3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431" y="365125"/>
            <a:ext cx="6152269" cy="598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16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5D19B-C0C0-92DB-4795-80EABFB3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Carpetas en GitHub.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74C83D-C972-CCBC-83E2-5A63C983B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04938" cy="4351338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Para crear una carpeta dentro del repositorio utilizamos lo siguiente:</a:t>
            </a:r>
          </a:p>
          <a:p>
            <a:endParaRPr lang="es-ES" dirty="0"/>
          </a:p>
          <a:p>
            <a:pPr marL="514350" indent="-514350">
              <a:buFont typeface="+mj-lt"/>
              <a:buAutoNum type="arabicPeriod"/>
            </a:pPr>
            <a:r>
              <a:rPr lang="es-EC" dirty="0"/>
              <a:t>Entra en el repositorio GitHub.</a:t>
            </a:r>
          </a:p>
          <a:p>
            <a:pPr marL="514350" indent="-514350">
              <a:buFont typeface="+mj-lt"/>
              <a:buAutoNum type="arabicPeriod"/>
            </a:pPr>
            <a:r>
              <a:rPr lang="es-EC" dirty="0"/>
              <a:t>Haz clic en “</a:t>
            </a:r>
            <a:r>
              <a:rPr lang="es-EC" dirty="0" err="1"/>
              <a:t>Add</a:t>
            </a:r>
            <a:r>
              <a:rPr lang="es-EC" dirty="0"/>
              <a:t> file” luego “</a:t>
            </a:r>
            <a:r>
              <a:rPr lang="es-EC" dirty="0" err="1"/>
              <a:t>Create</a:t>
            </a:r>
            <a:r>
              <a:rPr lang="es-EC" dirty="0"/>
              <a:t> a new file”.</a:t>
            </a:r>
          </a:p>
          <a:p>
            <a:pPr marL="514350" indent="-514350">
              <a:buFont typeface="+mj-lt"/>
              <a:buAutoNum type="arabicPeriod"/>
            </a:pPr>
            <a:r>
              <a:rPr lang="es-EC" dirty="0"/>
              <a:t>En el campo del nombre del archivo escribe:</a:t>
            </a:r>
          </a:p>
          <a:p>
            <a:pPr marL="0" indent="0">
              <a:buNone/>
            </a:pPr>
            <a:endParaRPr lang="es-EC" dirty="0"/>
          </a:p>
          <a:p>
            <a:pPr marL="0" indent="0">
              <a:buNone/>
            </a:pPr>
            <a:r>
              <a:rPr lang="es-EC" dirty="0" err="1"/>
              <a:t>nombre_carpeta</a:t>
            </a:r>
            <a:r>
              <a:rPr lang="es-EC" dirty="0"/>
              <a:t>/</a:t>
            </a:r>
            <a:r>
              <a:rPr lang="es-EC" dirty="0" err="1"/>
              <a:t>nombre_archivo.ext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523690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5A787-03F9-800C-B912-D3A3898BB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Sobre la capacidad de Almacenamiento.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F37833-B029-CA7E-6583-9C825BFF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 recomienda en los repositorios mantener menos de ~1GB, esto con el fin de que funcione rápido al clonar o descargar.</a:t>
            </a:r>
          </a:p>
          <a:p>
            <a:r>
              <a:rPr lang="es-ES" dirty="0"/>
              <a:t>Cada archivo dentro del repositorio tiene un limite de ~25MB (si están subiendo los archivos por el navegador).</a:t>
            </a:r>
          </a:p>
          <a:p>
            <a:r>
              <a:rPr lang="es-ES" dirty="0"/>
              <a:t>En caso de necesitar subir archivos grandes como imágenes, videos o </a:t>
            </a:r>
            <a:r>
              <a:rPr lang="es-ES" dirty="0" err="1"/>
              <a:t>datasets</a:t>
            </a:r>
            <a:r>
              <a:rPr lang="es-ES" dirty="0"/>
              <a:t> grandes. Ahí se recomienda Git </a:t>
            </a:r>
            <a:r>
              <a:rPr lang="es-ES" dirty="0" err="1"/>
              <a:t>Large</a:t>
            </a:r>
            <a:r>
              <a:rPr lang="es-ES" dirty="0"/>
              <a:t> File Storage (LFS).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C" dirty="0"/>
              <a:t>https://git-lfs.com/</a:t>
            </a:r>
          </a:p>
        </p:txBody>
      </p:sp>
    </p:spTree>
    <p:extLst>
      <p:ext uri="{BB962C8B-B14F-4D97-AF65-F5344CB8AC3E}">
        <p14:creationId xmlns:p14="http://schemas.microsoft.com/office/powerpoint/2010/main" val="3319034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B612B-CD9A-062E-6FFE-18099A92E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Git-Tea de la Escuela de Estadística.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22F3E9-5155-2EB4-CDE0-677872B3A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24643" cy="4351338"/>
          </a:xfrm>
        </p:spPr>
        <p:txBody>
          <a:bodyPr/>
          <a:lstStyle/>
          <a:p>
            <a:r>
              <a:rPr lang="es-EC" dirty="0">
                <a:hlinkClick r:id="rId2"/>
              </a:rPr>
              <a:t>https://univalle-git.opcloud.uk/</a:t>
            </a:r>
            <a:endParaRPr lang="es-EC" dirty="0"/>
          </a:p>
          <a:p>
            <a:endParaRPr lang="es-EC" dirty="0"/>
          </a:p>
          <a:p>
            <a:r>
              <a:rPr lang="es-EC" dirty="0"/>
              <a:t>Es una plataforma pensada para hacer repositorios de la Escuela de Estadística (docentes y estudiantes).</a:t>
            </a:r>
          </a:p>
          <a:p>
            <a:endParaRPr lang="es-EC" dirty="0"/>
          </a:p>
          <a:p>
            <a:r>
              <a:rPr lang="es-EC" dirty="0"/>
              <a:t>Funciona similar a GitHub.</a:t>
            </a:r>
          </a:p>
        </p:txBody>
      </p:sp>
      <p:pic>
        <p:nvPicPr>
          <p:cNvPr id="5" name="Imagen 4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56AC5D64-F35C-E382-2D70-A8767E55C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589649"/>
            <a:ext cx="6564922" cy="490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84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3E27B-2B49-688F-148F-349E0C75F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945" y="1434905"/>
            <a:ext cx="10515600" cy="2126787"/>
          </a:xfrm>
        </p:spPr>
        <p:txBody>
          <a:bodyPr>
            <a:normAutofit/>
          </a:bodyPr>
          <a:lstStyle/>
          <a:p>
            <a:pPr algn="ctr"/>
            <a:r>
              <a:rPr lang="es-ES" b="1" dirty="0" err="1">
                <a:solidFill>
                  <a:schemeClr val="accent1"/>
                </a:solidFill>
              </a:rPr>
              <a:t>Overleaf</a:t>
            </a:r>
            <a:br>
              <a:rPr lang="es-ES" b="1" dirty="0">
                <a:solidFill>
                  <a:schemeClr val="accent1"/>
                </a:solidFill>
              </a:rPr>
            </a:br>
            <a:br>
              <a:rPr lang="es-ES" b="1" dirty="0">
                <a:solidFill>
                  <a:schemeClr val="accent1"/>
                </a:solidFill>
              </a:rPr>
            </a:br>
            <a:r>
              <a:rPr lang="es-ES" b="1" dirty="0">
                <a:solidFill>
                  <a:schemeClr val="accent1"/>
                </a:solidFill>
              </a:rPr>
              <a:t>Para creación de documentos y diapositivas.</a:t>
            </a:r>
            <a:endParaRPr lang="es-EC" b="1" dirty="0">
              <a:solidFill>
                <a:schemeClr val="accent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90A532-1A7E-59FC-6AF2-C54C6B74E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27" y="3561692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000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86F90-2751-06BD-312D-7ADE60F6E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>
                <a:solidFill>
                  <a:schemeClr val="accent1"/>
                </a:solidFill>
              </a:rPr>
              <a:t>Overleaf</a:t>
            </a:r>
            <a:r>
              <a:rPr lang="es-ES" b="1" dirty="0">
                <a:solidFill>
                  <a:schemeClr val="accent1"/>
                </a:solidFill>
              </a:rPr>
              <a:t>.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6E55C9-9359-5CD6-1F9C-ECAE191AB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 err="1">
                <a:hlinkClick r:id="rId2"/>
              </a:rPr>
              <a:t>Overleaf</a:t>
            </a:r>
            <a:r>
              <a:rPr lang="es-ES" dirty="0"/>
              <a:t> es un editor de texto en línea basado en la nube, diseñado para crear, editar y publicar documentos científicos y técnicos utilizando LaTeX de forma colaborativa y en tiempo real. 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Funciona como un "Google </a:t>
            </a:r>
            <a:r>
              <a:rPr lang="es-ES" dirty="0" err="1"/>
              <a:t>Docs</a:t>
            </a:r>
            <a:r>
              <a:rPr lang="es-ES" dirty="0"/>
              <a:t>" para LaTeX, permitiendo a múltiples usuarios trabajar simultáneamente, visualizar cambios al instante y utilizar plantillas predefinidas sin instalar software. 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036973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78007-10C2-3444-78AE-8FFA1E7D1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>
                <a:solidFill>
                  <a:schemeClr val="accent1"/>
                </a:solidFill>
              </a:rPr>
              <a:t>Overleaf</a:t>
            </a:r>
            <a:r>
              <a:rPr lang="es-ES" b="1" dirty="0">
                <a:solidFill>
                  <a:schemeClr val="accent1"/>
                </a:solidFill>
              </a:rPr>
              <a:t>.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2CE79D-F85A-9890-EF29-ED851FBD3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09049" cy="4351338"/>
          </a:xfrm>
        </p:spPr>
        <p:txBody>
          <a:bodyPr/>
          <a:lstStyle/>
          <a:p>
            <a:r>
              <a:rPr lang="es-ES" dirty="0"/>
              <a:t>Funciona muy bien con un correo de Gmail.</a:t>
            </a:r>
          </a:p>
          <a:p>
            <a:endParaRPr lang="es-ES" dirty="0"/>
          </a:p>
          <a:p>
            <a:r>
              <a:rPr lang="es-ES" dirty="0"/>
              <a:t>Una vez iniciada la sección, indicamos donde dice New Project y buscamos alguna plantilla de interés.</a:t>
            </a:r>
          </a:p>
          <a:p>
            <a:endParaRPr lang="es-ES" dirty="0"/>
          </a:p>
          <a:p>
            <a:endParaRPr lang="es-EC" dirty="0"/>
          </a:p>
        </p:txBody>
      </p:sp>
      <p:pic>
        <p:nvPicPr>
          <p:cNvPr id="5" name="Imagen 4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B92478D7-C18B-453B-7503-A5CA7D0C6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11798"/>
            <a:ext cx="6283569" cy="618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648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B9E92-D77D-5590-9FB4-499A93D4C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>
                <a:solidFill>
                  <a:schemeClr val="accent1"/>
                </a:solidFill>
              </a:rPr>
              <a:t>Overleaf</a:t>
            </a:r>
            <a:r>
              <a:rPr lang="es-ES" b="1" dirty="0">
                <a:solidFill>
                  <a:schemeClr val="accent1"/>
                </a:solidFill>
              </a:rPr>
              <a:t> – Ecuaciones.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C19608-64E7-BE6E-2DE0-AA3147C72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 bastante útil para el manejo de ecuaciones, algunos ejemplos: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dirty="0"/>
              <a:t>$$  \bar(x) =\frac{\sum^{n}_{i=1} x_{i}}  {n} $$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dirty="0"/>
              <a:t>\</a:t>
            </a:r>
            <a:r>
              <a:rPr lang="es-ES" dirty="0" err="1"/>
              <a:t>begin</a:t>
            </a:r>
            <a:r>
              <a:rPr lang="es-ES" dirty="0"/>
              <a:t>{</a:t>
            </a:r>
            <a:r>
              <a:rPr lang="es-ES" dirty="0" err="1"/>
              <a:t>equation</a:t>
            </a:r>
            <a:r>
              <a:rPr lang="es-ES" dirty="0"/>
              <a:t>}</a:t>
            </a:r>
          </a:p>
          <a:p>
            <a:pPr marL="0" indent="0">
              <a:buNone/>
            </a:pPr>
            <a:r>
              <a:rPr lang="es-ES" dirty="0"/>
              <a:t>\sigma= \</a:t>
            </a:r>
            <a:r>
              <a:rPr lang="es-ES" dirty="0" err="1"/>
              <a:t>sqrt</a:t>
            </a:r>
            <a:r>
              <a:rPr lang="es-ES" dirty="0"/>
              <a:t>{   \sum^{n}_{i=1} (x_{i} - \bar{x})^2 / n  }</a:t>
            </a:r>
          </a:p>
          <a:p>
            <a:pPr marL="0" indent="0">
              <a:buNone/>
            </a:pPr>
            <a:r>
              <a:rPr lang="es-ES" dirty="0"/>
              <a:t>\</a:t>
            </a:r>
            <a:r>
              <a:rPr lang="es-ES" dirty="0" err="1"/>
              <a:t>end</a:t>
            </a:r>
            <a:r>
              <a:rPr lang="es-ES" dirty="0"/>
              <a:t>{</a:t>
            </a:r>
            <a:r>
              <a:rPr lang="es-ES" dirty="0" err="1"/>
              <a:t>equation</a:t>
            </a:r>
            <a:r>
              <a:rPr lang="es-ES" dirty="0"/>
              <a:t>}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700641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0EC5C4-8E2E-2ED2-DF60-CBC80191B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>
                <a:solidFill>
                  <a:schemeClr val="accent1"/>
                </a:solidFill>
              </a:rPr>
              <a:t>Overleaf</a:t>
            </a:r>
            <a:r>
              <a:rPr lang="es-ES" b="1" dirty="0">
                <a:solidFill>
                  <a:schemeClr val="accent1"/>
                </a:solidFill>
              </a:rPr>
              <a:t> – Imágenes.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D62E8D-8849-FECB-1E97-E979A2ED6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544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/>
              <a:t>Overleaf</a:t>
            </a:r>
            <a:r>
              <a:rPr lang="es-ES" sz="2400" dirty="0"/>
              <a:t> permite cargar distintos formatos de imágenes en el texto, ya sean </a:t>
            </a:r>
            <a:r>
              <a:rPr lang="es-ES" sz="2400" dirty="0" err="1"/>
              <a:t>pdf</a:t>
            </a:r>
            <a:r>
              <a:rPr lang="es-ES" sz="2400" dirty="0"/>
              <a:t>, png o </a:t>
            </a:r>
            <a:r>
              <a:rPr lang="es-ES" sz="2400" dirty="0" err="1"/>
              <a:t>eps</a:t>
            </a:r>
            <a:r>
              <a:rPr lang="es-ES" sz="2400" dirty="0"/>
              <a:t>. Un ejemplo para que la imagen salga en el documento es:</a:t>
            </a:r>
          </a:p>
          <a:p>
            <a:endParaRPr lang="es-ES" dirty="0"/>
          </a:p>
          <a:p>
            <a:pPr marL="0" indent="0">
              <a:buNone/>
            </a:pPr>
            <a:r>
              <a:rPr lang="es-EC" sz="2400" dirty="0"/>
              <a:t>\</a:t>
            </a:r>
            <a:r>
              <a:rPr lang="es-EC" sz="2400" dirty="0" err="1"/>
              <a:t>begin</a:t>
            </a:r>
            <a:r>
              <a:rPr lang="es-EC" sz="2400" dirty="0"/>
              <a:t>{figure}[h!]    </a:t>
            </a:r>
          </a:p>
          <a:p>
            <a:pPr marL="0" indent="0">
              <a:buNone/>
            </a:pPr>
            <a:r>
              <a:rPr lang="es-EC" sz="2400" dirty="0"/>
              <a:t>\</a:t>
            </a:r>
            <a:r>
              <a:rPr lang="es-EC" sz="2400" dirty="0" err="1"/>
              <a:t>centering</a:t>
            </a:r>
            <a:r>
              <a:rPr lang="es-EC" sz="2400" dirty="0"/>
              <a:t>    </a:t>
            </a:r>
          </a:p>
          <a:p>
            <a:pPr marL="0" indent="0">
              <a:buNone/>
            </a:pPr>
            <a:r>
              <a:rPr lang="es-EC" sz="2400" dirty="0"/>
              <a:t>\</a:t>
            </a:r>
            <a:r>
              <a:rPr lang="es-EC" sz="2400" dirty="0" err="1"/>
              <a:t>includegraphics</a:t>
            </a:r>
            <a:r>
              <a:rPr lang="es-EC" sz="2400" dirty="0"/>
              <a:t>[</a:t>
            </a:r>
            <a:r>
              <a:rPr lang="es-EC" sz="2400" dirty="0" err="1"/>
              <a:t>width</a:t>
            </a:r>
            <a:r>
              <a:rPr lang="es-EC" sz="2400" dirty="0"/>
              <a:t>=0.9\</a:t>
            </a:r>
            <a:r>
              <a:rPr lang="es-EC" sz="2400" dirty="0" err="1"/>
              <a:t>linewidth</a:t>
            </a:r>
            <a:r>
              <a:rPr lang="es-EC" sz="2400" dirty="0"/>
              <a:t>]{cronograma.png}</a:t>
            </a:r>
          </a:p>
          <a:p>
            <a:pPr marL="0" indent="0">
              <a:buNone/>
            </a:pPr>
            <a:r>
              <a:rPr lang="es-EC" sz="2400" dirty="0"/>
              <a:t>\</a:t>
            </a:r>
            <a:r>
              <a:rPr lang="es-EC" sz="2400" dirty="0" err="1"/>
              <a:t>caption</a:t>
            </a:r>
            <a:r>
              <a:rPr lang="es-EC" sz="2400" dirty="0"/>
              <a:t>{Cronograma para el año 2026.}  </a:t>
            </a:r>
          </a:p>
          <a:p>
            <a:pPr marL="0" indent="0">
              <a:buNone/>
            </a:pPr>
            <a:r>
              <a:rPr lang="es-EC" sz="2400" dirty="0"/>
              <a:t>\</a:t>
            </a:r>
            <a:r>
              <a:rPr lang="es-EC" sz="2400" dirty="0" err="1"/>
              <a:t>label</a:t>
            </a:r>
            <a:r>
              <a:rPr lang="es-EC" sz="2400" dirty="0"/>
              <a:t>{Figura1BMI}</a:t>
            </a:r>
          </a:p>
          <a:p>
            <a:pPr marL="0" indent="0">
              <a:buNone/>
            </a:pPr>
            <a:r>
              <a:rPr lang="es-EC" sz="2400" dirty="0"/>
              <a:t>\</a:t>
            </a:r>
            <a:r>
              <a:rPr lang="es-EC" sz="2400" dirty="0" err="1"/>
              <a:t>end</a:t>
            </a:r>
            <a:r>
              <a:rPr lang="es-EC" sz="2400" dirty="0"/>
              <a:t>{figure}</a:t>
            </a:r>
          </a:p>
        </p:txBody>
      </p:sp>
    </p:spTree>
    <p:extLst>
      <p:ext uri="{BB962C8B-B14F-4D97-AF65-F5344CB8AC3E}">
        <p14:creationId xmlns:p14="http://schemas.microsoft.com/office/powerpoint/2010/main" val="1649448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612C3-CE32-DDFA-1609-07C2BB78C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>
                <a:solidFill>
                  <a:schemeClr val="accent1"/>
                </a:solidFill>
              </a:rPr>
              <a:t>Overleaf</a:t>
            </a:r>
            <a:r>
              <a:rPr lang="es-ES" b="1" dirty="0">
                <a:solidFill>
                  <a:schemeClr val="accent1"/>
                </a:solidFill>
              </a:rPr>
              <a:t> – Tablas.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C4FF5E-F2D3-2E30-1E84-72CED06D8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5243"/>
            <a:ext cx="10515600" cy="467172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EC" dirty="0"/>
              <a:t>\</a:t>
            </a:r>
            <a:r>
              <a:rPr lang="es-EC" dirty="0" err="1"/>
              <a:t>begin</a:t>
            </a:r>
            <a:r>
              <a:rPr lang="es-EC" dirty="0"/>
              <a:t>{table}[h!]  </a:t>
            </a:r>
          </a:p>
          <a:p>
            <a:pPr marL="0" indent="0">
              <a:buNone/>
            </a:pPr>
            <a:r>
              <a:rPr lang="es-EC" dirty="0"/>
              <a:t> \</a:t>
            </a:r>
            <a:r>
              <a:rPr lang="es-EC" dirty="0" err="1"/>
              <a:t>centering</a:t>
            </a:r>
            <a:r>
              <a:rPr lang="es-EC" dirty="0"/>
              <a:t>    </a:t>
            </a:r>
          </a:p>
          <a:p>
            <a:pPr marL="0" indent="0">
              <a:buNone/>
            </a:pPr>
            <a:r>
              <a:rPr lang="es-EC" dirty="0"/>
              <a:t>\</a:t>
            </a:r>
            <a:r>
              <a:rPr lang="es-EC" dirty="0" err="1"/>
              <a:t>begin</a:t>
            </a:r>
            <a:r>
              <a:rPr lang="es-EC" dirty="0"/>
              <a:t>{tabular}{</a:t>
            </a:r>
            <a:r>
              <a:rPr lang="es-EC" dirty="0" err="1"/>
              <a:t>c|c</a:t>
            </a:r>
            <a:r>
              <a:rPr lang="es-EC" dirty="0"/>
              <a:t>}   </a:t>
            </a:r>
          </a:p>
          <a:p>
            <a:pPr marL="0" indent="0">
              <a:buNone/>
            </a:pPr>
            <a:r>
              <a:rPr lang="es-EC" dirty="0"/>
              <a:t> \</a:t>
            </a:r>
            <a:r>
              <a:rPr lang="es-EC" dirty="0" err="1"/>
              <a:t>hline</a:t>
            </a:r>
            <a:r>
              <a:rPr lang="es-EC" dirty="0"/>
              <a:t>   </a:t>
            </a:r>
          </a:p>
          <a:p>
            <a:pPr marL="0" indent="0">
              <a:buNone/>
            </a:pPr>
            <a:r>
              <a:rPr lang="es-EC" dirty="0"/>
              <a:t> Rubros     &amp;  Monto \\   </a:t>
            </a:r>
          </a:p>
          <a:p>
            <a:pPr marL="0" indent="0">
              <a:buNone/>
            </a:pPr>
            <a:r>
              <a:rPr lang="es-EC" dirty="0"/>
              <a:t> \</a:t>
            </a:r>
            <a:r>
              <a:rPr lang="es-EC" dirty="0" err="1"/>
              <a:t>hline</a:t>
            </a:r>
            <a:r>
              <a:rPr lang="es-EC" dirty="0"/>
              <a:t> </a:t>
            </a:r>
          </a:p>
          <a:p>
            <a:pPr marL="0" indent="0">
              <a:buNone/>
            </a:pPr>
            <a:r>
              <a:rPr lang="es-EC" dirty="0"/>
              <a:t>  Investigador     &amp; 14.000.000\\ </a:t>
            </a:r>
          </a:p>
          <a:p>
            <a:pPr marL="0" indent="0">
              <a:buNone/>
            </a:pPr>
            <a:r>
              <a:rPr lang="es-EC" dirty="0"/>
              <a:t>  Presentación en Congreso     &amp; 1.000.000\\  </a:t>
            </a:r>
          </a:p>
          <a:p>
            <a:pPr marL="0" indent="0">
              <a:buNone/>
            </a:pPr>
            <a:r>
              <a:rPr lang="es-EC" dirty="0"/>
              <a:t>  Computador     &amp; 3.000.000\\ </a:t>
            </a:r>
          </a:p>
          <a:p>
            <a:pPr marL="0" indent="0">
              <a:buNone/>
            </a:pPr>
            <a:r>
              <a:rPr lang="es-EC" dirty="0"/>
              <a:t>  Otros          &amp; 2.000.000\\ </a:t>
            </a:r>
          </a:p>
          <a:p>
            <a:pPr marL="0" indent="0">
              <a:buNone/>
            </a:pPr>
            <a:r>
              <a:rPr lang="es-EC" dirty="0"/>
              <a:t> \</a:t>
            </a:r>
            <a:r>
              <a:rPr lang="es-EC" dirty="0" err="1"/>
              <a:t>hline</a:t>
            </a:r>
            <a:r>
              <a:rPr lang="es-EC" dirty="0"/>
              <a:t>    </a:t>
            </a:r>
          </a:p>
          <a:p>
            <a:pPr marL="0" indent="0">
              <a:buNone/>
            </a:pPr>
            <a:r>
              <a:rPr lang="es-EC" dirty="0"/>
              <a:t>Total          &amp; 20.000.000  </a:t>
            </a:r>
          </a:p>
          <a:p>
            <a:pPr marL="0" indent="0">
              <a:buNone/>
            </a:pPr>
            <a:r>
              <a:rPr lang="es-EC" dirty="0"/>
              <a:t>\</a:t>
            </a:r>
            <a:r>
              <a:rPr lang="es-EC" dirty="0" err="1"/>
              <a:t>end</a:t>
            </a:r>
            <a:r>
              <a:rPr lang="es-EC" dirty="0"/>
              <a:t>{tabular}    </a:t>
            </a:r>
          </a:p>
          <a:p>
            <a:pPr marL="0" indent="0">
              <a:buNone/>
            </a:pPr>
            <a:r>
              <a:rPr lang="es-EC" dirty="0"/>
              <a:t>\</a:t>
            </a:r>
            <a:r>
              <a:rPr lang="es-EC" dirty="0" err="1"/>
              <a:t>caption</a:t>
            </a:r>
            <a:r>
              <a:rPr lang="es-EC" dirty="0"/>
              <a:t>{Presupuesto}   </a:t>
            </a:r>
          </a:p>
          <a:p>
            <a:pPr marL="0" indent="0">
              <a:buNone/>
            </a:pPr>
            <a:r>
              <a:rPr lang="es-EC" dirty="0"/>
              <a:t>\</a:t>
            </a:r>
            <a:r>
              <a:rPr lang="es-EC" dirty="0" err="1"/>
              <a:t>label</a:t>
            </a:r>
            <a:r>
              <a:rPr lang="es-EC" dirty="0"/>
              <a:t>{tab1}</a:t>
            </a:r>
          </a:p>
          <a:p>
            <a:pPr marL="0" indent="0">
              <a:buNone/>
            </a:pPr>
            <a:r>
              <a:rPr lang="es-EC" dirty="0"/>
              <a:t>\</a:t>
            </a:r>
            <a:r>
              <a:rPr lang="es-EC" dirty="0" err="1"/>
              <a:t>end</a:t>
            </a:r>
            <a:r>
              <a:rPr lang="es-EC" dirty="0"/>
              <a:t>{table}</a:t>
            </a:r>
          </a:p>
        </p:txBody>
      </p:sp>
    </p:spTree>
    <p:extLst>
      <p:ext uri="{BB962C8B-B14F-4D97-AF65-F5344CB8AC3E}">
        <p14:creationId xmlns:p14="http://schemas.microsoft.com/office/powerpoint/2010/main" val="224463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D3A4E-40F2-C8DB-72B2-520A6D194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877" y="1898501"/>
            <a:ext cx="10515600" cy="1325563"/>
          </a:xfrm>
        </p:spPr>
        <p:txBody>
          <a:bodyPr/>
          <a:lstStyle/>
          <a:p>
            <a:pPr algn="ctr"/>
            <a:r>
              <a:rPr lang="es-ES" b="1" dirty="0">
                <a:solidFill>
                  <a:schemeClr val="accent1"/>
                </a:solidFill>
              </a:rPr>
              <a:t>Excel práctica 1: Análisis de Datos</a:t>
            </a:r>
            <a:endParaRPr lang="es-EC" b="1" dirty="0">
              <a:solidFill>
                <a:schemeClr val="accent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6019A0-ECC8-31B6-FCC2-EFC179EE9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331" y="3633937"/>
            <a:ext cx="2404691" cy="227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36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CDD0D-8EAC-BAF6-C15B-DB24B317E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Ejemplo 1: datos iris.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8170A8-C08D-6A7D-51FB-02C829181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En el siguiente repositorio </a:t>
            </a:r>
          </a:p>
          <a:p>
            <a:pPr marL="0" indent="0">
              <a:buNone/>
            </a:pPr>
            <a:r>
              <a:rPr lang="es-EC" dirty="0">
                <a:hlinkClick r:id="rId2"/>
              </a:rPr>
              <a:t>https://github.com/AndresOchoaRSA/Procesamiento-de-Datos/tree/main/clase1</a:t>
            </a:r>
            <a:endParaRPr lang="es-EC" dirty="0"/>
          </a:p>
          <a:p>
            <a:pPr marL="0" indent="0">
              <a:buNone/>
            </a:pPr>
            <a:endParaRPr lang="es-EC" dirty="0"/>
          </a:p>
          <a:p>
            <a:pPr marL="0" indent="0">
              <a:buNone/>
            </a:pPr>
            <a:r>
              <a:rPr lang="es-EC" dirty="0"/>
              <a:t>Se encuentra el conjunto de datos “iris.txt”, el cuál tiene 150 muestras de flores y 5 variables, de las cuales 4 son numéricas y la última es una variable categórica que indica la especie de la flor.</a:t>
            </a:r>
          </a:p>
          <a:p>
            <a:pPr marL="0" indent="0">
              <a:buNone/>
            </a:pPr>
            <a:endParaRPr lang="es-EC" dirty="0"/>
          </a:p>
          <a:p>
            <a:pPr marL="0" indent="0">
              <a:buNone/>
            </a:pPr>
            <a:r>
              <a:rPr lang="es-EC" dirty="0"/>
              <a:t>La idea es realizar un análisis exploratorio y conocer las características relevantes de los datos.</a:t>
            </a:r>
          </a:p>
        </p:txBody>
      </p:sp>
    </p:spTree>
    <p:extLst>
      <p:ext uri="{BB962C8B-B14F-4D97-AF65-F5344CB8AC3E}">
        <p14:creationId xmlns:p14="http://schemas.microsoft.com/office/powerpoint/2010/main" val="1098212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4737D-2CDB-5D0C-F837-FCF147266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1"/>
                </a:solidFill>
              </a:rPr>
              <a:t>Ejemplo 1: datos iris, Tarea 1.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CFB7A8-112E-CEE5-E7BB-8F5E0394D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Convierta los datos </a:t>
            </a:r>
            <a:r>
              <a:rPr lang="es-ES" dirty="0" err="1"/>
              <a:t>txt</a:t>
            </a:r>
            <a:r>
              <a:rPr lang="es-ES" dirty="0"/>
              <a:t> a un archivo xls.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Para las variables numéricas encuentra media, mediana, máximo, mínimo, desviación estándar y cuartiles.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Realice gráficos histograma para las variables numéricas.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Realice diagrama de cajas por grupo, es decir, en el eje y se tenga una variable numérica y en el eje x se tenga una variable cualitativa.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Construya la matriz de correlación de todas las variables numéricas.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Con base al punto anterior encuentra el par de variables más correlacionadas y represéntelas en un diagrama de dispersión.</a:t>
            </a:r>
          </a:p>
          <a:p>
            <a:pPr marL="514350" indent="-514350">
              <a:buFont typeface="+mj-lt"/>
              <a:buAutoNum type="arabicPeriod"/>
            </a:pPr>
            <a:r>
              <a:rPr lang="es-EC" dirty="0"/>
              <a:t>Interprete los resultados y gráficos, realice un informe con todo lo encontrado.</a:t>
            </a:r>
          </a:p>
        </p:txBody>
      </p:sp>
    </p:spTree>
    <p:extLst>
      <p:ext uri="{BB962C8B-B14F-4D97-AF65-F5344CB8AC3E}">
        <p14:creationId xmlns:p14="http://schemas.microsoft.com/office/powerpoint/2010/main" val="2495875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6E26396-7312-9C27-8289-32E54126C9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050" y="898177"/>
            <a:ext cx="5189836" cy="5227173"/>
          </a:xfrm>
        </p:spPr>
      </p:pic>
    </p:spTree>
    <p:extLst>
      <p:ext uri="{BB962C8B-B14F-4D97-AF65-F5344CB8AC3E}">
        <p14:creationId xmlns:p14="http://schemas.microsoft.com/office/powerpoint/2010/main" val="20949326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909</Words>
  <Application>Microsoft Office PowerPoint</Application>
  <PresentationFormat>Panorámica</PresentationFormat>
  <Paragraphs>104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Tema de Office</vt:lpstr>
      <vt:lpstr>Procesamiento de Datos</vt:lpstr>
      <vt:lpstr>Contenido</vt:lpstr>
      <vt:lpstr>GitHub</vt:lpstr>
      <vt:lpstr>Repositorios GitHub</vt:lpstr>
      <vt:lpstr>Repositorios GitHub</vt:lpstr>
      <vt:lpstr>Carpetas en GitHub.</vt:lpstr>
      <vt:lpstr>Sobre la capacidad de Almacenamiento.</vt:lpstr>
      <vt:lpstr>Git-Tea de la Escuela de Estadística.</vt:lpstr>
      <vt:lpstr>Overleaf  Para creación de documentos y diapositivas.</vt:lpstr>
      <vt:lpstr>Overleaf.</vt:lpstr>
      <vt:lpstr>Overleaf.</vt:lpstr>
      <vt:lpstr>Overleaf – Ecuaciones.</vt:lpstr>
      <vt:lpstr>Overleaf – Imágenes.</vt:lpstr>
      <vt:lpstr>Overleaf – Tablas.</vt:lpstr>
      <vt:lpstr>Excel práctica 1: Análisis de Datos</vt:lpstr>
      <vt:lpstr>Ejemplo 1: datos iris.</vt:lpstr>
      <vt:lpstr>Ejemplo 1: datos iris, Tarea 1.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Administrador</dc:creator>
  <cp:lastModifiedBy>Administrador</cp:lastModifiedBy>
  <cp:revision>7</cp:revision>
  <dcterms:created xsi:type="dcterms:W3CDTF">2026-02-11T16:04:47Z</dcterms:created>
  <dcterms:modified xsi:type="dcterms:W3CDTF">2026-02-12T16:16:29Z</dcterms:modified>
</cp:coreProperties>
</file>