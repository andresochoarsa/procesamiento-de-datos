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handoutMasterIdLst>
    <p:handoutMasterId r:id="rId32"/>
  </p:handoutMasterIdLst>
  <p:sldIdLst>
    <p:sldId id="256" r:id="rId5"/>
    <p:sldId id="270" r:id="rId6"/>
    <p:sldId id="275" r:id="rId7"/>
    <p:sldId id="276" r:id="rId8"/>
    <p:sldId id="277" r:id="rId9"/>
    <p:sldId id="280" r:id="rId10"/>
    <p:sldId id="271" r:id="rId11"/>
    <p:sldId id="278" r:id="rId12"/>
    <p:sldId id="287" r:id="rId13"/>
    <p:sldId id="293" r:id="rId14"/>
    <p:sldId id="279" r:id="rId15"/>
    <p:sldId id="272" r:id="rId16"/>
    <p:sldId id="281" r:id="rId17"/>
    <p:sldId id="282" r:id="rId18"/>
    <p:sldId id="284" r:id="rId19"/>
    <p:sldId id="283" r:id="rId20"/>
    <p:sldId id="285" r:id="rId21"/>
    <p:sldId id="286" r:id="rId22"/>
    <p:sldId id="261" r:id="rId23"/>
    <p:sldId id="288" r:id="rId24"/>
    <p:sldId id="289" r:id="rId25"/>
    <p:sldId id="290" r:id="rId26"/>
    <p:sldId id="291" r:id="rId27"/>
    <p:sldId id="292" r:id="rId28"/>
    <p:sldId id="294" r:id="rId29"/>
    <p:sldId id="262" r:id="rId30"/>
  </p:sldIdLst>
  <p:sldSz cx="12188825"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017" autoAdjust="0"/>
    <p:restoredTop sz="94660"/>
  </p:normalViewPr>
  <p:slideViewPr>
    <p:cSldViewPr>
      <p:cViewPr varScale="1">
        <p:scale>
          <a:sx n="65" d="100"/>
          <a:sy n="65" d="100"/>
        </p:scale>
        <p:origin x="-102" y="-270"/>
      </p:cViewPr>
      <p:guideLst>
        <p:guide orient="horz" pos="2160"/>
        <p:guide pos="3839"/>
      </p:guideLst>
    </p:cSldViewPr>
  </p:slideViewPr>
  <p:notesTextViewPr>
    <p:cViewPr>
      <p:scale>
        <a:sx n="1" d="1"/>
        <a:sy n="1" d="1"/>
      </p:scale>
      <p:origin x="0" y="0"/>
    </p:cViewPr>
  </p:notesTextViewPr>
  <p:notesViewPr>
    <p:cSldViewPr showGuides="1">
      <p:cViewPr varScale="1">
        <p:scale>
          <a:sx n="90" d="100"/>
          <a:sy n="90" d="100"/>
        </p:scale>
        <p:origin x="3024" y="90"/>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es-ES" dirty="0"/>
          </a:p>
        </p:txBody>
      </p:sp>
      <p:sp>
        <p:nvSpPr>
          <p:cNvPr id="3" name="Marcador de posición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F11FD187-339A-4169-A405-3634A2E4767A}" type="datetime1">
              <a:rPr lang="es-ES" smtClean="0"/>
              <a:pPr rtl="0"/>
              <a:t>02/05/2018</a:t>
            </a:fld>
            <a:endParaRPr lang="es-ES" dirty="0"/>
          </a:p>
        </p:txBody>
      </p:sp>
      <p:sp>
        <p:nvSpPr>
          <p:cNvPr id="4" name="Marcador de posición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A98ED8CD-4E4C-49AC-BDC6-2963BA49E54F}" type="slidenum">
              <a:rPr lang="es-ES"/>
              <a:pPr rtl="0"/>
              <a:t>‹Nº›</a:t>
            </a:fld>
            <a:endParaRPr lang="es-ES" dirty="0"/>
          </a:p>
        </p:txBody>
      </p:sp>
    </p:spTree>
    <p:extLst>
      <p:ext uri="{BB962C8B-B14F-4D97-AF65-F5344CB8AC3E}">
        <p14:creationId xmlns:p14="http://schemas.microsoft.com/office/powerpoint/2010/main" xmlns="" val="3434179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posición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rtl="0"/>
            <a:fld id="{B38686FD-4075-4AD9-B8F9-29CA1BFB4603}" type="datetime1">
              <a:rPr lang="es-ES" noProof="0" smtClean="0"/>
              <a:pPr rtl="0"/>
              <a:t>02/05/2018</a:t>
            </a:fld>
            <a:endParaRPr lang="es-ES" noProof="0" dirty="0"/>
          </a:p>
        </p:txBody>
      </p:sp>
      <p:sp>
        <p:nvSpPr>
          <p:cNvPr id="4" name="Marcador de imagen de diapositiva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es-ES" noProof="0" dirty="0"/>
              <a:t>Editar el estilo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5FB91549-43BF-425A-AF25-75262019208C}" type="slidenum">
              <a:rPr lang="es-ES" noProof="0"/>
              <a:pPr rtl="0"/>
              <a:t>‹Nº›</a:t>
            </a:fld>
            <a:endParaRPr lang="es-ES" noProof="0" dirty="0"/>
          </a:p>
        </p:txBody>
      </p:sp>
    </p:spTree>
    <p:extLst>
      <p:ext uri="{BB962C8B-B14F-4D97-AF65-F5344CB8AC3E}">
        <p14:creationId xmlns:p14="http://schemas.microsoft.com/office/powerpoint/2010/main" xmlns="" val="423928641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5FB91549-43BF-425A-AF25-75262019208C}" type="slidenum">
              <a:rPr lang="es-ES" smtClean="0"/>
              <a:pPr rtl="0"/>
              <a:t>1</a:t>
            </a:fld>
            <a:endParaRPr lang="es-ES" dirty="0"/>
          </a:p>
        </p:txBody>
      </p:sp>
    </p:spTree>
    <p:extLst>
      <p:ext uri="{BB962C8B-B14F-4D97-AF65-F5344CB8AC3E}">
        <p14:creationId xmlns:p14="http://schemas.microsoft.com/office/powerpoint/2010/main" xmlns="" val="3962716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5FB91549-43BF-425A-AF25-75262019208C}" type="slidenum">
              <a:rPr lang="es-ES" smtClean="0"/>
              <a:pPr rtl="0"/>
              <a:t>2</a:t>
            </a:fld>
            <a:endParaRPr lang="es-ES" dirty="0"/>
          </a:p>
        </p:txBody>
      </p:sp>
    </p:spTree>
    <p:extLst>
      <p:ext uri="{BB962C8B-B14F-4D97-AF65-F5344CB8AC3E}">
        <p14:creationId xmlns:p14="http://schemas.microsoft.com/office/powerpoint/2010/main" xmlns="" val="831741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5FB91549-43BF-425A-AF25-75262019208C}" type="slidenum">
              <a:rPr lang="es-ES" smtClean="0"/>
              <a:pPr rtl="0"/>
              <a:t>7</a:t>
            </a:fld>
            <a:endParaRPr lang="es-ES" dirty="0"/>
          </a:p>
        </p:txBody>
      </p:sp>
    </p:spTree>
    <p:extLst>
      <p:ext uri="{BB962C8B-B14F-4D97-AF65-F5344CB8AC3E}">
        <p14:creationId xmlns:p14="http://schemas.microsoft.com/office/powerpoint/2010/main" xmlns="" val="2504034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5FB91549-43BF-425A-AF25-75262019208C}" type="slidenum">
              <a:rPr lang="es-ES" smtClean="0"/>
              <a:pPr rtl="0"/>
              <a:t>12</a:t>
            </a:fld>
            <a:endParaRPr lang="es-ES" dirty="0"/>
          </a:p>
        </p:txBody>
      </p:sp>
    </p:spTree>
    <p:extLst>
      <p:ext uri="{BB962C8B-B14F-4D97-AF65-F5344CB8AC3E}">
        <p14:creationId xmlns:p14="http://schemas.microsoft.com/office/powerpoint/2010/main" xmlns="" val="462936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5FB91549-43BF-425A-AF25-75262019208C}" type="slidenum">
              <a:rPr lang="es-ES" smtClean="0"/>
              <a:pPr rtl="0"/>
              <a:t>19</a:t>
            </a:fld>
            <a:endParaRPr lang="es-ES" dirty="0"/>
          </a:p>
        </p:txBody>
      </p:sp>
    </p:spTree>
    <p:extLst>
      <p:ext uri="{BB962C8B-B14F-4D97-AF65-F5344CB8AC3E}">
        <p14:creationId xmlns:p14="http://schemas.microsoft.com/office/powerpoint/2010/main" xmlns="" val="2799386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2588" y="685800"/>
            <a:ext cx="6092825" cy="3429000"/>
          </a:xfrm>
        </p:spPr>
      </p:sp>
      <p:sp>
        <p:nvSpPr>
          <p:cNvPr id="3" name="Marcador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10"/>
          </p:nvPr>
        </p:nvSpPr>
        <p:spPr/>
        <p:txBody>
          <a:bodyPr rtlCol="0"/>
          <a:lstStyle/>
          <a:p>
            <a:pPr rtl="0"/>
            <a:fld id="{A0D00EA6-0821-4AC5-933C-321AA6545349}" type="slidenum">
              <a:rPr lang="es-ES"/>
              <a:pPr rtl="0"/>
              <a:t>26</a:t>
            </a:fld>
            <a:endParaRPr lang="es-ES" dirty="0"/>
          </a:p>
        </p:txBody>
      </p:sp>
    </p:spTree>
    <p:extLst>
      <p:ext uri="{BB962C8B-B14F-4D97-AF65-F5344CB8AC3E}">
        <p14:creationId xmlns:p14="http://schemas.microsoft.com/office/powerpoint/2010/main" xmlns="" val="40107723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2">
        <a:schemeClr val="bg2"/>
      </p:bgRef>
    </p:bg>
    <p:spTree>
      <p:nvGrpSpPr>
        <p:cNvPr id="1" name=""/>
        <p:cNvGrpSpPr/>
        <p:nvPr/>
      </p:nvGrpSpPr>
      <p:grpSpPr>
        <a:xfrm>
          <a:off x="0" y="0"/>
          <a:ext cx="0" cy="0"/>
          <a:chOff x="0" y="0"/>
          <a:chExt cx="0" cy="0"/>
        </a:xfrm>
      </p:grpSpPr>
      <p:pic>
        <p:nvPicPr>
          <p:cNvPr id="5" name="Imagen 4" descr="Vista desde abajo a las nubes y al cielo azul rodeada de edificios con paredes de cristal"/>
          <p:cNvPicPr>
            <a:picLocks noChangeAspect="1"/>
          </p:cNvPicPr>
          <p:nvPr/>
        </p:nvPicPr>
        <p:blipFill rotWithShape="1">
          <a:blip r:embed="rId2" cstate="print">
            <a:extLst>
              <a:ext uri="{28A0092B-C50C-407E-A947-70E740481C1C}">
                <a14:useLocalDpi xmlns:a14="http://schemas.microsoft.com/office/drawing/2010/main" xmlns="" val="0"/>
              </a:ext>
            </a:extLst>
          </a:blip>
          <a:srcRect/>
          <a:stretch/>
        </p:blipFill>
        <p:spPr>
          <a:xfrm>
            <a:off x="4873625" y="0"/>
            <a:ext cx="7315200" cy="6858001"/>
          </a:xfrm>
          <a:prstGeom prst="rect">
            <a:avLst/>
          </a:prstGeom>
        </p:spPr>
      </p:pic>
      <p:sp>
        <p:nvSpPr>
          <p:cNvPr id="2" name="Título 1"/>
          <p:cNvSpPr>
            <a:spLocks noGrp="1"/>
          </p:cNvSpPr>
          <p:nvPr>
            <p:ph type="ctrTitle"/>
          </p:nvPr>
        </p:nvSpPr>
        <p:spPr>
          <a:xfrm>
            <a:off x="608013" y="685801"/>
            <a:ext cx="3962400" cy="4724399"/>
          </a:xfrm>
        </p:spPr>
        <p:txBody>
          <a:bodyPr rtlCol="0">
            <a:normAutofit/>
          </a:bodyPr>
          <a:lstStyle>
            <a:lvl1pPr rtl="0">
              <a:defRPr sz="4800"/>
            </a:lvl1pPr>
          </a:lstStyle>
          <a:p>
            <a:pPr rtl="0"/>
            <a:r>
              <a:rPr lang="es-ES" noProof="0" smtClean="0"/>
              <a:t>Haga clic para modificar el estilo de título del patrón</a:t>
            </a:r>
            <a:endParaRPr lang="es-ES" noProof="0" dirty="0"/>
          </a:p>
        </p:txBody>
      </p:sp>
      <p:sp>
        <p:nvSpPr>
          <p:cNvPr id="3" name="Subtítulo 2"/>
          <p:cNvSpPr>
            <a:spLocks noGrp="1"/>
          </p:cNvSpPr>
          <p:nvPr>
            <p:ph type="subTitle" idx="1"/>
          </p:nvPr>
        </p:nvSpPr>
        <p:spPr>
          <a:xfrm>
            <a:off x="608013" y="5410200"/>
            <a:ext cx="3962400" cy="762000"/>
          </a:xfrm>
        </p:spPr>
        <p:txBody>
          <a:bodyPr rtlCol="0">
            <a:norm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ES" noProof="0" smtClean="0"/>
              <a:t>Haga clic para modificar el estilo de subtítulo del patrón</a:t>
            </a:r>
            <a:endParaRPr lang="es-ES" noProof="0" dirty="0"/>
          </a:p>
        </p:txBody>
      </p:sp>
      <p:sp>
        <p:nvSpPr>
          <p:cNvPr id="8" name="Marcador de posición de fecha 7"/>
          <p:cNvSpPr>
            <a:spLocks noGrp="1"/>
          </p:cNvSpPr>
          <p:nvPr>
            <p:ph type="dt" sz="half" idx="10"/>
          </p:nvPr>
        </p:nvSpPr>
        <p:spPr/>
        <p:txBody>
          <a:bodyPr rtlCol="0"/>
          <a:lstStyle/>
          <a:p>
            <a:pPr rtl="0"/>
            <a:fld id="{1C2413DC-7E09-4B22-92E4-DD7EBB58F33E}" type="datetime1">
              <a:rPr lang="es-ES" noProof="0" smtClean="0"/>
              <a:pPr rtl="0"/>
              <a:t>02/05/2018</a:t>
            </a:fld>
            <a:endParaRPr lang="es-ES" noProof="0" dirty="0"/>
          </a:p>
        </p:txBody>
      </p:sp>
      <p:sp>
        <p:nvSpPr>
          <p:cNvPr id="9" name="Marcador de posición de pie de página 8"/>
          <p:cNvSpPr>
            <a:spLocks noGrp="1"/>
          </p:cNvSpPr>
          <p:nvPr>
            <p:ph type="ftr" sz="quarter" idx="11"/>
          </p:nvPr>
        </p:nvSpPr>
        <p:spPr/>
        <p:txBody>
          <a:bodyPr rtlCol="0"/>
          <a:lstStyle/>
          <a:p>
            <a:pPr rtl="0"/>
            <a:r>
              <a:rPr lang="es-ES" noProof="0" dirty="0"/>
              <a:t>Agregar un pie de página</a:t>
            </a:r>
          </a:p>
        </p:txBody>
      </p:sp>
      <p:sp>
        <p:nvSpPr>
          <p:cNvPr id="10" name="Marcador de número de diapositiva 9"/>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27348395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rtl="0">
              <a:defRPr/>
            </a:lvl1pPr>
          </a:lstStyle>
          <a:p>
            <a:pPr rtl="0"/>
            <a:r>
              <a:rPr lang="es-ES" noProof="0" smtClean="0"/>
              <a:t>Haga clic para modificar el estilo de título del patrón</a:t>
            </a:r>
            <a:endParaRPr lang="es-ES" noProof="0" dirty="0"/>
          </a:p>
        </p:txBody>
      </p:sp>
      <p:sp>
        <p:nvSpPr>
          <p:cNvPr id="3" name="Marcador de contenido 2"/>
          <p:cNvSpPr>
            <a:spLocks noGrp="1"/>
          </p:cNvSpPr>
          <p:nvPr>
            <p:ph idx="1"/>
          </p:nvPr>
        </p:nvSpPr>
        <p:spPr/>
        <p:txBody>
          <a:bodyPr rtlCol="0"/>
          <a:lstStyle>
            <a:lvl1pPr rtl="0">
              <a:defRPr/>
            </a:lvl1pPr>
            <a:lvl5pPr>
              <a:defRPr/>
            </a:lvl5pPr>
            <a:lvl6pPr>
              <a:defRPr/>
            </a:lvl6pPr>
            <a:lvl7pPr>
              <a:defRPr/>
            </a:lvl7pPr>
            <a:lvl8pPr>
              <a:defRPr/>
            </a:lvl8pPr>
            <a:lvl9pPr>
              <a:defRPr/>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4" name="Marcador de posición de fecha 3"/>
          <p:cNvSpPr>
            <a:spLocks noGrp="1"/>
          </p:cNvSpPr>
          <p:nvPr>
            <p:ph type="dt" sz="half" idx="10"/>
          </p:nvPr>
        </p:nvSpPr>
        <p:spPr/>
        <p:txBody>
          <a:bodyPr rtlCol="0"/>
          <a:lstStyle/>
          <a:p>
            <a:pPr rtl="0"/>
            <a:fld id="{52D2D38E-35D9-40B0-9B3D-3E8E9EDFA407}" type="datetime1">
              <a:rPr lang="es-ES" noProof="0" smtClean="0"/>
              <a:pPr rtl="0"/>
              <a:t>02/05/2018</a:t>
            </a:fld>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6" name="Marcador de número de diapositiva 5"/>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31378625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608013" y="2590800"/>
            <a:ext cx="8229599" cy="2819400"/>
          </a:xfrm>
        </p:spPr>
        <p:txBody>
          <a:bodyPr rtlCol="0" anchor="b">
            <a:normAutofit/>
          </a:bodyPr>
          <a:lstStyle>
            <a:lvl1pPr algn="l" rtl="0">
              <a:defRPr sz="4800" b="0" cap="none" baseline="0"/>
            </a:lvl1pPr>
          </a:lstStyle>
          <a:p>
            <a:pPr rtl="0"/>
            <a:r>
              <a:rPr lang="es-ES" noProof="0" smtClean="0"/>
              <a:t>Haga clic para modificar el estilo de título del patrón</a:t>
            </a:r>
            <a:endParaRPr lang="es-ES" noProof="0" dirty="0"/>
          </a:p>
        </p:txBody>
      </p:sp>
      <p:sp>
        <p:nvSpPr>
          <p:cNvPr id="3" name="Marcador de texto 2"/>
          <p:cNvSpPr>
            <a:spLocks noGrp="1"/>
          </p:cNvSpPr>
          <p:nvPr>
            <p:ph type="body" idx="1"/>
          </p:nvPr>
        </p:nvSpPr>
        <p:spPr>
          <a:xfrm>
            <a:off x="606425" y="5410200"/>
            <a:ext cx="8231187" cy="762000"/>
          </a:xfrm>
        </p:spPr>
        <p:txBody>
          <a:bodyPr rtlCol="0" anchor="t">
            <a:normAutofit/>
          </a:bodyPr>
          <a:lstStyle>
            <a:lvl1pPr marL="0" indent="0" rtl="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smtClean="0"/>
              <a:t>Haga clic para modificar el estilo de texto del patrón</a:t>
            </a:r>
          </a:p>
        </p:txBody>
      </p:sp>
      <p:sp>
        <p:nvSpPr>
          <p:cNvPr id="7" name="Marcador de posición de fecha 6"/>
          <p:cNvSpPr>
            <a:spLocks noGrp="1"/>
          </p:cNvSpPr>
          <p:nvPr>
            <p:ph type="dt" sz="half" idx="10"/>
          </p:nvPr>
        </p:nvSpPr>
        <p:spPr/>
        <p:txBody>
          <a:bodyPr rtlCol="0"/>
          <a:lstStyle/>
          <a:p>
            <a:pPr rtl="0"/>
            <a:fld id="{0BA0DFDB-B788-425E-826A-9981788BFC84}" type="datetime1">
              <a:rPr lang="es-ES" noProof="0" smtClean="0"/>
              <a:pPr rtl="0"/>
              <a:t>02/05/2018</a:t>
            </a:fld>
            <a:endParaRPr lang="es-ES" noProof="0" dirty="0"/>
          </a:p>
        </p:txBody>
      </p:sp>
      <p:sp>
        <p:nvSpPr>
          <p:cNvPr id="8" name="Marcador de posición de pie de página 7"/>
          <p:cNvSpPr>
            <a:spLocks noGrp="1"/>
          </p:cNvSpPr>
          <p:nvPr>
            <p:ph type="ftr" sz="quarter" idx="11"/>
          </p:nvPr>
        </p:nvSpPr>
        <p:spPr/>
        <p:txBody>
          <a:bodyPr rtlCol="0"/>
          <a:lstStyle/>
          <a:p>
            <a:pPr rtl="0"/>
            <a:r>
              <a:rPr lang="es-ES" noProof="0" dirty="0"/>
              <a:t>Agregar un pie de página</a:t>
            </a:r>
          </a:p>
        </p:txBody>
      </p:sp>
      <p:sp>
        <p:nvSpPr>
          <p:cNvPr id="9" name="Marcador de número de diapositiva 8"/>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3225113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rtl="0">
              <a:defRPr/>
            </a:lvl1pPr>
          </a:lstStyle>
          <a:p>
            <a:pPr rtl="0"/>
            <a:r>
              <a:rPr lang="es-ES" noProof="0" smtClean="0"/>
              <a:t>Haga clic para modificar el estilo de título del patrón</a:t>
            </a:r>
            <a:endParaRPr lang="es-ES" noProof="0" dirty="0"/>
          </a:p>
        </p:txBody>
      </p:sp>
      <p:sp>
        <p:nvSpPr>
          <p:cNvPr id="3" name="Marcador de posición de contenido 2"/>
          <p:cNvSpPr>
            <a:spLocks noGrp="1"/>
          </p:cNvSpPr>
          <p:nvPr>
            <p:ph sz="half" idx="1"/>
          </p:nvPr>
        </p:nvSpPr>
        <p:spPr>
          <a:xfrm>
            <a:off x="1293813" y="685800"/>
            <a:ext cx="5029200" cy="4191000"/>
          </a:xfrm>
        </p:spPr>
        <p:txBody>
          <a:bodyPr rtlCol="0"/>
          <a:lstStyle>
            <a:lvl1pPr rtl="0">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4" name="Marcador de posición de contenido 3"/>
          <p:cNvSpPr>
            <a:spLocks noGrp="1"/>
          </p:cNvSpPr>
          <p:nvPr>
            <p:ph sz="half" idx="2"/>
          </p:nvPr>
        </p:nvSpPr>
        <p:spPr>
          <a:xfrm>
            <a:off x="6551614" y="685800"/>
            <a:ext cx="5029199" cy="4191000"/>
          </a:xfrm>
        </p:spPr>
        <p:txBody>
          <a:bodyPr rtlCol="0"/>
          <a:lstStyle>
            <a:lvl1pPr rtl="0">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5" name="Marcador de posición de fecha 4"/>
          <p:cNvSpPr>
            <a:spLocks noGrp="1"/>
          </p:cNvSpPr>
          <p:nvPr>
            <p:ph type="dt" sz="half" idx="10"/>
          </p:nvPr>
        </p:nvSpPr>
        <p:spPr/>
        <p:txBody>
          <a:bodyPr rtlCol="0"/>
          <a:lstStyle/>
          <a:p>
            <a:pPr rtl="0"/>
            <a:fld id="{9B8D21EB-7BA9-4596-8433-3F9378506832}" type="datetime1">
              <a:rPr lang="es-ES" noProof="0" smtClean="0"/>
              <a:pPr rtl="0"/>
              <a:t>02/05/2018</a:t>
            </a:fld>
            <a:endParaRPr lang="es-ES" noProof="0" dirty="0"/>
          </a:p>
        </p:txBody>
      </p:sp>
      <p:sp>
        <p:nvSpPr>
          <p:cNvPr id="6" name="Marcador de posición de pie de página 5"/>
          <p:cNvSpPr>
            <a:spLocks noGrp="1"/>
          </p:cNvSpPr>
          <p:nvPr>
            <p:ph type="ftr" sz="quarter" idx="11"/>
          </p:nvPr>
        </p:nvSpPr>
        <p:spPr/>
        <p:txBody>
          <a:bodyPr rtlCol="0"/>
          <a:lstStyle/>
          <a:p>
            <a:pPr rtl="0"/>
            <a:r>
              <a:rPr lang="es-ES" noProof="0" dirty="0"/>
              <a:t>Agregar un pie de página</a:t>
            </a:r>
          </a:p>
        </p:txBody>
      </p:sp>
      <p:sp>
        <p:nvSpPr>
          <p:cNvPr id="7" name="Marcador de número de diapositiva 6"/>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38970135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rtl="0">
              <a:defRPr/>
            </a:lvl1pPr>
          </a:lstStyle>
          <a:p>
            <a:pPr rtl="0"/>
            <a:r>
              <a:rPr lang="es-ES" noProof="0" smtClean="0"/>
              <a:t>Haga clic para modificar el estilo de título del patrón</a:t>
            </a:r>
            <a:endParaRPr lang="es-ES" noProof="0" dirty="0"/>
          </a:p>
        </p:txBody>
      </p:sp>
      <p:sp>
        <p:nvSpPr>
          <p:cNvPr id="3" name="Marcador de posición de texto 2"/>
          <p:cNvSpPr>
            <a:spLocks noGrp="1"/>
          </p:cNvSpPr>
          <p:nvPr>
            <p:ph type="body" idx="1"/>
          </p:nvPr>
        </p:nvSpPr>
        <p:spPr>
          <a:xfrm>
            <a:off x="1293664" y="685800"/>
            <a:ext cx="5029200" cy="990600"/>
          </a:xfrm>
        </p:spPr>
        <p:txBody>
          <a:bodyPr rtlCol="0" anchor="ctr">
            <a:normAutofit/>
          </a:bodyPr>
          <a:lstStyle>
            <a:lvl1pPr marL="0" indent="0" rtl="0">
              <a:spcBef>
                <a:spcPts val="0"/>
              </a:spcBef>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smtClean="0"/>
              <a:t>Haga clic para modificar el estilo de texto del patrón</a:t>
            </a:r>
          </a:p>
        </p:txBody>
      </p:sp>
      <p:sp>
        <p:nvSpPr>
          <p:cNvPr id="4" name="Marcador de posición de contenido 3"/>
          <p:cNvSpPr>
            <a:spLocks noGrp="1"/>
          </p:cNvSpPr>
          <p:nvPr>
            <p:ph sz="half" idx="2"/>
          </p:nvPr>
        </p:nvSpPr>
        <p:spPr>
          <a:xfrm>
            <a:off x="1293664" y="1676400"/>
            <a:ext cx="5029200" cy="3200400"/>
          </a:xfrm>
        </p:spPr>
        <p:txBody>
          <a:bodyPr rtlCol="0"/>
          <a:lstStyle>
            <a:lvl1pPr rtl="0">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5" name="Marcador de posición de texto 4"/>
          <p:cNvSpPr>
            <a:spLocks noGrp="1"/>
          </p:cNvSpPr>
          <p:nvPr>
            <p:ph type="body" sz="quarter" idx="3"/>
          </p:nvPr>
        </p:nvSpPr>
        <p:spPr>
          <a:xfrm>
            <a:off x="6551613" y="685800"/>
            <a:ext cx="5029200" cy="990600"/>
          </a:xfrm>
        </p:spPr>
        <p:txBody>
          <a:bodyPr rtlCol="0" anchor="ctr">
            <a:normAutofit/>
          </a:bodyPr>
          <a:lstStyle>
            <a:lvl1pPr marL="0" indent="0" rtl="0">
              <a:spcBef>
                <a:spcPts val="0"/>
              </a:spcBef>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smtClean="0"/>
              <a:t>Haga clic para modificar el estilo de texto del patrón</a:t>
            </a:r>
          </a:p>
        </p:txBody>
      </p:sp>
      <p:sp>
        <p:nvSpPr>
          <p:cNvPr id="6" name="Marcador de posición de contenido 5"/>
          <p:cNvSpPr>
            <a:spLocks noGrp="1"/>
          </p:cNvSpPr>
          <p:nvPr>
            <p:ph sz="quarter" idx="4"/>
          </p:nvPr>
        </p:nvSpPr>
        <p:spPr>
          <a:xfrm>
            <a:off x="6550025" y="1676400"/>
            <a:ext cx="5029200" cy="3200400"/>
          </a:xfrm>
        </p:spPr>
        <p:txBody>
          <a:bodyPr rtlCol="0"/>
          <a:lstStyle>
            <a:lvl1pPr rtl="0">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7" name="Marcador de posición de fecha 6"/>
          <p:cNvSpPr>
            <a:spLocks noGrp="1"/>
          </p:cNvSpPr>
          <p:nvPr>
            <p:ph type="dt" sz="half" idx="10"/>
          </p:nvPr>
        </p:nvSpPr>
        <p:spPr/>
        <p:txBody>
          <a:bodyPr rtlCol="0"/>
          <a:lstStyle/>
          <a:p>
            <a:pPr rtl="0"/>
            <a:fld id="{426722B8-33DA-4E19-8244-813AF4BB1387}" type="datetime1">
              <a:rPr lang="es-ES" noProof="0" smtClean="0"/>
              <a:pPr rtl="0"/>
              <a:t>02/05/2018</a:t>
            </a:fld>
            <a:endParaRPr lang="es-ES" noProof="0" dirty="0"/>
          </a:p>
        </p:txBody>
      </p:sp>
      <p:sp>
        <p:nvSpPr>
          <p:cNvPr id="8" name="Marcador de posición de pie de página 7"/>
          <p:cNvSpPr>
            <a:spLocks noGrp="1"/>
          </p:cNvSpPr>
          <p:nvPr>
            <p:ph type="ftr" sz="quarter" idx="11"/>
          </p:nvPr>
        </p:nvSpPr>
        <p:spPr/>
        <p:txBody>
          <a:bodyPr rtlCol="0"/>
          <a:lstStyle/>
          <a:p>
            <a:pPr rtl="0"/>
            <a:r>
              <a:rPr lang="es-ES" noProof="0" dirty="0"/>
              <a:t>Agregar un pie de página</a:t>
            </a:r>
          </a:p>
        </p:txBody>
      </p:sp>
      <p:sp>
        <p:nvSpPr>
          <p:cNvPr id="9" name="Marcador de número de diapositiva 8"/>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51309680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rtl="0">
              <a:defRPr/>
            </a:lvl1pPr>
          </a:lstStyle>
          <a:p>
            <a:pPr rtl="0"/>
            <a:r>
              <a:rPr lang="es-ES" noProof="0" smtClean="0"/>
              <a:t>Haga clic para modificar el estilo de título del patrón</a:t>
            </a:r>
            <a:endParaRPr lang="es-ES" noProof="0" dirty="0"/>
          </a:p>
        </p:txBody>
      </p:sp>
      <p:sp>
        <p:nvSpPr>
          <p:cNvPr id="3" name="Marcador de posición de fecha 2"/>
          <p:cNvSpPr>
            <a:spLocks noGrp="1"/>
          </p:cNvSpPr>
          <p:nvPr>
            <p:ph type="dt" sz="half" idx="10"/>
          </p:nvPr>
        </p:nvSpPr>
        <p:spPr/>
        <p:txBody>
          <a:bodyPr rtlCol="0"/>
          <a:lstStyle/>
          <a:p>
            <a:pPr rtl="0"/>
            <a:fld id="{3AA39E48-CC81-4F3E-B38E-78AF9E3DDD19}" type="datetime1">
              <a:rPr lang="es-ES" noProof="0" smtClean="0"/>
              <a:pPr rtl="0"/>
              <a:t>02/05/2018</a:t>
            </a:fld>
            <a:endParaRPr lang="es-ES" noProof="0" dirty="0"/>
          </a:p>
        </p:txBody>
      </p:sp>
      <p:sp>
        <p:nvSpPr>
          <p:cNvPr id="4" name="Marcador de posición de pie de página 3"/>
          <p:cNvSpPr>
            <a:spLocks noGrp="1"/>
          </p:cNvSpPr>
          <p:nvPr>
            <p:ph type="ftr" sz="quarter" idx="11"/>
          </p:nvPr>
        </p:nvSpPr>
        <p:spPr/>
        <p:txBody>
          <a:bodyPr rtlCol="0"/>
          <a:lstStyle/>
          <a:p>
            <a:pPr rtl="0"/>
            <a:r>
              <a:rPr lang="es-ES" noProof="0" dirty="0"/>
              <a:t>Agregar un pie de página</a:t>
            </a:r>
          </a:p>
        </p:txBody>
      </p:sp>
      <p:sp>
        <p:nvSpPr>
          <p:cNvPr id="5" name="Marcador de número de diapositiva 4"/>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3134428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posición de fecha 1"/>
          <p:cNvSpPr>
            <a:spLocks noGrp="1"/>
          </p:cNvSpPr>
          <p:nvPr>
            <p:ph type="dt" sz="half" idx="10"/>
          </p:nvPr>
        </p:nvSpPr>
        <p:spPr/>
        <p:txBody>
          <a:bodyPr rtlCol="0"/>
          <a:lstStyle/>
          <a:p>
            <a:pPr rtl="0"/>
            <a:fld id="{168C03EA-07B4-4B74-A9E4-45DEB2C989AA}" type="datetime1">
              <a:rPr lang="es-ES" noProof="0" smtClean="0"/>
              <a:pPr rtl="0"/>
              <a:t>02/05/2018</a:t>
            </a:fld>
            <a:endParaRPr lang="es-ES" noProof="0" dirty="0"/>
          </a:p>
        </p:txBody>
      </p:sp>
      <p:sp>
        <p:nvSpPr>
          <p:cNvPr id="3" name="Marcador de posición de pie de página 2"/>
          <p:cNvSpPr>
            <a:spLocks noGrp="1"/>
          </p:cNvSpPr>
          <p:nvPr>
            <p:ph type="ftr" sz="quarter" idx="11"/>
          </p:nvPr>
        </p:nvSpPr>
        <p:spPr/>
        <p:txBody>
          <a:bodyPr rtlCol="0"/>
          <a:lstStyle/>
          <a:p>
            <a:pPr rtl="0"/>
            <a:r>
              <a:rPr lang="es-ES" noProof="0" dirty="0"/>
              <a:t>Agregar un pie de página</a:t>
            </a:r>
          </a:p>
        </p:txBody>
      </p:sp>
      <p:sp>
        <p:nvSpPr>
          <p:cNvPr id="4" name="Marcador de número de diapositiva 3"/>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191031189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08014" y="685800"/>
            <a:ext cx="3962400" cy="4724400"/>
          </a:xfrm>
        </p:spPr>
        <p:txBody>
          <a:bodyPr rtlCol="0" anchor="b">
            <a:noAutofit/>
          </a:bodyPr>
          <a:lstStyle>
            <a:lvl1pPr algn="l" rtl="0">
              <a:defRPr sz="3600" b="0"/>
            </a:lvl1pPr>
          </a:lstStyle>
          <a:p>
            <a:pPr rtl="0"/>
            <a:r>
              <a:rPr lang="es-ES" noProof="0" smtClean="0"/>
              <a:t>Haga clic para modificar el estilo de título del patrón</a:t>
            </a:r>
            <a:endParaRPr lang="es-ES" noProof="0" dirty="0"/>
          </a:p>
        </p:txBody>
      </p:sp>
      <p:sp>
        <p:nvSpPr>
          <p:cNvPr id="3" name="Marcador de contenido 2"/>
          <p:cNvSpPr>
            <a:spLocks noGrp="1"/>
          </p:cNvSpPr>
          <p:nvPr>
            <p:ph idx="1"/>
          </p:nvPr>
        </p:nvSpPr>
        <p:spPr>
          <a:xfrm>
            <a:off x="4875212" y="685800"/>
            <a:ext cx="6704171" cy="5486400"/>
          </a:xfrm>
        </p:spPr>
        <p:txBody>
          <a:bodyPr rtlCol="0">
            <a:normAutofit/>
          </a:bodyPr>
          <a:lstStyle>
            <a:lvl1pPr rtl="0">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4" name="Marcador de texto 3"/>
          <p:cNvSpPr>
            <a:spLocks noGrp="1"/>
          </p:cNvSpPr>
          <p:nvPr>
            <p:ph type="body" sz="half" idx="2"/>
          </p:nvPr>
        </p:nvSpPr>
        <p:spPr>
          <a:xfrm>
            <a:off x="608013" y="5410200"/>
            <a:ext cx="3962400" cy="762000"/>
          </a:xfrm>
        </p:spPr>
        <p:txBody>
          <a:bodyPr rtlCol="0">
            <a:normAutofit/>
          </a:bodyPr>
          <a:lstStyle>
            <a:lvl1pPr marL="0" indent="0" rtl="0">
              <a:spcBef>
                <a:spcPts val="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smtClean="0"/>
              <a:t>Haga clic para modificar el estilo de texto del patrón</a:t>
            </a:r>
          </a:p>
        </p:txBody>
      </p:sp>
      <p:sp>
        <p:nvSpPr>
          <p:cNvPr id="5" name="Marcador de posición de fecha 4"/>
          <p:cNvSpPr>
            <a:spLocks noGrp="1"/>
          </p:cNvSpPr>
          <p:nvPr>
            <p:ph type="dt" sz="half" idx="10"/>
          </p:nvPr>
        </p:nvSpPr>
        <p:spPr/>
        <p:txBody>
          <a:bodyPr rtlCol="0"/>
          <a:lstStyle/>
          <a:p>
            <a:pPr rtl="0"/>
            <a:fld id="{E9FCFBDD-C212-4F07-A9A8-52A49C6B398D}" type="datetime1">
              <a:rPr lang="es-ES" noProof="0" smtClean="0"/>
              <a:pPr rtl="0"/>
              <a:t>02/05/2018</a:t>
            </a:fld>
            <a:endParaRPr lang="es-ES" noProof="0" dirty="0"/>
          </a:p>
        </p:txBody>
      </p:sp>
      <p:sp>
        <p:nvSpPr>
          <p:cNvPr id="6" name="Marcador de posición de pie de página 5"/>
          <p:cNvSpPr>
            <a:spLocks noGrp="1"/>
          </p:cNvSpPr>
          <p:nvPr>
            <p:ph type="ftr" sz="quarter" idx="11"/>
          </p:nvPr>
        </p:nvSpPr>
        <p:spPr/>
        <p:txBody>
          <a:bodyPr rtlCol="0"/>
          <a:lstStyle/>
          <a:p>
            <a:pPr rtl="0"/>
            <a:r>
              <a:rPr lang="es-ES" noProof="0" dirty="0"/>
              <a:t>Agregar un pie de página</a:t>
            </a:r>
          </a:p>
        </p:txBody>
      </p:sp>
      <p:sp>
        <p:nvSpPr>
          <p:cNvPr id="7" name="Marcador de número de diapositiva 6"/>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22347262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08014" y="685800"/>
            <a:ext cx="3962400" cy="4724400"/>
          </a:xfrm>
        </p:spPr>
        <p:txBody>
          <a:bodyPr rtlCol="0" anchor="b">
            <a:normAutofit/>
          </a:bodyPr>
          <a:lstStyle>
            <a:lvl1pPr algn="l" rtl="0">
              <a:defRPr sz="3600" b="0"/>
            </a:lvl1pPr>
          </a:lstStyle>
          <a:p>
            <a:pPr rtl="0"/>
            <a:r>
              <a:rPr lang="es-ES" noProof="0" smtClean="0"/>
              <a:t>Haga clic para modificar el estilo de título del patrón</a:t>
            </a:r>
            <a:endParaRPr lang="es-ES" noProof="0" dirty="0"/>
          </a:p>
        </p:txBody>
      </p:sp>
      <p:sp>
        <p:nvSpPr>
          <p:cNvPr id="3" name="Marcador de posición de imagen 2" descr="Marcador de posición vacío para agregar una imagen. Haga clic en el marcador de posición y seleccione la imagen que desee agregar"/>
          <p:cNvSpPr>
            <a:spLocks noGrp="1"/>
          </p:cNvSpPr>
          <p:nvPr>
            <p:ph type="pic" idx="1"/>
          </p:nvPr>
        </p:nvSpPr>
        <p:spPr>
          <a:xfrm>
            <a:off x="4875213" y="685800"/>
            <a:ext cx="6705600" cy="5486400"/>
          </a:xfrm>
          <a:ln w="63500">
            <a:solidFill>
              <a:schemeClr val="bg1"/>
            </a:solidFill>
            <a:miter lim="800000"/>
          </a:ln>
        </p:spPr>
        <p:txBody>
          <a:bodyPr rtlCol="0"/>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smtClean="0"/>
              <a:t>Haga clic en el icono para agregar una imagen</a:t>
            </a:r>
            <a:endParaRPr lang="es-ES" noProof="0" dirty="0"/>
          </a:p>
        </p:txBody>
      </p:sp>
      <p:sp>
        <p:nvSpPr>
          <p:cNvPr id="4" name="Marcador de posición de texto 3"/>
          <p:cNvSpPr>
            <a:spLocks noGrp="1"/>
          </p:cNvSpPr>
          <p:nvPr>
            <p:ph type="body" sz="half" idx="2"/>
          </p:nvPr>
        </p:nvSpPr>
        <p:spPr>
          <a:xfrm>
            <a:off x="608013" y="5410200"/>
            <a:ext cx="3962400" cy="762000"/>
          </a:xfrm>
        </p:spPr>
        <p:txBody>
          <a:bodyPr rtlCol="0">
            <a:normAutofit/>
          </a:bodyPr>
          <a:lstStyle>
            <a:lvl1pPr marL="0" indent="0" rtl="0">
              <a:spcBef>
                <a:spcPts val="0"/>
              </a:spcBef>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smtClean="0"/>
              <a:t>Haga clic para modificar el estilo de texto del patrón</a:t>
            </a:r>
          </a:p>
        </p:txBody>
      </p:sp>
      <p:sp>
        <p:nvSpPr>
          <p:cNvPr id="5" name="Marcador de posición de fecha 4"/>
          <p:cNvSpPr>
            <a:spLocks noGrp="1"/>
          </p:cNvSpPr>
          <p:nvPr>
            <p:ph type="dt" sz="half" idx="10"/>
          </p:nvPr>
        </p:nvSpPr>
        <p:spPr/>
        <p:txBody>
          <a:bodyPr rtlCol="0"/>
          <a:lstStyle/>
          <a:p>
            <a:pPr rtl="0"/>
            <a:fld id="{CCAA5B00-09C7-4B7A-8CDF-9B991296B47C}" type="datetime1">
              <a:rPr lang="es-ES" noProof="0" smtClean="0"/>
              <a:pPr rtl="0"/>
              <a:t>02/05/2018</a:t>
            </a:fld>
            <a:endParaRPr lang="es-ES" noProof="0" dirty="0"/>
          </a:p>
        </p:txBody>
      </p:sp>
      <p:sp>
        <p:nvSpPr>
          <p:cNvPr id="6" name="Marcador de posición de pie de página 5"/>
          <p:cNvSpPr>
            <a:spLocks noGrp="1"/>
          </p:cNvSpPr>
          <p:nvPr>
            <p:ph type="ftr" sz="quarter" idx="11"/>
          </p:nvPr>
        </p:nvSpPr>
        <p:spPr/>
        <p:txBody>
          <a:bodyPr rtlCol="0"/>
          <a:lstStyle/>
          <a:p>
            <a:pPr rtl="0"/>
            <a:r>
              <a:rPr lang="es-ES" noProof="0" dirty="0"/>
              <a:t>Agregar un pie de página</a:t>
            </a:r>
          </a:p>
        </p:txBody>
      </p:sp>
      <p:sp>
        <p:nvSpPr>
          <p:cNvPr id="7" name="Marcador de número de diapositiva 6"/>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33520414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lvl1pPr rtl="0">
              <a:defRPr/>
            </a:lvl1pPr>
          </a:lstStyle>
          <a:p>
            <a:pPr rtl="0"/>
            <a:r>
              <a:rPr lang="es-ES" noProof="0" smtClean="0"/>
              <a:t>Haga clic para modificar el estilo de título del patrón</a:t>
            </a:r>
            <a:endParaRPr lang="es-ES" noProof="0" dirty="0"/>
          </a:p>
        </p:txBody>
      </p:sp>
      <p:sp>
        <p:nvSpPr>
          <p:cNvPr id="3" name="Marcador de posición de texto vertical 2"/>
          <p:cNvSpPr>
            <a:spLocks noGrp="1"/>
          </p:cNvSpPr>
          <p:nvPr>
            <p:ph type="body" orient="vert" idx="1"/>
          </p:nvPr>
        </p:nvSpPr>
        <p:spPr/>
        <p:txBody>
          <a:bodyPr vert="eaVert" rtlCol="0"/>
          <a:lstStyle>
            <a:lvl1pPr rtl="0">
              <a:defRPr/>
            </a:lvl1pPr>
            <a:lvl5pPr>
              <a:defRPr/>
            </a:lvl5pPr>
            <a:lvl6pPr>
              <a:defRPr/>
            </a:lvl6pPr>
            <a:lvl7pPr>
              <a:defRPr/>
            </a:lvl7pPr>
            <a:lvl8pPr>
              <a:defRPr baseline="0"/>
            </a:lvl8pPr>
            <a:lvl9pPr>
              <a:defRPr baseline="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4" name="Marcador de posición de fecha 3"/>
          <p:cNvSpPr>
            <a:spLocks noGrp="1"/>
          </p:cNvSpPr>
          <p:nvPr>
            <p:ph type="dt" sz="half" idx="10"/>
          </p:nvPr>
        </p:nvSpPr>
        <p:spPr/>
        <p:txBody>
          <a:bodyPr rtlCol="0"/>
          <a:lstStyle/>
          <a:p>
            <a:pPr rtl="0"/>
            <a:fld id="{D3E7752E-D606-4F8B-9E9F-D982F1478DBD}" type="datetime1">
              <a:rPr lang="es-ES" noProof="0" smtClean="0"/>
              <a:pPr rtl="0"/>
              <a:t>02/05/2018</a:t>
            </a:fld>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6" name="Marcador de número de diapositiva 5"/>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217629468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10285412" y="685800"/>
            <a:ext cx="1295401" cy="5486400"/>
          </a:xfrm>
        </p:spPr>
        <p:txBody>
          <a:bodyPr vert="eaVert" rtlCol="0"/>
          <a:lstStyle>
            <a:lvl1pPr rtl="0">
              <a:defRPr/>
            </a:lvl1pPr>
          </a:lstStyle>
          <a:p>
            <a:pPr rtl="0"/>
            <a:r>
              <a:rPr lang="es-ES" noProof="0" smtClean="0"/>
              <a:t>Haga clic para modificar el estilo de título del patrón</a:t>
            </a:r>
            <a:endParaRPr lang="es-ES" noProof="0" dirty="0"/>
          </a:p>
        </p:txBody>
      </p:sp>
      <p:sp>
        <p:nvSpPr>
          <p:cNvPr id="3" name="Marcador de posición de texto vertical 2"/>
          <p:cNvSpPr>
            <a:spLocks noGrp="1"/>
          </p:cNvSpPr>
          <p:nvPr>
            <p:ph type="body" orient="vert" idx="1"/>
          </p:nvPr>
        </p:nvSpPr>
        <p:spPr>
          <a:xfrm>
            <a:off x="608012" y="685800"/>
            <a:ext cx="9474253" cy="5486400"/>
          </a:xfrm>
        </p:spPr>
        <p:txBody>
          <a:bodyPr vert="eaVert" rtlCol="0"/>
          <a:lstStyle>
            <a:lvl1pPr rtl="0">
              <a:defRPr/>
            </a:lvl1pPr>
            <a:lvl5pPr>
              <a:defRPr/>
            </a:lvl5pPr>
            <a:lvl6pPr>
              <a:defRPr/>
            </a:lvl6pPr>
            <a:lvl7pPr>
              <a:defRPr/>
            </a:lvl7pPr>
            <a:lvl8pPr>
              <a:defRPr baseline="0"/>
            </a:lvl8pPr>
            <a:lvl9pPr>
              <a:defRPr baseline="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4" name="Marcador de posición de fecha 3"/>
          <p:cNvSpPr>
            <a:spLocks noGrp="1"/>
          </p:cNvSpPr>
          <p:nvPr>
            <p:ph type="dt" sz="half" idx="10"/>
          </p:nvPr>
        </p:nvSpPr>
        <p:spPr/>
        <p:txBody>
          <a:bodyPr rtlCol="0"/>
          <a:lstStyle/>
          <a:p>
            <a:pPr rtl="0"/>
            <a:fld id="{491AA74D-3B0C-480E-8EE8-D6B4F06534F8}" type="datetime1">
              <a:rPr lang="es-ES" noProof="0" smtClean="0"/>
              <a:pPr rtl="0"/>
              <a:t>02/05/2018</a:t>
            </a:fld>
            <a:endParaRPr lang="es-ES" noProof="0" dirty="0"/>
          </a:p>
        </p:txBody>
      </p:sp>
      <p:sp>
        <p:nvSpPr>
          <p:cNvPr id="5" name="Marcador de posición de pie de página 4"/>
          <p:cNvSpPr>
            <a:spLocks noGrp="1"/>
          </p:cNvSpPr>
          <p:nvPr>
            <p:ph type="ftr" sz="quarter" idx="11"/>
          </p:nvPr>
        </p:nvSpPr>
        <p:spPr/>
        <p:txBody>
          <a:bodyPr rtlCol="0"/>
          <a:lstStyle/>
          <a:p>
            <a:pPr rtl="0"/>
            <a:r>
              <a:rPr lang="es-ES" noProof="0" dirty="0"/>
              <a:t>Agregar un pie de página</a:t>
            </a:r>
          </a:p>
        </p:txBody>
      </p:sp>
      <p:sp>
        <p:nvSpPr>
          <p:cNvPr id="6" name="Marcador de número de diapositiva 5"/>
          <p:cNvSpPr>
            <a:spLocks noGrp="1"/>
          </p:cNvSpPr>
          <p:nvPr>
            <p:ph type="sldNum" sz="quarter" idx="12"/>
          </p:nvPr>
        </p:nvSpPr>
        <p:spPr/>
        <p:txBody>
          <a:bodyPr rtlCol="0"/>
          <a:lstStyle/>
          <a:p>
            <a:pPr rtl="0"/>
            <a:fld id="{A3F31473-23EB-4724-8B59-FE6D21D89FA4}" type="slidenum">
              <a:rPr lang="es-ES" noProof="0"/>
              <a:pPr rtl="0"/>
              <a:t>‹Nº›</a:t>
            </a:fld>
            <a:endParaRPr lang="es-ES" noProof="0" dirty="0"/>
          </a:p>
        </p:txBody>
      </p:sp>
    </p:spTree>
    <p:extLst>
      <p:ext uri="{BB962C8B-B14F-4D97-AF65-F5344CB8AC3E}">
        <p14:creationId xmlns:p14="http://schemas.microsoft.com/office/powerpoint/2010/main" xmlns="" val="385005245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Marcador de posición de título 1"/>
          <p:cNvSpPr>
            <a:spLocks noGrp="1"/>
          </p:cNvSpPr>
          <p:nvPr>
            <p:ph type="title"/>
          </p:nvPr>
        </p:nvSpPr>
        <p:spPr>
          <a:xfrm>
            <a:off x="609441" y="5105400"/>
            <a:ext cx="10971372" cy="1066800"/>
          </a:xfrm>
          <a:prstGeom prst="rect">
            <a:avLst/>
          </a:prstGeom>
        </p:spPr>
        <p:txBody>
          <a:bodyPr vert="horz" lIns="91440" tIns="45720" rIns="91440" bIns="45720" rtlCol="0" anchor="b">
            <a:normAutofit/>
          </a:bodyPr>
          <a:lstStyle/>
          <a:p>
            <a:pPr rtl="0"/>
            <a:r>
              <a:rPr lang="es-ES" noProof="0" dirty="0"/>
              <a:t>Haga clic para modificar el estilo de título del patrón</a:t>
            </a:r>
          </a:p>
        </p:txBody>
      </p:sp>
      <p:sp>
        <p:nvSpPr>
          <p:cNvPr id="3" name="Marcador de posición de texto 2"/>
          <p:cNvSpPr>
            <a:spLocks noGrp="1"/>
          </p:cNvSpPr>
          <p:nvPr>
            <p:ph type="body" idx="1"/>
          </p:nvPr>
        </p:nvSpPr>
        <p:spPr>
          <a:xfrm>
            <a:off x="1293813" y="685800"/>
            <a:ext cx="10287000" cy="4190999"/>
          </a:xfrm>
          <a:prstGeom prst="rect">
            <a:avLst/>
          </a:prstGeom>
        </p:spPr>
        <p:txBody>
          <a:bodyPr vert="horz" lIns="91440" tIns="45720" rIns="91440" bIns="45720" rtlCol="0">
            <a:normAutofit/>
          </a:bodyPr>
          <a:lstStyle/>
          <a:p>
            <a:pPr lvl="0" rtl="0"/>
            <a:r>
              <a:rPr lang="es-ES" noProof="0" dirty="0"/>
              <a:t>Editar el estilo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posición de fecha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200">
                <a:solidFill>
                  <a:schemeClr val="tx2">
                    <a:lumMod val="65000"/>
                    <a:lumOff val="35000"/>
                  </a:schemeClr>
                </a:solidFill>
              </a:defRPr>
            </a:lvl1pPr>
          </a:lstStyle>
          <a:p>
            <a:pPr rtl="0"/>
            <a:fld id="{6635EF74-302A-4764-BD96-22C7FA77AF5B}" type="datetime1">
              <a:rPr lang="es-ES" noProof="0" smtClean="0"/>
              <a:pPr rtl="0"/>
              <a:t>02/05/2018</a:t>
            </a:fld>
            <a:endParaRPr lang="es-ES" noProof="0" dirty="0"/>
          </a:p>
        </p:txBody>
      </p:sp>
      <p:sp>
        <p:nvSpPr>
          <p:cNvPr id="5" name="Marcador de posición de pie de página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200">
                <a:solidFill>
                  <a:schemeClr val="tx2">
                    <a:lumMod val="65000"/>
                    <a:lumOff val="35000"/>
                  </a:schemeClr>
                </a:solidFill>
              </a:defRPr>
            </a:lvl1pPr>
          </a:lstStyle>
          <a:p>
            <a:pPr rtl="0"/>
            <a:r>
              <a:rPr lang="es-ES" noProof="0" dirty="0"/>
              <a:t>Agregar un pie de página</a:t>
            </a:r>
          </a:p>
        </p:txBody>
      </p:sp>
      <p:sp>
        <p:nvSpPr>
          <p:cNvPr id="6" name="Marcador de número de diapositiva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200">
                <a:solidFill>
                  <a:schemeClr val="tx2">
                    <a:lumMod val="65000"/>
                    <a:lumOff val="35000"/>
                  </a:schemeClr>
                </a:solidFill>
              </a:defRPr>
            </a:lvl1pPr>
          </a:lstStyle>
          <a:p>
            <a:pPr rtl="0"/>
            <a:fld id="{A3F31473-23EB-4724-8B59-FE6D21D89FA4}" type="slidenum">
              <a:rPr lang="es-ES" noProof="0" smtClean="0"/>
              <a:pPr rtl="0"/>
              <a:t>‹Nº›</a:t>
            </a:fld>
            <a:endParaRPr lang="es-ES" noProof="0" dirty="0"/>
          </a:p>
        </p:txBody>
      </p:sp>
    </p:spTree>
    <p:extLst>
      <p:ext uri="{BB962C8B-B14F-4D97-AF65-F5344CB8AC3E}">
        <p14:creationId xmlns:p14="http://schemas.microsoft.com/office/powerpoint/2010/main" xmlns="" val="34492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8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tx1"/>
        </a:buClr>
        <a:buSzPct val="80000"/>
        <a:buFont typeface="Arial" pitchFamily="34" charset="0"/>
        <a:buChar char="•"/>
        <a:defRPr sz="2800" kern="1200">
          <a:solidFill>
            <a:schemeClr val="tx1"/>
          </a:solidFill>
          <a:latin typeface="+mn-lt"/>
          <a:ea typeface="+mn-ea"/>
          <a:cs typeface="+mn-cs"/>
        </a:defRPr>
      </a:lvl1pPr>
      <a:lvl2pPr marL="615950" indent="-285750" algn="l" defTabSz="914400" rtl="0" eaLnBrk="1" latinLnBrk="0" hangingPunct="1">
        <a:lnSpc>
          <a:spcPct val="90000"/>
        </a:lnSpc>
        <a:spcBef>
          <a:spcPts val="600"/>
        </a:spcBef>
        <a:buSzPct val="80000"/>
        <a:buFont typeface="Corbel" pitchFamily="34" charset="0"/>
        <a:buChar char="–"/>
        <a:defRPr sz="2400" kern="1200">
          <a:solidFill>
            <a:schemeClr val="tx1"/>
          </a:solidFill>
          <a:latin typeface="+mn-lt"/>
          <a:ea typeface="+mn-ea"/>
          <a:cs typeface="+mn-cs"/>
        </a:defRPr>
      </a:lvl2pPr>
      <a:lvl3pPr marL="996696" indent="-228600" algn="l" defTabSz="914400" rtl="0" eaLnBrk="1" latinLnBrk="0" hangingPunct="1">
        <a:lnSpc>
          <a:spcPct val="90000"/>
        </a:lnSpc>
        <a:spcBef>
          <a:spcPts val="600"/>
        </a:spcBef>
        <a:buClr>
          <a:schemeClr val="tx1"/>
        </a:buClr>
        <a:buSzPct val="80000"/>
        <a:buFont typeface="Arial" pitchFamily="34" charset="0"/>
        <a:buChar char="•"/>
        <a:defRPr sz="2000" kern="1200">
          <a:solidFill>
            <a:schemeClr val="tx1"/>
          </a:solidFill>
          <a:latin typeface="+mn-lt"/>
          <a:ea typeface="+mn-ea"/>
          <a:cs typeface="+mn-cs"/>
        </a:defRPr>
      </a:lvl3pPr>
      <a:lvl4pPr marL="1380744" indent="-283464" algn="l" defTabSz="914400" rtl="0" eaLnBrk="1" latinLnBrk="0" hangingPunct="1">
        <a:lnSpc>
          <a:spcPct val="90000"/>
        </a:lnSpc>
        <a:spcBef>
          <a:spcPts val="600"/>
        </a:spcBef>
        <a:buFont typeface="Corbel" pitchFamily="34" charset="0"/>
        <a:buChar char="–"/>
        <a:defRPr sz="1800" kern="1200">
          <a:solidFill>
            <a:schemeClr val="tx1"/>
          </a:solidFill>
          <a:latin typeface="+mn-lt"/>
          <a:ea typeface="+mn-ea"/>
          <a:cs typeface="+mn-cs"/>
        </a:defRPr>
      </a:lvl4pPr>
      <a:lvl5pPr marL="1764792" indent="-228600" algn="l" defTabSz="914400" rtl="0" eaLnBrk="1" latinLnBrk="0" hangingPunct="1">
        <a:lnSpc>
          <a:spcPct val="90000"/>
        </a:lnSpc>
        <a:spcBef>
          <a:spcPts val="600"/>
        </a:spcBef>
        <a:buClr>
          <a:schemeClr val="tx1"/>
        </a:buClr>
        <a:buSzPct val="80000"/>
        <a:buFont typeface="Arial" pitchFamily="34" charset="0"/>
        <a:buChar char="•"/>
        <a:defRPr sz="1800"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hyperlink" Target="http://rextester.com/l/r_online_compiler" TargetMode="Externa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08013" y="685801"/>
            <a:ext cx="3962400" cy="4100521"/>
          </a:xfrm>
        </p:spPr>
        <p:txBody>
          <a:bodyPr rtlCol="0"/>
          <a:lstStyle/>
          <a:p>
            <a:r>
              <a:rPr lang="es-ES" dirty="0" smtClean="0"/>
              <a:t>Curso Análisis Estadístico de datos: software R</a:t>
            </a:r>
            <a:endParaRPr lang="es-ES" dirty="0"/>
          </a:p>
        </p:txBody>
      </p:sp>
      <p:sp>
        <p:nvSpPr>
          <p:cNvPr id="3" name="Subtítulo 2"/>
          <p:cNvSpPr>
            <a:spLocks noGrp="1"/>
          </p:cNvSpPr>
          <p:nvPr>
            <p:ph type="subTitle" idx="1"/>
          </p:nvPr>
        </p:nvSpPr>
        <p:spPr>
          <a:xfrm>
            <a:off x="608012" y="5410200"/>
            <a:ext cx="4200515" cy="762000"/>
          </a:xfrm>
        </p:spPr>
        <p:txBody>
          <a:bodyPr rtlCol="0">
            <a:normAutofit fontScale="85000" lnSpcReduction="10000"/>
          </a:bodyPr>
          <a:lstStyle/>
          <a:p>
            <a:pPr rtl="0"/>
            <a:r>
              <a:rPr lang="es-ES" dirty="0" smtClean="0"/>
              <a:t>Andrés Felipe Ochoa Muñoz</a:t>
            </a:r>
          </a:p>
          <a:p>
            <a:pPr rtl="0"/>
            <a:r>
              <a:rPr lang="es-ES" dirty="0" smtClean="0"/>
              <a:t>andres.ochoa@correounivalle.edu.co</a:t>
            </a:r>
            <a:endParaRPr lang="es-ES" dirty="0"/>
          </a:p>
        </p:txBody>
      </p:sp>
      <p:pic>
        <p:nvPicPr>
          <p:cNvPr id="1026" name="Picture 2" descr="C:\Users\Andres\Desktop\Curso R Banco 2018\Rlogo.png"/>
          <p:cNvPicPr>
            <a:picLocks noChangeAspect="1" noChangeArrowheads="1"/>
          </p:cNvPicPr>
          <p:nvPr/>
        </p:nvPicPr>
        <p:blipFill>
          <a:blip r:embed="rId3"/>
          <a:srcRect/>
          <a:stretch>
            <a:fillRect/>
          </a:stretch>
        </p:blipFill>
        <p:spPr bwMode="auto">
          <a:xfrm>
            <a:off x="7094544" y="3071810"/>
            <a:ext cx="2274937" cy="1762762"/>
          </a:xfrm>
          <a:prstGeom prst="rect">
            <a:avLst/>
          </a:prstGeom>
          <a:noFill/>
        </p:spPr>
      </p:pic>
    </p:spTree>
    <p:extLst>
      <p:ext uri="{BB962C8B-B14F-4D97-AF65-F5344CB8AC3E}">
        <p14:creationId xmlns:p14="http://schemas.microsoft.com/office/powerpoint/2010/main" xmlns="" val="34408012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p:cNvSpPr>
            <a:spLocks noGrp="1"/>
          </p:cNvSpPr>
          <p:nvPr>
            <p:ph type="title"/>
          </p:nvPr>
        </p:nvSpPr>
        <p:spPr/>
        <p:txBody>
          <a:bodyPr rtlCol="0"/>
          <a:lstStyle/>
          <a:p>
            <a:r>
              <a:rPr lang="es-CO" dirty="0" smtClean="0"/>
              <a:t>Introducción a R</a:t>
            </a:r>
            <a:endParaRPr lang="es-ES" dirty="0"/>
          </a:p>
        </p:txBody>
      </p:sp>
      <p:sp>
        <p:nvSpPr>
          <p:cNvPr id="14" name="Marcador de posición de contenido 13"/>
          <p:cNvSpPr>
            <a:spLocks noGrp="1"/>
          </p:cNvSpPr>
          <p:nvPr>
            <p:ph idx="1"/>
          </p:nvPr>
        </p:nvSpPr>
        <p:spPr/>
        <p:txBody>
          <a:bodyPr rtlCol="0"/>
          <a:lstStyle/>
          <a:p>
            <a:r>
              <a:rPr lang="es-CO" b="1" dirty="0" smtClean="0"/>
              <a:t>R</a:t>
            </a:r>
            <a:r>
              <a:rPr lang="es-CO" dirty="0" smtClean="0"/>
              <a:t> es un entorno y lenguaje de programación con un enfoque al análisis estadístico</a:t>
            </a:r>
          </a:p>
          <a:p>
            <a:r>
              <a:rPr lang="es-CO" dirty="0" smtClean="0"/>
              <a:t>Se puede considerar a </a:t>
            </a:r>
            <a:r>
              <a:rPr lang="es-CO" b="1" dirty="0" smtClean="0"/>
              <a:t>R </a:t>
            </a:r>
            <a:r>
              <a:rPr lang="es-CO" dirty="0" smtClean="0"/>
              <a:t>como un conjunto integrado de programas para la manipulación de datos, la realización de cálculos y gráficos. El cual fue creado por </a:t>
            </a:r>
            <a:r>
              <a:rPr lang="es-CO" b="1" dirty="0" smtClean="0"/>
              <a:t>R</a:t>
            </a:r>
            <a:r>
              <a:rPr lang="es-CO" dirty="0" smtClean="0"/>
              <a:t>oss </a:t>
            </a:r>
            <a:r>
              <a:rPr lang="es-CO" dirty="0" err="1" smtClean="0"/>
              <a:t>Ihaka</a:t>
            </a:r>
            <a:r>
              <a:rPr lang="es-CO" dirty="0" smtClean="0"/>
              <a:t> y </a:t>
            </a:r>
            <a:r>
              <a:rPr lang="es-CO" b="1" dirty="0" smtClean="0"/>
              <a:t>R</a:t>
            </a:r>
            <a:r>
              <a:rPr lang="es-CO" dirty="0" smtClean="0"/>
              <a:t>obert Gentleman (1996), del Departamento de Estadística de la Universidad de </a:t>
            </a:r>
            <a:r>
              <a:rPr lang="es-CO" dirty="0" err="1" smtClean="0"/>
              <a:t>Auckland</a:t>
            </a:r>
            <a:r>
              <a:rPr lang="es-CO" dirty="0" smtClean="0"/>
              <a:t> (Nueva Zelanda)</a:t>
            </a:r>
            <a:endParaRPr lang="es-ES" dirty="0"/>
          </a:p>
        </p:txBody>
      </p:sp>
    </p:spTree>
    <p:extLst>
      <p:ext uri="{BB962C8B-B14F-4D97-AF65-F5344CB8AC3E}">
        <p14:creationId xmlns:p14="http://schemas.microsoft.com/office/powerpoint/2010/main" xmlns="" val="112672342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Atractivos de R</a:t>
            </a:r>
            <a:endParaRPr lang="es-CO" dirty="0"/>
          </a:p>
        </p:txBody>
      </p:sp>
      <p:sp>
        <p:nvSpPr>
          <p:cNvPr id="3" name="2 Marcador de contenido"/>
          <p:cNvSpPr>
            <a:spLocks noGrp="1"/>
          </p:cNvSpPr>
          <p:nvPr>
            <p:ph idx="1"/>
          </p:nvPr>
        </p:nvSpPr>
        <p:spPr/>
        <p:txBody>
          <a:bodyPr/>
          <a:lstStyle/>
          <a:p>
            <a:r>
              <a:rPr lang="es-CO" dirty="0" smtClean="0"/>
              <a:t>Se trata de uno de los lenguajes más utilizados en investigación por la comunidad estadística, siendo además muy popular en el campo de la minería de datos, la investigación biomédica, la bioinformática y las matemáticas financieras</a:t>
            </a:r>
          </a:p>
          <a:p>
            <a:r>
              <a:rPr lang="es-CO" dirty="0" smtClean="0"/>
              <a:t>R cuenta con diferentes paquetes que se actualizan constantemente según los avances de la estadística. Ejemplo: </a:t>
            </a:r>
            <a:r>
              <a:rPr lang="es-CO" dirty="0" err="1" smtClean="0"/>
              <a:t>FactoMineR</a:t>
            </a:r>
            <a:r>
              <a:rPr lang="es-CO" dirty="0" smtClean="0"/>
              <a:t> (Análisis Multivariado), </a:t>
            </a:r>
            <a:r>
              <a:rPr lang="es-CO" dirty="0" err="1" smtClean="0"/>
              <a:t>ggplot</a:t>
            </a:r>
            <a:r>
              <a:rPr lang="es-CO" dirty="0" smtClean="0"/>
              <a:t> (Gráficos avanzados), </a:t>
            </a:r>
            <a:r>
              <a:rPr lang="es-CO" dirty="0" err="1" smtClean="0"/>
              <a:t>etc</a:t>
            </a:r>
            <a:endParaRPr lang="es-CO" dirty="0" smtClean="0"/>
          </a:p>
          <a:p>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Atractivos de R</a:t>
            </a:r>
            <a:endParaRPr lang="es-CO" dirty="0"/>
          </a:p>
        </p:txBody>
      </p:sp>
      <p:sp>
        <p:nvSpPr>
          <p:cNvPr id="3" name="2 Marcador de contenido"/>
          <p:cNvSpPr>
            <a:spLocks noGrp="1"/>
          </p:cNvSpPr>
          <p:nvPr>
            <p:ph idx="1"/>
          </p:nvPr>
        </p:nvSpPr>
        <p:spPr/>
        <p:txBody>
          <a:bodyPr/>
          <a:lstStyle/>
          <a:p>
            <a:r>
              <a:rPr lang="es-CO" dirty="0" smtClean="0"/>
              <a:t>Gran Flexibilidad para combinar diferentes análisis estadísticos, específicos para una situación. Capacidad de manipular y modificar datos, procedimientos y funciones</a:t>
            </a:r>
          </a:p>
          <a:p>
            <a:r>
              <a:rPr lang="es-CO" dirty="0" smtClean="0"/>
              <a:t>La Comunidad </a:t>
            </a:r>
            <a:r>
              <a:rPr lang="es-CO" b="1" dirty="0" smtClean="0"/>
              <a:t>R </a:t>
            </a:r>
            <a:r>
              <a:rPr lang="es-CO" dirty="0" smtClean="0"/>
              <a:t>es muy dinámica (Crecimiento constante de paquetes), integrada por estadísticos de gran renombre. Extensiones especificas a áreas nuevas (Bioinformática, Geoestadística, Regresión no paramétrica).</a:t>
            </a: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Atractivos de R</a:t>
            </a:r>
            <a:endParaRPr lang="es-CO" dirty="0"/>
          </a:p>
        </p:txBody>
      </p:sp>
      <p:sp>
        <p:nvSpPr>
          <p:cNvPr id="3" name="2 Marcador de contenido"/>
          <p:cNvSpPr>
            <a:spLocks noGrp="1"/>
          </p:cNvSpPr>
          <p:nvPr>
            <p:ph idx="1"/>
          </p:nvPr>
        </p:nvSpPr>
        <p:spPr/>
        <p:txBody>
          <a:bodyPr/>
          <a:lstStyle/>
          <a:p>
            <a:r>
              <a:rPr lang="es-CO" dirty="0" smtClean="0"/>
              <a:t>Gráficos de alta calidad (revelaciones de la visualización de datos y producción de gráficas para </a:t>
            </a:r>
            <a:r>
              <a:rPr lang="es-CO" dirty="0" err="1" smtClean="0"/>
              <a:t>papers</a:t>
            </a:r>
            <a:r>
              <a:rPr lang="es-CO" dirty="0" smtClean="0"/>
              <a:t>, altamente compatibles con software de edición científicos).</a:t>
            </a:r>
          </a:p>
          <a:p>
            <a:r>
              <a:rPr lang="es-CO" dirty="0" smtClean="0"/>
              <a:t>Rápida implementación de avances metodológicos en estadística.</a:t>
            </a:r>
          </a:p>
          <a:p>
            <a:r>
              <a:rPr lang="es-CO" b="1" dirty="0" smtClean="0"/>
              <a:t>R </a:t>
            </a:r>
            <a:r>
              <a:rPr lang="es-CO" dirty="0" smtClean="0"/>
              <a:t>es un software libre y puede ser descargado desde el sitio web: (http://cran.r-project.org).</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Atractivos de R</a:t>
            </a:r>
            <a:endParaRPr lang="es-CO" dirty="0"/>
          </a:p>
        </p:txBody>
      </p:sp>
      <p:sp>
        <p:nvSpPr>
          <p:cNvPr id="3" name="2 Marcador de contenido"/>
          <p:cNvSpPr>
            <a:spLocks noGrp="1"/>
          </p:cNvSpPr>
          <p:nvPr>
            <p:ph idx="1"/>
          </p:nvPr>
        </p:nvSpPr>
        <p:spPr/>
        <p:txBody>
          <a:bodyPr/>
          <a:lstStyle/>
          <a:p>
            <a:r>
              <a:rPr lang="es-CO" dirty="0" smtClean="0"/>
              <a:t>Libertad de estudiar el funcionamiento del programa y adaptarlo a</a:t>
            </a:r>
            <a:br>
              <a:rPr lang="es-CO" dirty="0" smtClean="0"/>
            </a:br>
            <a:r>
              <a:rPr lang="es-CO" dirty="0" smtClean="0"/>
              <a:t>sus necesidades (Acceso al código fuente).</a:t>
            </a:r>
          </a:p>
          <a:p>
            <a:r>
              <a:rPr lang="es-CO" dirty="0" smtClean="0"/>
              <a:t>Libertad de distribuir copias para ayudar a los demás sin animo de</a:t>
            </a:r>
            <a:br>
              <a:rPr lang="es-CO" dirty="0" smtClean="0"/>
            </a:br>
            <a:r>
              <a:rPr lang="es-CO" dirty="0" smtClean="0"/>
              <a:t>lucro.</a:t>
            </a:r>
          </a:p>
          <a:p>
            <a:r>
              <a:rPr lang="es-CO" dirty="0" smtClean="0"/>
              <a:t>Libertad de mejorar el programa y de publicar las mejoras, de modo que toda la comunidad se beneficie (Acceso al Código Fuente)</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dirty="0" smtClean="0"/>
              <a:t>Algunos ejemplos</a:t>
            </a:r>
            <a:endParaRPr lang="es-ES" dirty="0"/>
          </a:p>
        </p:txBody>
      </p:sp>
      <p:pic>
        <p:nvPicPr>
          <p:cNvPr id="5" name="4 Marcador de contenido" descr="C:\Users\Andres\Desktop\box_7-1.png"/>
          <p:cNvPicPr>
            <a:picLocks noGrp="1"/>
          </p:cNvPicPr>
          <p:nvPr>
            <p:ph idx="1"/>
          </p:nvPr>
        </p:nvPicPr>
        <p:blipFill>
          <a:blip r:embed="rId3"/>
          <a:srcRect/>
          <a:stretch>
            <a:fillRect/>
          </a:stretch>
        </p:blipFill>
        <p:spPr bwMode="auto">
          <a:xfrm>
            <a:off x="808000" y="571480"/>
            <a:ext cx="4643470" cy="3857652"/>
          </a:xfrm>
          <a:prstGeom prst="rect">
            <a:avLst/>
          </a:prstGeom>
          <a:noFill/>
          <a:ln w="9525">
            <a:noFill/>
            <a:miter lim="800000"/>
            <a:headEnd/>
            <a:tailEnd/>
          </a:ln>
        </p:spPr>
      </p:pic>
      <p:pic>
        <p:nvPicPr>
          <p:cNvPr id="2050" name="Picture 2" descr="C:\Users\Andres\Desktop\Curso R Banco 2018\ClusterColor.png"/>
          <p:cNvPicPr>
            <a:picLocks noChangeAspect="1" noChangeArrowheads="1"/>
          </p:cNvPicPr>
          <p:nvPr/>
        </p:nvPicPr>
        <p:blipFill>
          <a:blip r:embed="rId4"/>
          <a:srcRect/>
          <a:stretch>
            <a:fillRect/>
          </a:stretch>
        </p:blipFill>
        <p:spPr bwMode="auto">
          <a:xfrm>
            <a:off x="6094412" y="714356"/>
            <a:ext cx="5430660" cy="4286248"/>
          </a:xfrm>
          <a:prstGeom prst="rect">
            <a:avLst/>
          </a:prstGeom>
          <a:noFill/>
        </p:spPr>
      </p:pic>
    </p:spTree>
    <p:extLst>
      <p:ext uri="{BB962C8B-B14F-4D97-AF65-F5344CB8AC3E}">
        <p14:creationId xmlns:p14="http://schemas.microsoft.com/office/powerpoint/2010/main" xmlns="" val="265516694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Algunos ejemplos</a:t>
            </a:r>
            <a:endParaRPr lang="es-CO" dirty="0"/>
          </a:p>
        </p:txBody>
      </p:sp>
      <p:pic>
        <p:nvPicPr>
          <p:cNvPr id="3074" name="Picture 2" descr="C:\Users\Andres\Desktop\Curso R Banco 2018\wordcloud_packages.png"/>
          <p:cNvPicPr>
            <a:picLocks noGrp="1" noChangeAspect="1" noChangeArrowheads="1"/>
          </p:cNvPicPr>
          <p:nvPr>
            <p:ph idx="1"/>
          </p:nvPr>
        </p:nvPicPr>
        <p:blipFill>
          <a:blip r:embed="rId2"/>
          <a:srcRect/>
          <a:stretch>
            <a:fillRect/>
          </a:stretch>
        </p:blipFill>
        <p:spPr bwMode="auto">
          <a:xfrm>
            <a:off x="950876" y="785793"/>
            <a:ext cx="4857784" cy="4384431"/>
          </a:xfrm>
          <a:prstGeom prst="rect">
            <a:avLst/>
          </a:prstGeom>
          <a:noFill/>
        </p:spPr>
      </p:pic>
      <p:pic>
        <p:nvPicPr>
          <p:cNvPr id="3076" name="Picture 4" descr="C:\Users\Andres\Desktop\Curso R Banco 2018\GrMapa.png"/>
          <p:cNvPicPr>
            <a:picLocks noChangeAspect="1" noChangeArrowheads="1"/>
          </p:cNvPicPr>
          <p:nvPr/>
        </p:nvPicPr>
        <p:blipFill>
          <a:blip r:embed="rId3"/>
          <a:srcRect/>
          <a:stretch>
            <a:fillRect/>
          </a:stretch>
        </p:blipFill>
        <p:spPr bwMode="auto">
          <a:xfrm>
            <a:off x="6308726" y="571480"/>
            <a:ext cx="4850404" cy="4857762"/>
          </a:xfrm>
          <a:prstGeom prst="rect">
            <a:avLst/>
          </a:prstGeom>
          <a:noFill/>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Algunos ejemplos</a:t>
            </a:r>
            <a:endParaRPr lang="es-CO" dirty="0"/>
          </a:p>
        </p:txBody>
      </p:sp>
      <p:pic>
        <p:nvPicPr>
          <p:cNvPr id="3074" name="Picture 2" descr="C:\Users\Andres\Desktop\Curso R Banco 2018\pira.jpg"/>
          <p:cNvPicPr>
            <a:picLocks noChangeAspect="1" noChangeArrowheads="1"/>
          </p:cNvPicPr>
          <p:nvPr/>
        </p:nvPicPr>
        <p:blipFill>
          <a:blip r:embed="rId2"/>
          <a:srcRect r="21120"/>
          <a:stretch>
            <a:fillRect/>
          </a:stretch>
        </p:blipFill>
        <p:spPr bwMode="auto">
          <a:xfrm>
            <a:off x="879437" y="785793"/>
            <a:ext cx="4941745" cy="4214843"/>
          </a:xfrm>
          <a:prstGeom prst="rect">
            <a:avLst/>
          </a:prstGeom>
          <a:noFill/>
        </p:spPr>
      </p:pic>
      <p:pic>
        <p:nvPicPr>
          <p:cNvPr id="6" name="5 Imagen" descr="C:\Users\Andres\Desktop\gg_ind_gdp_PRNT-730x456.png"/>
          <p:cNvPicPr/>
          <p:nvPr/>
        </p:nvPicPr>
        <p:blipFill>
          <a:blip r:embed="rId3"/>
          <a:srcRect/>
          <a:stretch>
            <a:fillRect/>
          </a:stretch>
        </p:blipFill>
        <p:spPr bwMode="auto">
          <a:xfrm>
            <a:off x="6094413" y="1000108"/>
            <a:ext cx="5643602" cy="3714776"/>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Algunos ejemplos</a:t>
            </a:r>
            <a:endParaRPr lang="es-CO" dirty="0"/>
          </a:p>
        </p:txBody>
      </p:sp>
      <p:sp>
        <p:nvSpPr>
          <p:cNvPr id="3" name="2 Marcador de contenido"/>
          <p:cNvSpPr>
            <a:spLocks noGrp="1"/>
          </p:cNvSpPr>
          <p:nvPr>
            <p:ph idx="1"/>
          </p:nvPr>
        </p:nvSpPr>
        <p:spPr/>
        <p:txBody>
          <a:bodyPr/>
          <a:lstStyle/>
          <a:p>
            <a:r>
              <a:rPr lang="es-CO" dirty="0" smtClean="0"/>
              <a:t>Ir a la consola y escribir</a:t>
            </a:r>
          </a:p>
          <a:p>
            <a:endParaRPr lang="es-CO" dirty="0" smtClean="0"/>
          </a:p>
          <a:p>
            <a:r>
              <a:rPr lang="es-CO" dirty="0" smtClean="0"/>
              <a:t>demo(</a:t>
            </a:r>
            <a:r>
              <a:rPr lang="es-CO" dirty="0" err="1" smtClean="0"/>
              <a:t>graphics</a:t>
            </a:r>
            <a:r>
              <a:rPr lang="es-CO" dirty="0" smtClean="0"/>
              <a:t>)  # Gráficos</a:t>
            </a:r>
          </a:p>
          <a:p>
            <a:r>
              <a:rPr lang="es-CO" dirty="0" smtClean="0"/>
              <a:t>demo(</a:t>
            </a:r>
            <a:r>
              <a:rPr lang="es-CO" dirty="0" err="1" smtClean="0"/>
              <a:t>image</a:t>
            </a:r>
            <a:r>
              <a:rPr lang="es-CO" dirty="0" smtClean="0"/>
              <a:t>)       # Gráficos</a:t>
            </a:r>
          </a:p>
          <a:p>
            <a:r>
              <a:rPr lang="es-CO" dirty="0" smtClean="0"/>
              <a:t>demo(</a:t>
            </a:r>
            <a:r>
              <a:rPr lang="es-CO" dirty="0" err="1" smtClean="0"/>
              <a:t>plotmath</a:t>
            </a:r>
            <a:r>
              <a:rPr lang="es-CO" dirty="0" smtClean="0"/>
              <a:t>)  # Expresiones matemáticas </a:t>
            </a:r>
          </a:p>
          <a:p>
            <a:r>
              <a:rPr lang="es-CO" dirty="0" smtClean="0"/>
              <a:t>demo(</a:t>
            </a:r>
            <a:r>
              <a:rPr lang="es-CO" dirty="0" err="1" smtClean="0"/>
              <a:t>colors</a:t>
            </a:r>
            <a:r>
              <a:rPr lang="es-CO" dirty="0" smtClean="0"/>
              <a:t>)   # paleta de colores</a:t>
            </a:r>
          </a:p>
          <a:p>
            <a:r>
              <a:rPr lang="es-CO" dirty="0" smtClean="0"/>
              <a:t>demo(</a:t>
            </a:r>
            <a:r>
              <a:rPr lang="es-CO" dirty="0" err="1" smtClean="0"/>
              <a:t>Hershey</a:t>
            </a:r>
            <a:r>
              <a:rPr lang="es-CO" dirty="0" smtClean="0"/>
              <a:t>)  # </a:t>
            </a:r>
            <a:r>
              <a:rPr lang="es-CO" dirty="0" err="1" smtClean="0"/>
              <a:t>Simbolos</a:t>
            </a: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Algunos ejemplos</a:t>
            </a:r>
            <a:endParaRPr lang="es-CO" dirty="0"/>
          </a:p>
        </p:txBody>
      </p:sp>
      <p:sp>
        <p:nvSpPr>
          <p:cNvPr id="3" name="2 Marcador de contenido"/>
          <p:cNvSpPr>
            <a:spLocks noGrp="1"/>
          </p:cNvSpPr>
          <p:nvPr>
            <p:ph idx="1"/>
          </p:nvPr>
        </p:nvSpPr>
        <p:spPr>
          <a:xfrm>
            <a:off x="1293813" y="685800"/>
            <a:ext cx="10287000" cy="4672026"/>
          </a:xfrm>
        </p:spPr>
        <p:txBody>
          <a:bodyPr/>
          <a:lstStyle/>
          <a:p>
            <a:r>
              <a:rPr lang="es-CO" dirty="0" smtClean="0"/>
              <a:t>Se puede trabajar diferentes áreas de la estadística que comprenden el uso de diferentes tipos de datos, tales como: mapas, textos, documentos en </a:t>
            </a:r>
            <a:r>
              <a:rPr lang="es-CO" dirty="0" err="1" smtClean="0"/>
              <a:t>html</a:t>
            </a:r>
            <a:r>
              <a:rPr lang="es-CO" dirty="0" smtClean="0"/>
              <a:t>, bases de datos en diferentes formatos, etc.</a:t>
            </a:r>
          </a:p>
          <a:p>
            <a:r>
              <a:rPr lang="es-CO" dirty="0" smtClean="0"/>
              <a:t>R permitirá realizar:</a:t>
            </a:r>
          </a:p>
          <a:p>
            <a:r>
              <a:rPr lang="es-CO" dirty="0" smtClean="0"/>
              <a:t>Segmentación de clientes, análisis de tendencias en el mercado, estudios de asociaciones entre variables, análisis de datos textuales, etc.</a:t>
            </a:r>
          </a:p>
          <a:p>
            <a:endParaRPr lang="es-CO" dirty="0" smtClean="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65190" y="1857364"/>
            <a:ext cx="10215634" cy="1785950"/>
          </a:xfrm>
        </p:spPr>
        <p:txBody>
          <a:bodyPr rtlCol="0">
            <a:noAutofit/>
          </a:bodyPr>
          <a:lstStyle/>
          <a:p>
            <a:pPr rtl="0"/>
            <a:r>
              <a:rPr lang="es-ES" sz="4800" dirty="0" smtClean="0"/>
              <a:t>¿Cuál es tu motivación para aprender R?</a:t>
            </a:r>
            <a:endParaRPr lang="es-ES" sz="4800" dirty="0"/>
          </a:p>
        </p:txBody>
      </p:sp>
    </p:spTree>
    <p:extLst>
      <p:ext uri="{BB962C8B-B14F-4D97-AF65-F5344CB8AC3E}">
        <p14:creationId xmlns:p14="http://schemas.microsoft.com/office/powerpoint/2010/main" xmlns="" val="98182528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solidFill>
                  <a:srgbClr val="FF0000"/>
                </a:solidFill>
              </a:rPr>
              <a:t>Recomendaciones para empezar a aprender R</a:t>
            </a:r>
            <a:endParaRPr lang="es-CO" dirty="0">
              <a:solidFill>
                <a:srgbClr val="FF0000"/>
              </a:solidFill>
            </a:endParaRPr>
          </a:p>
        </p:txBody>
      </p:sp>
      <p:sp>
        <p:nvSpPr>
          <p:cNvPr id="3" name="2 Marcador de contenido"/>
          <p:cNvSpPr>
            <a:spLocks noGrp="1"/>
          </p:cNvSpPr>
          <p:nvPr>
            <p:ph sz="half" idx="1"/>
          </p:nvPr>
        </p:nvSpPr>
        <p:spPr>
          <a:xfrm>
            <a:off x="1293812" y="685800"/>
            <a:ext cx="10229887" cy="4191000"/>
          </a:xfrm>
        </p:spPr>
        <p:txBody>
          <a:bodyPr>
            <a:normAutofit lnSpcReduction="10000"/>
          </a:bodyPr>
          <a:lstStyle/>
          <a:p>
            <a:r>
              <a:rPr lang="es-CO" sz="2400" dirty="0" smtClean="0"/>
              <a:t>Usarlo con mayor frecuencia en actividades diarias. Por ejemplo: como calculadora.</a:t>
            </a:r>
          </a:p>
          <a:p>
            <a:r>
              <a:rPr lang="es-CO" sz="2400" dirty="0" smtClean="0"/>
              <a:t>Unirse a diferentes grupos o redes sociales donde se comenten temáticas sobre el software: </a:t>
            </a:r>
            <a:r>
              <a:rPr lang="es-CO" sz="2400" dirty="0" err="1" smtClean="0"/>
              <a:t>DataCamp</a:t>
            </a:r>
            <a:r>
              <a:rPr lang="es-CO" sz="2400" dirty="0" smtClean="0"/>
              <a:t>, </a:t>
            </a:r>
            <a:r>
              <a:rPr lang="es-CO" sz="2400" dirty="0" err="1" smtClean="0"/>
              <a:t>Coursera</a:t>
            </a:r>
            <a:r>
              <a:rPr lang="es-CO" sz="2400" dirty="0" smtClean="0"/>
              <a:t>, </a:t>
            </a:r>
            <a:r>
              <a:rPr lang="es-CO" sz="2400" dirty="0" err="1" smtClean="0"/>
              <a:t>Miriadax</a:t>
            </a:r>
            <a:r>
              <a:rPr lang="es-CO" sz="2400" dirty="0" smtClean="0"/>
              <a:t>, </a:t>
            </a:r>
            <a:r>
              <a:rPr lang="es-CO" sz="2400" dirty="0" err="1" smtClean="0"/>
              <a:t>useR</a:t>
            </a:r>
            <a:r>
              <a:rPr lang="es-CO" sz="2400" dirty="0" smtClean="0"/>
              <a:t>, </a:t>
            </a:r>
            <a:r>
              <a:rPr lang="es-CO" sz="2400" dirty="0" err="1" smtClean="0"/>
              <a:t>etc</a:t>
            </a:r>
            <a:endParaRPr lang="es-CO" sz="2400" dirty="0" smtClean="0"/>
          </a:p>
          <a:p>
            <a:r>
              <a:rPr lang="es-CO" sz="2400" dirty="0" smtClean="0"/>
              <a:t>Utilizar una interfaz más amigable como </a:t>
            </a:r>
            <a:r>
              <a:rPr lang="es-CO" sz="2400" dirty="0" err="1" smtClean="0"/>
              <a:t>Rstudio</a:t>
            </a:r>
            <a:r>
              <a:rPr lang="es-CO" sz="2400" dirty="0" smtClean="0"/>
              <a:t> o </a:t>
            </a:r>
            <a:r>
              <a:rPr lang="es-CO" sz="2400" dirty="0" err="1" smtClean="0"/>
              <a:t>Rcomander</a:t>
            </a:r>
            <a:endParaRPr lang="es-CO" sz="2400" dirty="0" smtClean="0"/>
          </a:p>
          <a:p>
            <a:r>
              <a:rPr lang="es-CO" sz="2400" dirty="0" smtClean="0"/>
              <a:t>Utilizar el comando </a:t>
            </a:r>
            <a:r>
              <a:rPr lang="es-CO" sz="2400" dirty="0" err="1" smtClean="0"/>
              <a:t>help</a:t>
            </a:r>
            <a:r>
              <a:rPr lang="es-CO" sz="2400" dirty="0" smtClean="0"/>
              <a:t>(), ya que muestra una explicación de todas las funciones de R con sus respectivos ejemplos.</a:t>
            </a:r>
          </a:p>
          <a:p>
            <a:r>
              <a:rPr lang="es-CO" sz="2400" dirty="0" smtClean="0"/>
              <a:t>Podemos ejecutar R de manera online </a:t>
            </a:r>
            <a:r>
              <a:rPr lang="es-CO" sz="2400" dirty="0" smtClean="0">
                <a:solidFill>
                  <a:srgbClr val="0070C0"/>
                </a:solidFill>
                <a:hlinkClick r:id="rId2"/>
              </a:rPr>
              <a:t>http://rextester.com/l/r_online_compiler</a:t>
            </a:r>
            <a:endParaRPr lang="es-CO" sz="2400" dirty="0" smtClean="0">
              <a:solidFill>
                <a:srgbClr val="0070C0"/>
              </a:solidFill>
            </a:endParaRPr>
          </a:p>
          <a:p>
            <a:r>
              <a:rPr lang="es-CO" sz="2400" dirty="0" smtClean="0">
                <a:solidFill>
                  <a:srgbClr val="0070C0"/>
                </a:solidFill>
              </a:rPr>
              <a:t>El paquete </a:t>
            </a:r>
            <a:r>
              <a:rPr lang="es-CO" sz="2400" dirty="0" err="1" smtClean="0">
                <a:solidFill>
                  <a:srgbClr val="0070C0"/>
                </a:solidFill>
              </a:rPr>
              <a:t>swirl</a:t>
            </a:r>
            <a:endParaRPr lang="es-CO" sz="2400" dirty="0" smtClean="0">
              <a:solidFill>
                <a:srgbClr val="0070C0"/>
              </a:solidFill>
            </a:endParaRPr>
          </a:p>
          <a:p>
            <a:pPr>
              <a:buNone/>
            </a:pPr>
            <a:endParaRPr lang="es-CO" dirty="0">
              <a:solidFill>
                <a:srgbClr val="0070C0"/>
              </a:solidFill>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Conociendo la interfaz de R</a:t>
            </a:r>
            <a:endParaRPr lang="es-CO" dirty="0"/>
          </a:p>
        </p:txBody>
      </p:sp>
      <p:pic>
        <p:nvPicPr>
          <p:cNvPr id="1026" name="Picture 2"/>
          <p:cNvPicPr>
            <a:picLocks noGrp="1" noChangeAspect="1" noChangeArrowheads="1"/>
          </p:cNvPicPr>
          <p:nvPr>
            <p:ph sz="half" idx="1"/>
          </p:nvPr>
        </p:nvPicPr>
        <p:blipFill>
          <a:blip r:embed="rId2"/>
          <a:srcRect/>
          <a:stretch>
            <a:fillRect/>
          </a:stretch>
        </p:blipFill>
        <p:spPr bwMode="auto">
          <a:xfrm>
            <a:off x="1165190" y="285728"/>
            <a:ext cx="9787006" cy="5291978"/>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Interfaz R Studio</a:t>
            </a:r>
            <a:endParaRPr lang="es-CO" dirty="0"/>
          </a:p>
        </p:txBody>
      </p:sp>
      <p:pic>
        <p:nvPicPr>
          <p:cNvPr id="2050" name="Picture 2"/>
          <p:cNvPicPr>
            <a:picLocks noGrp="1" noChangeAspect="1" noChangeArrowheads="1"/>
          </p:cNvPicPr>
          <p:nvPr>
            <p:ph sz="half" idx="1"/>
          </p:nvPr>
        </p:nvPicPr>
        <p:blipFill>
          <a:blip r:embed="rId2"/>
          <a:srcRect/>
          <a:stretch>
            <a:fillRect/>
          </a:stretch>
        </p:blipFill>
        <p:spPr bwMode="auto">
          <a:xfrm>
            <a:off x="1022314" y="357166"/>
            <a:ext cx="10378257" cy="5214974"/>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Recomendaciones al iniciar una sesión en R</a:t>
            </a:r>
            <a:endParaRPr lang="es-CO" dirty="0"/>
          </a:p>
        </p:txBody>
      </p:sp>
      <p:sp>
        <p:nvSpPr>
          <p:cNvPr id="3" name="2 Marcador de contenido"/>
          <p:cNvSpPr>
            <a:spLocks noGrp="1"/>
          </p:cNvSpPr>
          <p:nvPr>
            <p:ph sz="half" idx="1"/>
          </p:nvPr>
        </p:nvSpPr>
        <p:spPr>
          <a:xfrm>
            <a:off x="736563" y="685800"/>
            <a:ext cx="10287071" cy="4886340"/>
          </a:xfrm>
        </p:spPr>
        <p:txBody>
          <a:bodyPr>
            <a:normAutofit fontScale="77500" lnSpcReduction="20000"/>
          </a:bodyPr>
          <a:lstStyle/>
          <a:p>
            <a:pPr>
              <a:buNone/>
            </a:pPr>
            <a:r>
              <a:rPr lang="es-CO" dirty="0" smtClean="0"/>
              <a:t>1. </a:t>
            </a:r>
            <a:r>
              <a:rPr lang="es-CO" b="1" dirty="0" smtClean="0">
                <a:solidFill>
                  <a:srgbClr val="0070C0"/>
                </a:solidFill>
              </a:rPr>
              <a:t>Limpiar pantalla</a:t>
            </a:r>
            <a:r>
              <a:rPr lang="es-CO" dirty="0" smtClean="0"/>
              <a:t>: </a:t>
            </a:r>
            <a:r>
              <a:rPr lang="es-CO" b="1" dirty="0" err="1" smtClean="0">
                <a:solidFill>
                  <a:srgbClr val="0070C0"/>
                </a:solidFill>
              </a:rPr>
              <a:t>Ctrl</a:t>
            </a:r>
            <a:r>
              <a:rPr lang="es-CO" b="1" dirty="0" smtClean="0">
                <a:solidFill>
                  <a:srgbClr val="0070C0"/>
                </a:solidFill>
              </a:rPr>
              <a:t> + L</a:t>
            </a:r>
            <a:r>
              <a:rPr lang="es-CO" dirty="0" smtClean="0"/>
              <a:t/>
            </a:r>
            <a:br>
              <a:rPr lang="es-CO" dirty="0" smtClean="0"/>
            </a:br>
            <a:r>
              <a:rPr lang="es-CO" i="1" dirty="0" smtClean="0"/>
              <a:t>La consola de salida de R trabaja de forma acumulativa, cada nuevo</a:t>
            </a:r>
            <a:r>
              <a:rPr lang="es-CO" dirty="0" smtClean="0"/>
              <a:t/>
            </a:r>
            <a:br>
              <a:rPr lang="es-CO" dirty="0" smtClean="0"/>
            </a:br>
            <a:r>
              <a:rPr lang="es-CO" i="1" dirty="0" smtClean="0"/>
              <a:t>resultado se agrega al cumulo anterior.</a:t>
            </a:r>
          </a:p>
          <a:p>
            <a:pPr>
              <a:buNone/>
            </a:pPr>
            <a:r>
              <a:rPr lang="es-CO" dirty="0" smtClean="0"/>
              <a:t>2. </a:t>
            </a:r>
            <a:r>
              <a:rPr lang="es-CO" b="1" dirty="0" smtClean="0">
                <a:solidFill>
                  <a:srgbClr val="0070C0"/>
                </a:solidFill>
              </a:rPr>
              <a:t>Verificar objetos existentes</a:t>
            </a:r>
            <a:r>
              <a:rPr lang="es-CO" dirty="0" smtClean="0"/>
              <a:t>: </a:t>
            </a:r>
            <a:r>
              <a:rPr lang="es-CO" b="1" dirty="0" err="1" smtClean="0">
                <a:solidFill>
                  <a:srgbClr val="0070C0"/>
                </a:solidFill>
              </a:rPr>
              <a:t>ls</a:t>
            </a:r>
            <a:r>
              <a:rPr lang="es-CO" b="1" dirty="0" smtClean="0">
                <a:solidFill>
                  <a:srgbClr val="0070C0"/>
                </a:solidFill>
              </a:rPr>
              <a:t>()</a:t>
            </a:r>
            <a:r>
              <a:rPr lang="es-CO" dirty="0" smtClean="0">
                <a:solidFill>
                  <a:srgbClr val="0070C0"/>
                </a:solidFill>
              </a:rPr>
              <a:t>, </a:t>
            </a:r>
            <a:r>
              <a:rPr lang="es-CO" b="1" dirty="0" err="1" smtClean="0">
                <a:solidFill>
                  <a:srgbClr val="0070C0"/>
                </a:solidFill>
              </a:rPr>
              <a:t>objects</a:t>
            </a:r>
            <a:r>
              <a:rPr lang="es-CO" b="1" dirty="0" smtClean="0">
                <a:solidFill>
                  <a:srgbClr val="0070C0"/>
                </a:solidFill>
              </a:rPr>
              <a:t>()</a:t>
            </a:r>
            <a:r>
              <a:rPr lang="es-CO" dirty="0" smtClean="0"/>
              <a:t/>
            </a:r>
            <a:br>
              <a:rPr lang="es-CO" dirty="0" smtClean="0"/>
            </a:br>
            <a:r>
              <a:rPr lang="es-CO" i="1" dirty="0" smtClean="0"/>
              <a:t>Es posible que al dar inicio a una sesión sean cargados objetos previos...es</a:t>
            </a:r>
            <a:r>
              <a:rPr lang="es-CO" dirty="0" smtClean="0"/>
              <a:t/>
            </a:r>
            <a:br>
              <a:rPr lang="es-CO" dirty="0" smtClean="0"/>
            </a:br>
            <a:r>
              <a:rPr lang="es-CO" i="1" dirty="0" smtClean="0"/>
              <a:t>necesario verificar.</a:t>
            </a:r>
          </a:p>
          <a:p>
            <a:pPr>
              <a:buNone/>
            </a:pPr>
            <a:r>
              <a:rPr lang="es-CO" dirty="0" smtClean="0"/>
              <a:t>3. </a:t>
            </a:r>
            <a:r>
              <a:rPr lang="es-CO" b="1" dirty="0" smtClean="0">
                <a:solidFill>
                  <a:srgbClr val="0070C0"/>
                </a:solidFill>
              </a:rPr>
              <a:t>Remover objetos</a:t>
            </a:r>
            <a:r>
              <a:rPr lang="es-CO" dirty="0" smtClean="0"/>
              <a:t>: </a:t>
            </a:r>
            <a:r>
              <a:rPr lang="es-CO" b="1" dirty="0" err="1" smtClean="0">
                <a:solidFill>
                  <a:srgbClr val="0070C0"/>
                </a:solidFill>
              </a:rPr>
              <a:t>rm</a:t>
            </a:r>
            <a:r>
              <a:rPr lang="es-CO" b="1" dirty="0" smtClean="0">
                <a:solidFill>
                  <a:srgbClr val="0070C0"/>
                </a:solidFill>
              </a:rPr>
              <a:t>(objeto)</a:t>
            </a:r>
            <a:r>
              <a:rPr lang="es-CO" dirty="0" smtClean="0">
                <a:solidFill>
                  <a:srgbClr val="0070C0"/>
                </a:solidFill>
              </a:rPr>
              <a:t>, </a:t>
            </a:r>
            <a:r>
              <a:rPr lang="es-CO" b="1" dirty="0" err="1" smtClean="0">
                <a:solidFill>
                  <a:srgbClr val="0070C0"/>
                </a:solidFill>
              </a:rPr>
              <a:t>rm</a:t>
            </a:r>
            <a:r>
              <a:rPr lang="es-CO" b="1" dirty="0" smtClean="0">
                <a:solidFill>
                  <a:srgbClr val="0070C0"/>
                </a:solidFill>
              </a:rPr>
              <a:t>(</a:t>
            </a:r>
            <a:r>
              <a:rPr lang="es-CO" b="1" dirty="0" err="1" smtClean="0">
                <a:solidFill>
                  <a:srgbClr val="0070C0"/>
                </a:solidFill>
              </a:rPr>
              <a:t>list</a:t>
            </a:r>
            <a:r>
              <a:rPr lang="es-CO" b="1" dirty="0" smtClean="0">
                <a:solidFill>
                  <a:srgbClr val="0070C0"/>
                </a:solidFill>
              </a:rPr>
              <a:t>=</a:t>
            </a:r>
            <a:r>
              <a:rPr lang="es-CO" b="1" dirty="0" err="1" smtClean="0">
                <a:solidFill>
                  <a:srgbClr val="0070C0"/>
                </a:solidFill>
              </a:rPr>
              <a:t>ls</a:t>
            </a:r>
            <a:r>
              <a:rPr lang="es-CO" b="1" dirty="0" smtClean="0">
                <a:solidFill>
                  <a:srgbClr val="0070C0"/>
                </a:solidFill>
              </a:rPr>
              <a:t>())</a:t>
            </a:r>
            <a:r>
              <a:rPr lang="es-CO" dirty="0" smtClean="0"/>
              <a:t/>
            </a:r>
            <a:br>
              <a:rPr lang="es-CO" dirty="0" smtClean="0"/>
            </a:br>
            <a:r>
              <a:rPr lang="es-CO" i="1" dirty="0" smtClean="0"/>
              <a:t>El almacenamiento de objetos innecesarios genera un mayor consumo de</a:t>
            </a:r>
            <a:r>
              <a:rPr lang="es-CO" dirty="0" smtClean="0"/>
              <a:t/>
            </a:r>
            <a:br>
              <a:rPr lang="es-CO" dirty="0" smtClean="0"/>
            </a:br>
            <a:r>
              <a:rPr lang="es-CO" i="1" dirty="0" smtClean="0"/>
              <a:t>memoria y un riesgo de cruce de objetos.</a:t>
            </a:r>
          </a:p>
          <a:p>
            <a:pPr>
              <a:buNone/>
            </a:pPr>
            <a:r>
              <a:rPr lang="es-CO" dirty="0" smtClean="0"/>
              <a:t>4. Verificar directorio base de trabajo: </a:t>
            </a:r>
            <a:r>
              <a:rPr lang="es-CO" b="1" dirty="0" err="1" smtClean="0">
                <a:solidFill>
                  <a:srgbClr val="0070C0"/>
                </a:solidFill>
              </a:rPr>
              <a:t>getwd</a:t>
            </a:r>
            <a:r>
              <a:rPr lang="es-CO" b="1" dirty="0" smtClean="0">
                <a:solidFill>
                  <a:srgbClr val="0070C0"/>
                </a:solidFill>
              </a:rPr>
              <a:t>() </a:t>
            </a:r>
          </a:p>
          <a:p>
            <a:pPr>
              <a:buNone/>
            </a:pPr>
            <a:r>
              <a:rPr lang="es-CO" dirty="0" smtClean="0"/>
              <a:t>      Asignar directorio: </a:t>
            </a:r>
            <a:r>
              <a:rPr lang="es-CO" b="1" dirty="0" err="1" smtClean="0">
                <a:solidFill>
                  <a:srgbClr val="0070C0"/>
                </a:solidFill>
              </a:rPr>
              <a:t>setwd</a:t>
            </a:r>
            <a:r>
              <a:rPr lang="es-CO" b="1" dirty="0" smtClean="0">
                <a:solidFill>
                  <a:srgbClr val="0070C0"/>
                </a:solidFill>
              </a:rPr>
              <a:t>(</a:t>
            </a:r>
            <a:r>
              <a:rPr lang="es-CO" b="1" dirty="0" err="1" smtClean="0">
                <a:solidFill>
                  <a:srgbClr val="0070C0"/>
                </a:solidFill>
              </a:rPr>
              <a:t>dir</a:t>
            </a:r>
            <a:r>
              <a:rPr lang="es-CO" b="1" dirty="0" smtClean="0">
                <a:solidFill>
                  <a:srgbClr val="0070C0"/>
                </a:solidFill>
              </a:rPr>
              <a:t>)</a:t>
            </a:r>
          </a:p>
          <a:p>
            <a:pPr>
              <a:buNone/>
            </a:pPr>
            <a:r>
              <a:rPr lang="pt-BR" b="1" dirty="0" err="1" smtClean="0">
                <a:solidFill>
                  <a:srgbClr val="0070C0"/>
                </a:solidFill>
              </a:rPr>
              <a:t>setwd</a:t>
            </a:r>
            <a:r>
              <a:rPr lang="pt-BR" b="1" dirty="0" smtClean="0">
                <a:solidFill>
                  <a:srgbClr val="0070C0"/>
                </a:solidFill>
              </a:rPr>
              <a:t>("C:/</a:t>
            </a:r>
            <a:r>
              <a:rPr lang="pt-BR" b="1" dirty="0" err="1" smtClean="0">
                <a:solidFill>
                  <a:srgbClr val="0070C0"/>
                </a:solidFill>
              </a:rPr>
              <a:t>Users</a:t>
            </a:r>
            <a:r>
              <a:rPr lang="pt-BR" b="1" dirty="0" smtClean="0">
                <a:solidFill>
                  <a:srgbClr val="0070C0"/>
                </a:solidFill>
              </a:rPr>
              <a:t>/</a:t>
            </a:r>
            <a:r>
              <a:rPr lang="pt-BR" b="1" dirty="0" err="1" smtClean="0">
                <a:solidFill>
                  <a:srgbClr val="0070C0"/>
                </a:solidFill>
              </a:rPr>
              <a:t>Andres</a:t>
            </a:r>
            <a:r>
              <a:rPr lang="pt-BR" b="1" dirty="0" smtClean="0">
                <a:solidFill>
                  <a:srgbClr val="0070C0"/>
                </a:solidFill>
              </a:rPr>
              <a:t>/Desktop/Curso R Banco 2018")</a:t>
            </a:r>
            <a:endParaRPr lang="es-CO" b="1" dirty="0" smtClean="0">
              <a:solidFill>
                <a:srgbClr val="0070C0"/>
              </a:solidFill>
            </a:endParaRPr>
          </a:p>
          <a:p>
            <a:pPr>
              <a:buNone/>
            </a:pPr>
            <a:r>
              <a:rPr lang="es-CO" i="1" dirty="0" smtClean="0"/>
              <a:t>El directorio base es el lugar donde R lee los archivos de entrada y ubica</a:t>
            </a:r>
            <a:r>
              <a:rPr lang="es-CO" dirty="0" smtClean="0"/>
              <a:t/>
            </a:r>
            <a:br>
              <a:rPr lang="es-CO" dirty="0" smtClean="0"/>
            </a:br>
            <a:r>
              <a:rPr lang="es-CO" i="1" dirty="0" smtClean="0"/>
              <a:t>las salidas dirigidas por defecto.</a:t>
            </a: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Recomendaciones al iniciar una sesión en R</a:t>
            </a:r>
            <a:endParaRPr lang="es-CO" dirty="0"/>
          </a:p>
        </p:txBody>
      </p:sp>
      <p:sp>
        <p:nvSpPr>
          <p:cNvPr id="3" name="2 Marcador de contenido"/>
          <p:cNvSpPr>
            <a:spLocks noGrp="1"/>
          </p:cNvSpPr>
          <p:nvPr>
            <p:ph sz="half" idx="1"/>
          </p:nvPr>
        </p:nvSpPr>
        <p:spPr>
          <a:xfrm>
            <a:off x="1293812" y="685800"/>
            <a:ext cx="9801259" cy="4191000"/>
          </a:xfrm>
        </p:spPr>
        <p:txBody>
          <a:bodyPr>
            <a:normAutofit fontScale="85000" lnSpcReduction="20000"/>
          </a:bodyPr>
          <a:lstStyle/>
          <a:p>
            <a:pPr>
              <a:buNone/>
            </a:pPr>
            <a:r>
              <a:rPr lang="es-CO" dirty="0" smtClean="0"/>
              <a:t>5. </a:t>
            </a:r>
            <a:r>
              <a:rPr lang="es-CO" b="1" dirty="0" smtClean="0">
                <a:solidFill>
                  <a:srgbClr val="0070C0"/>
                </a:solidFill>
              </a:rPr>
              <a:t>Crear un Script para el ingreso de ordenes</a:t>
            </a:r>
            <a:r>
              <a:rPr lang="es-CO" dirty="0" smtClean="0"/>
              <a:t>.</a:t>
            </a:r>
            <a:br>
              <a:rPr lang="es-CO" dirty="0" smtClean="0"/>
            </a:br>
            <a:r>
              <a:rPr lang="es-CO" i="1" dirty="0" smtClean="0"/>
              <a:t>La secuencia de ordenes puede ser ingresada directamente en la consola de trabajo o leída de forma indirecta, desde un archivo de texto denominado Script</a:t>
            </a:r>
            <a:r>
              <a:rPr lang="es-CO" dirty="0" smtClean="0"/>
              <a:t/>
            </a:r>
            <a:br>
              <a:rPr lang="es-CO" dirty="0" smtClean="0"/>
            </a:br>
            <a:r>
              <a:rPr lang="es-CO" dirty="0" smtClean="0"/>
              <a:t/>
            </a:r>
            <a:br>
              <a:rPr lang="es-CO" dirty="0" smtClean="0"/>
            </a:br>
            <a:r>
              <a:rPr lang="es-CO" dirty="0" smtClean="0"/>
              <a:t>Cada línea del script o conjunto de líneas será leída en la consola con la orden </a:t>
            </a:r>
            <a:r>
              <a:rPr lang="es-CO" b="1" dirty="0" err="1" smtClean="0">
                <a:solidFill>
                  <a:srgbClr val="0070C0"/>
                </a:solidFill>
              </a:rPr>
              <a:t>Ctrl</a:t>
            </a:r>
            <a:r>
              <a:rPr lang="es-CO" b="1" dirty="0" smtClean="0">
                <a:solidFill>
                  <a:srgbClr val="0070C0"/>
                </a:solidFill>
              </a:rPr>
              <a:t> + R o F5</a:t>
            </a:r>
          </a:p>
          <a:p>
            <a:pPr>
              <a:buNone/>
            </a:pPr>
            <a:endParaRPr lang="es-CO" b="1" dirty="0" smtClean="0">
              <a:solidFill>
                <a:srgbClr val="0070C0"/>
              </a:solidFill>
            </a:endParaRPr>
          </a:p>
          <a:p>
            <a:pPr>
              <a:buNone/>
            </a:pPr>
            <a:r>
              <a:rPr lang="es-CO" dirty="0" smtClean="0"/>
              <a:t>6. En el </a:t>
            </a:r>
            <a:r>
              <a:rPr lang="es-CO" b="1" dirty="0" smtClean="0">
                <a:solidFill>
                  <a:srgbClr val="0070C0"/>
                </a:solidFill>
              </a:rPr>
              <a:t>script podemos hacer comentarios</a:t>
            </a:r>
            <a:r>
              <a:rPr lang="es-CO" dirty="0" smtClean="0"/>
              <a:t>, utilizando el símbolo </a:t>
            </a:r>
            <a:r>
              <a:rPr lang="es-CO" b="1" dirty="0" smtClean="0">
                <a:solidFill>
                  <a:srgbClr val="0070C0"/>
                </a:solidFill>
              </a:rPr>
              <a:t>#</a:t>
            </a:r>
            <a:r>
              <a:rPr lang="es-CO" b="1" dirty="0" smtClean="0"/>
              <a:t> </a:t>
            </a:r>
            <a:r>
              <a:rPr lang="es-CO" dirty="0" smtClean="0"/>
              <a:t>al comienzo de la oración</a:t>
            </a:r>
            <a:br>
              <a:rPr lang="es-CO" dirty="0" smtClean="0"/>
            </a:br>
            <a:r>
              <a:rPr lang="es-CO" dirty="0" smtClean="0"/>
              <a:t/>
            </a:r>
            <a:br>
              <a:rPr lang="es-CO"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Recomendaciones al iniciar una sesión en R</a:t>
            </a:r>
            <a:endParaRPr lang="es-CO" dirty="0"/>
          </a:p>
        </p:txBody>
      </p:sp>
      <p:sp>
        <p:nvSpPr>
          <p:cNvPr id="3" name="2 Marcador de contenido"/>
          <p:cNvSpPr>
            <a:spLocks noGrp="1"/>
          </p:cNvSpPr>
          <p:nvPr>
            <p:ph sz="half" idx="1"/>
          </p:nvPr>
        </p:nvSpPr>
        <p:spPr>
          <a:xfrm>
            <a:off x="1293812" y="685800"/>
            <a:ext cx="9729821" cy="4191000"/>
          </a:xfrm>
        </p:spPr>
        <p:txBody>
          <a:bodyPr>
            <a:normAutofit fontScale="85000" lnSpcReduction="20000"/>
          </a:bodyPr>
          <a:lstStyle/>
          <a:p>
            <a:pPr>
              <a:buNone/>
            </a:pPr>
            <a:r>
              <a:rPr lang="es-CO" dirty="0" smtClean="0"/>
              <a:t>7. Lo recomendable antes de trabajar con </a:t>
            </a:r>
            <a:r>
              <a:rPr lang="es-CO" b="1" dirty="0" smtClean="0"/>
              <a:t>R</a:t>
            </a:r>
            <a:r>
              <a:rPr lang="es-CO" dirty="0" smtClean="0"/>
              <a:t>, es crear una nueva carpeta en donde se almacena la sesión de </a:t>
            </a:r>
            <a:r>
              <a:rPr lang="es-CO" b="1" dirty="0" smtClean="0"/>
              <a:t>R </a:t>
            </a:r>
            <a:r>
              <a:rPr lang="es-CO" dirty="0" smtClean="0"/>
              <a:t>o el </a:t>
            </a:r>
            <a:r>
              <a:rPr lang="es-CO" i="1" dirty="0" err="1" smtClean="0"/>
              <a:t>workspace</a:t>
            </a:r>
            <a:r>
              <a:rPr lang="es-CO" dirty="0" smtClean="0"/>
              <a:t>.</a:t>
            </a:r>
          </a:p>
          <a:p>
            <a:pPr>
              <a:buNone/>
            </a:pPr>
            <a:r>
              <a:rPr lang="es-CO" dirty="0" smtClean="0"/>
              <a:t/>
            </a:r>
            <a:br>
              <a:rPr lang="es-CO" dirty="0" smtClean="0"/>
            </a:br>
            <a:r>
              <a:rPr lang="es-CO" i="1" dirty="0" smtClean="0"/>
              <a:t>El </a:t>
            </a:r>
            <a:r>
              <a:rPr lang="es-CO" i="1" dirty="0" err="1" smtClean="0"/>
              <a:t>workspace</a:t>
            </a:r>
            <a:r>
              <a:rPr lang="es-CO" i="1" dirty="0" smtClean="0"/>
              <a:t> corresponde a un archivo con la extensión .</a:t>
            </a:r>
            <a:r>
              <a:rPr lang="es-CO" i="1" dirty="0" err="1" smtClean="0"/>
              <a:t>Rdata</a:t>
            </a:r>
            <a:r>
              <a:rPr lang="es-CO" i="1" dirty="0" smtClean="0"/>
              <a:t>, que</a:t>
            </a:r>
            <a:r>
              <a:rPr lang="es-CO" dirty="0" smtClean="0"/>
              <a:t/>
            </a:r>
            <a:br>
              <a:rPr lang="es-CO" dirty="0" smtClean="0"/>
            </a:br>
            <a:r>
              <a:rPr lang="es-CO" i="1" dirty="0" smtClean="0"/>
              <a:t>contiene todos los objetos generados con R, así como el historial de las instrucciones generadas en la sesión de trabajo.</a:t>
            </a:r>
          </a:p>
          <a:p>
            <a:pPr>
              <a:buNone/>
            </a:pPr>
            <a:r>
              <a:rPr lang="es-CO" dirty="0" smtClean="0"/>
              <a:t>    </a:t>
            </a:r>
            <a:r>
              <a:rPr lang="es-CO" b="1" dirty="0" smtClean="0">
                <a:solidFill>
                  <a:srgbClr val="0070C0"/>
                </a:solidFill>
              </a:rPr>
              <a:t>Luego de creada una carpeta (por ejemplo: Clases de R Banco) de preferencia en el Escritorio, se dirige a</a:t>
            </a:r>
            <a:r>
              <a:rPr lang="es-CO" dirty="0" smtClean="0"/>
              <a:t>:</a:t>
            </a:r>
          </a:p>
          <a:p>
            <a:pPr>
              <a:buNone/>
            </a:pPr>
            <a:r>
              <a:rPr lang="es-CO" b="1" dirty="0" smtClean="0"/>
              <a:t/>
            </a:r>
            <a:br>
              <a:rPr lang="es-CO" b="1" dirty="0" smtClean="0"/>
            </a:br>
            <a:r>
              <a:rPr lang="es-CO" b="1" dirty="0" smtClean="0">
                <a:solidFill>
                  <a:srgbClr val="0070C0"/>
                </a:solidFill>
              </a:rPr>
              <a:t>Archivo  Cambiar </a:t>
            </a:r>
            <a:r>
              <a:rPr lang="es-CO" b="1" dirty="0" err="1" smtClean="0">
                <a:solidFill>
                  <a:srgbClr val="0070C0"/>
                </a:solidFill>
              </a:rPr>
              <a:t>dir.</a:t>
            </a:r>
            <a:r>
              <a:rPr lang="es-CO" b="1" dirty="0" smtClean="0">
                <a:solidFill>
                  <a:srgbClr val="0070C0"/>
                </a:solidFill>
              </a:rPr>
              <a:t>..</a:t>
            </a:r>
          </a:p>
          <a:p>
            <a:pPr>
              <a:buNone/>
            </a:pPr>
            <a:r>
              <a:rPr lang="es-CO" dirty="0" smtClean="0"/>
              <a:t>     </a:t>
            </a:r>
            <a:r>
              <a:rPr lang="es-CO" b="1" dirty="0" smtClean="0">
                <a:solidFill>
                  <a:srgbClr val="0070C0"/>
                </a:solidFill>
              </a:rPr>
              <a:t>Y seleccionar la ubicación de la carpeta creada Clases de R</a:t>
            </a:r>
            <a:r>
              <a:rPr lang="es-CO" dirty="0" smtClean="0"/>
              <a:t/>
            </a:r>
            <a:br>
              <a:rPr lang="es-CO" dirty="0" smtClean="0"/>
            </a:br>
            <a:endParaRPr lang="es-CO" dirty="0">
              <a:solidFill>
                <a:srgbClr val="0070C0"/>
              </a:solidFill>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9"/>
          <p:cNvSpPr>
            <a:spLocks noGrp="1"/>
          </p:cNvSpPr>
          <p:nvPr>
            <p:ph type="title"/>
          </p:nvPr>
        </p:nvSpPr>
        <p:spPr/>
        <p:txBody>
          <a:bodyPr rtlCol="0"/>
          <a:lstStyle/>
          <a:p>
            <a:pPr rtl="0"/>
            <a:r>
              <a:rPr lang="es-ES" dirty="0" smtClean="0"/>
              <a:t>Ejemplos de R (uso como calculadora)</a:t>
            </a:r>
            <a:endParaRPr lang="es-ES" dirty="0"/>
          </a:p>
        </p:txBody>
      </p:sp>
      <p:sp>
        <p:nvSpPr>
          <p:cNvPr id="15" name="Marcador de posición de contenido 14"/>
          <p:cNvSpPr>
            <a:spLocks noGrp="1"/>
          </p:cNvSpPr>
          <p:nvPr>
            <p:ph sz="half" idx="2"/>
          </p:nvPr>
        </p:nvSpPr>
        <p:spPr>
          <a:xfrm>
            <a:off x="1236628" y="642918"/>
            <a:ext cx="9501254" cy="4233882"/>
          </a:xfrm>
        </p:spPr>
        <p:txBody>
          <a:bodyPr rtlCol="0">
            <a:normAutofit lnSpcReduction="10000"/>
          </a:bodyPr>
          <a:lstStyle/>
          <a:p>
            <a:pPr>
              <a:buNone/>
            </a:pPr>
            <a:r>
              <a:rPr lang="es-CO" dirty="0" smtClean="0"/>
              <a:t>    </a:t>
            </a:r>
            <a:r>
              <a:rPr lang="es-CO" b="1" dirty="0" smtClean="0"/>
              <a:t>R </a:t>
            </a:r>
            <a:r>
              <a:rPr lang="es-CO" dirty="0" smtClean="0"/>
              <a:t>puede ser utilizado como una calculadora de modo interactivo.</a:t>
            </a:r>
            <a:br>
              <a:rPr lang="es-CO" dirty="0" smtClean="0"/>
            </a:br>
            <a:r>
              <a:rPr lang="es-CO" dirty="0" smtClean="0"/>
              <a:t>Escribimos la operación matemática en la consola y damos </a:t>
            </a:r>
            <a:r>
              <a:rPr lang="es-CO" dirty="0" err="1" smtClean="0"/>
              <a:t>Enter</a:t>
            </a:r>
            <a:r>
              <a:rPr lang="es-CO" dirty="0" smtClean="0"/>
              <a:t>.</a:t>
            </a:r>
            <a:br>
              <a:rPr lang="es-CO" dirty="0" smtClean="0"/>
            </a:br>
            <a:endParaRPr lang="es-CO" dirty="0" smtClean="0"/>
          </a:p>
          <a:p>
            <a:pPr>
              <a:buNone/>
            </a:pPr>
            <a:r>
              <a:rPr lang="es-CO" dirty="0" smtClean="0"/>
              <a:t>    </a:t>
            </a:r>
            <a:r>
              <a:rPr lang="es-CO" dirty="0" smtClean="0">
                <a:solidFill>
                  <a:srgbClr val="FF0000"/>
                </a:solidFill>
              </a:rPr>
              <a:t>2+3 # Suma de los números 2 y 3</a:t>
            </a:r>
            <a:br>
              <a:rPr lang="es-CO" dirty="0" smtClean="0">
                <a:solidFill>
                  <a:srgbClr val="FF0000"/>
                </a:solidFill>
              </a:rPr>
            </a:br>
            <a:r>
              <a:rPr lang="es-CO" dirty="0" smtClean="0">
                <a:solidFill>
                  <a:srgbClr val="FF0000"/>
                </a:solidFill>
              </a:rPr>
              <a:t>2*5 # Multiplicación de los números 2 y 5</a:t>
            </a:r>
            <a:br>
              <a:rPr lang="es-CO" dirty="0" smtClean="0">
                <a:solidFill>
                  <a:srgbClr val="FF0000"/>
                </a:solidFill>
              </a:rPr>
            </a:br>
            <a:r>
              <a:rPr lang="es-CO" dirty="0" err="1" smtClean="0">
                <a:solidFill>
                  <a:srgbClr val="FF0000"/>
                </a:solidFill>
              </a:rPr>
              <a:t>sqrt</a:t>
            </a:r>
            <a:r>
              <a:rPr lang="es-CO" dirty="0" smtClean="0">
                <a:solidFill>
                  <a:srgbClr val="FF0000"/>
                </a:solidFill>
              </a:rPr>
              <a:t>(16) # Raíz cuadrada de 16</a:t>
            </a:r>
            <a:br>
              <a:rPr lang="es-CO" dirty="0" smtClean="0">
                <a:solidFill>
                  <a:srgbClr val="FF0000"/>
                </a:solidFill>
              </a:rPr>
            </a:br>
            <a:r>
              <a:rPr lang="es-CO" dirty="0" smtClean="0">
                <a:solidFill>
                  <a:srgbClr val="FF0000"/>
                </a:solidFill>
              </a:rPr>
              <a:t>5^2 # 5 elevado a la potencia 2</a:t>
            </a:r>
          </a:p>
          <a:p>
            <a:pPr>
              <a:buNone/>
            </a:pPr>
            <a:r>
              <a:rPr lang="es-CO" dirty="0" smtClean="0">
                <a:solidFill>
                  <a:srgbClr val="0070C0"/>
                </a:solidFill>
              </a:rPr>
              <a:t>Podemos escribir en la consola los siguientes:</a:t>
            </a:r>
          </a:p>
          <a:p>
            <a:pPr>
              <a:buNone/>
            </a:pPr>
            <a:r>
              <a:rPr lang="es-CO" dirty="0" smtClean="0">
                <a:solidFill>
                  <a:srgbClr val="0070C0"/>
                </a:solidFill>
              </a:rPr>
              <a:t>2+3; 2*5; </a:t>
            </a:r>
            <a:r>
              <a:rPr lang="es-CO" dirty="0" err="1" smtClean="0">
                <a:solidFill>
                  <a:srgbClr val="0070C0"/>
                </a:solidFill>
              </a:rPr>
              <a:t>sqrt</a:t>
            </a:r>
            <a:r>
              <a:rPr lang="es-CO" dirty="0" smtClean="0">
                <a:solidFill>
                  <a:srgbClr val="0070C0"/>
                </a:solidFill>
              </a:rPr>
              <a:t>(16); 5^2   # Serían varias operaciones en una misma línea separadas por </a:t>
            </a:r>
            <a:r>
              <a:rPr lang="es-CO" dirty="0" smtClean="0">
                <a:solidFill>
                  <a:srgbClr val="FF0000"/>
                </a:solidFill>
              </a:rPr>
              <a:t>;</a:t>
            </a:r>
            <a:r>
              <a:rPr lang="es-CO" dirty="0" smtClean="0"/>
              <a:t/>
            </a:r>
            <a:br>
              <a:rPr lang="es-CO" dirty="0" smtClean="0"/>
            </a:br>
            <a:endParaRPr lang="es-ES" dirty="0"/>
          </a:p>
        </p:txBody>
      </p:sp>
    </p:spTree>
    <p:extLst>
      <p:ext uri="{BB962C8B-B14F-4D97-AF65-F5344CB8AC3E}">
        <p14:creationId xmlns:p14="http://schemas.microsoft.com/office/powerpoint/2010/main" xmlns="" val="297963662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O" b="1" dirty="0" smtClean="0"/>
              <a:t>Números reales: operaciones y funciones básicas</a:t>
            </a:r>
            <a:endParaRPr lang="es-CO" dirty="0"/>
          </a:p>
        </p:txBody>
      </p:sp>
      <p:pic>
        <p:nvPicPr>
          <p:cNvPr id="1026" name="Picture 2"/>
          <p:cNvPicPr>
            <a:picLocks noGrp="1" noChangeAspect="1" noChangeArrowheads="1"/>
          </p:cNvPicPr>
          <p:nvPr>
            <p:ph sz="half" idx="2"/>
          </p:nvPr>
        </p:nvPicPr>
        <p:blipFill>
          <a:blip r:embed="rId2"/>
          <a:srcRect l="37552" t="36745" r="17651" b="52756"/>
          <a:stretch>
            <a:fillRect/>
          </a:stretch>
        </p:blipFill>
        <p:spPr bwMode="auto">
          <a:xfrm>
            <a:off x="1379504" y="1000108"/>
            <a:ext cx="8715436" cy="1357322"/>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l="38539" t="42223" r="18698" b="49199"/>
          <a:stretch>
            <a:fillRect/>
          </a:stretch>
        </p:blipFill>
        <p:spPr bwMode="auto">
          <a:xfrm>
            <a:off x="1308066" y="3286124"/>
            <a:ext cx="9501254" cy="1071570"/>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b="1" dirty="0" smtClean="0"/>
              <a:t>Números reales: operaciones y funciones básicas</a:t>
            </a:r>
            <a:endParaRPr lang="es-CO" dirty="0"/>
          </a:p>
        </p:txBody>
      </p:sp>
      <p:pic>
        <p:nvPicPr>
          <p:cNvPr id="2050" name="Picture 2"/>
          <p:cNvPicPr>
            <a:picLocks noGrp="1" noChangeAspect="1" noChangeArrowheads="1"/>
          </p:cNvPicPr>
          <p:nvPr>
            <p:ph sz="half" idx="2"/>
          </p:nvPr>
        </p:nvPicPr>
        <p:blipFill>
          <a:blip r:embed="rId2"/>
          <a:srcRect l="39325" t="52714" r="19411" b="31969"/>
          <a:stretch>
            <a:fillRect/>
          </a:stretch>
        </p:blipFill>
        <p:spPr bwMode="auto">
          <a:xfrm>
            <a:off x="1593818" y="1428736"/>
            <a:ext cx="8572560" cy="2217041"/>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b="1" dirty="0" smtClean="0"/>
              <a:t>Números reales: operaciones y funciones básicas</a:t>
            </a:r>
            <a:endParaRPr lang="es-CO" dirty="0"/>
          </a:p>
        </p:txBody>
      </p:sp>
      <p:sp>
        <p:nvSpPr>
          <p:cNvPr id="3" name="2 Marcador de texto"/>
          <p:cNvSpPr>
            <a:spLocks noGrp="1"/>
          </p:cNvSpPr>
          <p:nvPr>
            <p:ph type="body" idx="1"/>
          </p:nvPr>
        </p:nvSpPr>
        <p:spPr>
          <a:xfrm>
            <a:off x="1293664" y="685800"/>
            <a:ext cx="8801276" cy="990600"/>
          </a:xfrm>
        </p:spPr>
        <p:txBody>
          <a:bodyPr/>
          <a:lstStyle/>
          <a:p>
            <a:r>
              <a:rPr lang="es-CO" dirty="0" smtClean="0">
                <a:solidFill>
                  <a:srgbClr val="FF0000"/>
                </a:solidFill>
              </a:rPr>
              <a:t>Importancia de los paréntesis</a:t>
            </a:r>
            <a:endParaRPr lang="es-CO" dirty="0">
              <a:solidFill>
                <a:srgbClr val="FF0000"/>
              </a:solidFill>
            </a:endParaRPr>
          </a:p>
        </p:txBody>
      </p:sp>
      <p:sp>
        <p:nvSpPr>
          <p:cNvPr id="4" name="3 Marcador de contenido"/>
          <p:cNvSpPr>
            <a:spLocks noGrp="1"/>
          </p:cNvSpPr>
          <p:nvPr>
            <p:ph sz="half" idx="2"/>
          </p:nvPr>
        </p:nvSpPr>
        <p:spPr>
          <a:xfrm>
            <a:off x="808000" y="1676400"/>
            <a:ext cx="10787138" cy="3681426"/>
          </a:xfrm>
        </p:spPr>
        <p:txBody>
          <a:bodyPr>
            <a:normAutofit fontScale="25000" lnSpcReduction="20000"/>
          </a:bodyPr>
          <a:lstStyle/>
          <a:p>
            <a:pPr>
              <a:buNone/>
            </a:pPr>
            <a:r>
              <a:rPr lang="es-CO" sz="4800" dirty="0" smtClean="0"/>
              <a:t>      </a:t>
            </a:r>
            <a:r>
              <a:rPr lang="es-CO" sz="7200" dirty="0" smtClean="0"/>
              <a:t>&gt; 2* 3+5 /2</a:t>
            </a:r>
            <a:br>
              <a:rPr lang="es-CO" sz="7200" dirty="0" smtClean="0"/>
            </a:br>
            <a:r>
              <a:rPr lang="es-CO" sz="7200" dirty="0" smtClean="0"/>
              <a:t>[1] 8.5</a:t>
            </a:r>
            <a:br>
              <a:rPr lang="es-CO" sz="7200" dirty="0" smtClean="0"/>
            </a:br>
            <a:r>
              <a:rPr lang="es-CO" sz="7200" dirty="0" smtClean="0"/>
              <a:t>&gt; 2* (3+5 /2) </a:t>
            </a:r>
            <a:r>
              <a:rPr lang="es-CO" sz="7200" dirty="0" smtClean="0">
                <a:solidFill>
                  <a:srgbClr val="FF0000"/>
                </a:solidFill>
              </a:rPr>
              <a:t># Aquí lo único que dividimos entre 2 es 5</a:t>
            </a:r>
            <a:r>
              <a:rPr lang="es-CO" sz="7200" dirty="0" smtClean="0"/>
              <a:t/>
            </a:r>
            <a:br>
              <a:rPr lang="es-CO" sz="7200" dirty="0" smtClean="0"/>
            </a:br>
            <a:r>
              <a:rPr lang="es-CO" sz="7200" dirty="0" smtClean="0"/>
              <a:t>[1] 11</a:t>
            </a:r>
            <a:br>
              <a:rPr lang="es-CO" sz="7200" dirty="0" smtClean="0"/>
            </a:br>
            <a:r>
              <a:rPr lang="es-CO" sz="7200" dirty="0" smtClean="0"/>
              <a:t>       &gt;2* ((3+5) /2)</a:t>
            </a:r>
            <a:br>
              <a:rPr lang="es-CO" sz="7200" dirty="0" smtClean="0"/>
            </a:br>
            <a:r>
              <a:rPr lang="es-CO" sz="7200" dirty="0" smtClean="0"/>
              <a:t>[1] 8</a:t>
            </a:r>
            <a:br>
              <a:rPr lang="es-CO" sz="7200" dirty="0" smtClean="0"/>
            </a:br>
            <a:endParaRPr lang="es-CO" sz="7200" dirty="0" smtClean="0"/>
          </a:p>
          <a:p>
            <a:pPr>
              <a:buNone/>
            </a:pPr>
            <a:r>
              <a:rPr lang="es-CO" sz="7200" dirty="0" smtClean="0"/>
              <a:t>       &gt; 2/ 3+4 </a:t>
            </a:r>
            <a:r>
              <a:rPr lang="es-CO" sz="7200" dirty="0" smtClean="0">
                <a:solidFill>
                  <a:srgbClr val="FF0000"/>
                </a:solidFill>
              </a:rPr>
              <a:t># Aquí el denominador de la fracción es 3</a:t>
            </a:r>
            <a:r>
              <a:rPr lang="es-CO" sz="7200" dirty="0" smtClean="0"/>
              <a:t/>
            </a:r>
            <a:br>
              <a:rPr lang="es-CO" sz="7200" dirty="0" smtClean="0"/>
            </a:br>
            <a:r>
              <a:rPr lang="es-CO" sz="7200" dirty="0" smtClean="0"/>
              <a:t>[1] 4.666667</a:t>
            </a:r>
            <a:br>
              <a:rPr lang="es-CO" sz="7200" dirty="0" smtClean="0"/>
            </a:br>
            <a:r>
              <a:rPr lang="es-CO" sz="7200" dirty="0" smtClean="0"/>
              <a:t>&gt; 2/ (3+4)</a:t>
            </a:r>
            <a:br>
              <a:rPr lang="es-CO" sz="7200" dirty="0" smtClean="0"/>
            </a:br>
            <a:r>
              <a:rPr lang="es-CO" sz="7200" dirty="0" smtClean="0"/>
              <a:t>[1] 0.2857143</a:t>
            </a:r>
            <a:br>
              <a:rPr lang="es-CO" sz="7200" dirty="0" smtClean="0"/>
            </a:br>
            <a:endParaRPr lang="es-CO" sz="7200" dirty="0" smtClean="0"/>
          </a:p>
          <a:p>
            <a:pPr>
              <a:buNone/>
            </a:pPr>
            <a:r>
              <a:rPr lang="es-CO" sz="7200" dirty="0" smtClean="0"/>
              <a:t>       &gt; 2^3 *5 </a:t>
            </a:r>
            <a:r>
              <a:rPr lang="es-CO" sz="7200" dirty="0" smtClean="0">
                <a:solidFill>
                  <a:srgbClr val="FF0000"/>
                </a:solidFill>
              </a:rPr>
              <a:t># Aquí el exponente es 3</a:t>
            </a:r>
            <a:r>
              <a:rPr lang="es-CO" sz="7200" dirty="0" smtClean="0"/>
              <a:t/>
            </a:r>
            <a:br>
              <a:rPr lang="es-CO" sz="7200" dirty="0" smtClean="0"/>
            </a:br>
            <a:r>
              <a:rPr lang="es-CO" sz="7200" dirty="0" smtClean="0"/>
              <a:t>[1] 40</a:t>
            </a:r>
            <a:br>
              <a:rPr lang="es-CO" sz="7200" dirty="0" smtClean="0"/>
            </a:br>
            <a:r>
              <a:rPr lang="es-CO" sz="7200" dirty="0" smtClean="0"/>
              <a:t>&gt; 2^(3 *5)</a:t>
            </a:r>
            <a:br>
              <a:rPr lang="es-CO" sz="7200" dirty="0" smtClean="0"/>
            </a:br>
            <a:r>
              <a:rPr lang="es-CO" sz="7200" dirty="0" smtClean="0"/>
              <a:t>[1] 32768</a:t>
            </a:r>
            <a:r>
              <a:rPr lang="es-CO" sz="3800" dirty="0" smtClean="0"/>
              <a:t/>
            </a:r>
            <a:br>
              <a:rPr lang="es-CO" sz="3800"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b="1" dirty="0" smtClean="0"/>
              <a:t>Números reales: operaciones y funciones básicas</a:t>
            </a:r>
            <a:endParaRPr lang="es-CO" dirty="0"/>
          </a:p>
        </p:txBody>
      </p:sp>
      <p:sp>
        <p:nvSpPr>
          <p:cNvPr id="6" name="5 Marcador de contenido"/>
          <p:cNvSpPr>
            <a:spLocks noGrp="1"/>
          </p:cNvSpPr>
          <p:nvPr>
            <p:ph sz="quarter" idx="4"/>
          </p:nvPr>
        </p:nvSpPr>
        <p:spPr>
          <a:xfrm>
            <a:off x="593686" y="571480"/>
            <a:ext cx="10985539" cy="4572032"/>
          </a:xfrm>
        </p:spPr>
        <p:txBody>
          <a:bodyPr>
            <a:normAutofit lnSpcReduction="10000"/>
          </a:bodyPr>
          <a:lstStyle/>
          <a:p>
            <a:r>
              <a:rPr lang="es-CO" dirty="0" smtClean="0"/>
              <a:t>&gt; 2^-5 </a:t>
            </a:r>
            <a:r>
              <a:rPr lang="es-CO" dirty="0" smtClean="0">
                <a:solidFill>
                  <a:srgbClr val="FF0000"/>
                </a:solidFill>
              </a:rPr>
              <a:t>#En este caso no hacen falta paréntesis ...</a:t>
            </a:r>
            <a:r>
              <a:rPr lang="es-CO" dirty="0" smtClean="0"/>
              <a:t/>
            </a:r>
            <a:br>
              <a:rPr lang="es-CO" dirty="0" smtClean="0"/>
            </a:br>
            <a:r>
              <a:rPr lang="es-CO" dirty="0" smtClean="0"/>
              <a:t>[1] 0.03125</a:t>
            </a:r>
            <a:br>
              <a:rPr lang="es-CO" dirty="0" smtClean="0"/>
            </a:br>
            <a:r>
              <a:rPr lang="es-CO" dirty="0" smtClean="0"/>
              <a:t>&gt; 2^( -5) </a:t>
            </a:r>
            <a:r>
              <a:rPr lang="es-CO" dirty="0" smtClean="0">
                <a:solidFill>
                  <a:srgbClr val="FF0000"/>
                </a:solidFill>
              </a:rPr>
              <a:t># Pero queda más claro si se usan</a:t>
            </a:r>
            <a:r>
              <a:rPr lang="es-CO" dirty="0" smtClean="0"/>
              <a:t/>
            </a:r>
            <a:br>
              <a:rPr lang="es-CO" dirty="0" smtClean="0"/>
            </a:br>
            <a:r>
              <a:rPr lang="es-CO" dirty="0" smtClean="0"/>
              <a:t/>
            </a:r>
            <a:br>
              <a:rPr lang="es-CO" dirty="0" smtClean="0"/>
            </a:br>
            <a:r>
              <a:rPr lang="es-CO" dirty="0" smtClean="0"/>
              <a:t>&gt; pi</a:t>
            </a:r>
            <a:br>
              <a:rPr lang="es-CO" dirty="0" smtClean="0"/>
            </a:br>
            <a:r>
              <a:rPr lang="es-CO" dirty="0" smtClean="0"/>
              <a:t>[1] 3.141593</a:t>
            </a:r>
            <a:br>
              <a:rPr lang="es-CO" dirty="0" smtClean="0"/>
            </a:br>
            <a:r>
              <a:rPr lang="es-CO" dirty="0" smtClean="0"/>
              <a:t>&gt; 2^ pi</a:t>
            </a:r>
            <a:br>
              <a:rPr lang="es-CO" dirty="0" smtClean="0"/>
            </a:br>
            <a:r>
              <a:rPr lang="es-CO" dirty="0" smtClean="0"/>
              <a:t>[1] 8.824978</a:t>
            </a:r>
            <a:br>
              <a:rPr lang="es-CO" dirty="0" smtClean="0"/>
            </a:br>
            <a:r>
              <a:rPr lang="es-CO" dirty="0" smtClean="0"/>
              <a:t/>
            </a:r>
            <a:br>
              <a:rPr lang="es-CO" dirty="0" smtClean="0"/>
            </a:br>
            <a:r>
              <a:rPr lang="es-CO" dirty="0" smtClean="0">
                <a:solidFill>
                  <a:srgbClr val="FF0000"/>
                </a:solidFill>
              </a:rPr>
              <a:t>¡Cuidado! No podemos omitir el signo * en las multiplicaciones.</a:t>
            </a:r>
          </a:p>
          <a:p>
            <a:r>
              <a:rPr lang="en-US" dirty="0" smtClean="0"/>
              <a:t>&gt; 2(3+5)</a:t>
            </a:r>
            <a:br>
              <a:rPr lang="en-US" dirty="0" smtClean="0"/>
            </a:br>
            <a:r>
              <a:rPr lang="en-US" dirty="0" smtClean="0"/>
              <a:t>Error : attempt to apply non - function</a:t>
            </a:r>
            <a:br>
              <a:rPr lang="en-US" dirty="0" smtClean="0"/>
            </a:br>
            <a:r>
              <a:rPr lang="en-US" dirty="0" smtClean="0"/>
              <a:t>&gt; 2* (3+5)</a:t>
            </a:r>
            <a:br>
              <a:rPr lang="en-US" dirty="0" smtClean="0"/>
            </a:br>
            <a:r>
              <a:rPr lang="en-US" dirty="0" smtClean="0"/>
              <a:t>[1] 16</a:t>
            </a: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b="1" dirty="0" smtClean="0"/>
              <a:t>Números reales: operaciones y funciones básicas</a:t>
            </a:r>
            <a:endParaRPr lang="es-CO" dirty="0"/>
          </a:p>
        </p:txBody>
      </p:sp>
      <p:sp>
        <p:nvSpPr>
          <p:cNvPr id="6" name="5 Marcador de contenido"/>
          <p:cNvSpPr>
            <a:spLocks noGrp="1"/>
          </p:cNvSpPr>
          <p:nvPr>
            <p:ph sz="quarter" idx="4"/>
          </p:nvPr>
        </p:nvSpPr>
        <p:spPr>
          <a:xfrm>
            <a:off x="879438" y="642918"/>
            <a:ext cx="10699787" cy="4572032"/>
          </a:xfrm>
        </p:spPr>
        <p:txBody>
          <a:bodyPr>
            <a:normAutofit lnSpcReduction="10000"/>
          </a:bodyPr>
          <a:lstStyle/>
          <a:p>
            <a:r>
              <a:rPr lang="es-CO" dirty="0" smtClean="0"/>
              <a:t>&gt; </a:t>
            </a:r>
            <a:r>
              <a:rPr lang="es-CO" dirty="0" err="1" smtClean="0"/>
              <a:t>sqrt</a:t>
            </a:r>
            <a:r>
              <a:rPr lang="es-CO" dirty="0" smtClean="0"/>
              <a:t> (4)</a:t>
            </a:r>
            <a:br>
              <a:rPr lang="es-CO" dirty="0" smtClean="0"/>
            </a:br>
            <a:r>
              <a:rPr lang="es-CO" dirty="0" smtClean="0"/>
              <a:t>[1] 2</a:t>
            </a:r>
            <a:br>
              <a:rPr lang="es-CO" dirty="0" smtClean="0"/>
            </a:br>
            <a:r>
              <a:rPr lang="es-CO" dirty="0" smtClean="0"/>
              <a:t>&gt; </a:t>
            </a:r>
            <a:r>
              <a:rPr lang="es-CO" dirty="0" err="1" smtClean="0"/>
              <a:t>sqrt</a:t>
            </a:r>
            <a:r>
              <a:rPr lang="es-CO" dirty="0" smtClean="0"/>
              <a:t> (8) - 8^(1 /2)</a:t>
            </a:r>
            <a:br>
              <a:rPr lang="es-CO" dirty="0" smtClean="0"/>
            </a:br>
            <a:r>
              <a:rPr lang="es-CO" dirty="0" smtClean="0"/>
              <a:t>[1] 0</a:t>
            </a:r>
            <a:br>
              <a:rPr lang="es-CO" dirty="0" smtClean="0"/>
            </a:br>
            <a:r>
              <a:rPr lang="es-CO" dirty="0" smtClean="0"/>
              <a:t/>
            </a:r>
            <a:br>
              <a:rPr lang="es-CO" dirty="0" smtClean="0"/>
            </a:br>
            <a:r>
              <a:rPr lang="es-CO" dirty="0" smtClean="0"/>
              <a:t>&gt; log10 (8)</a:t>
            </a:r>
            <a:br>
              <a:rPr lang="es-CO" dirty="0" smtClean="0"/>
            </a:br>
            <a:r>
              <a:rPr lang="es-CO" dirty="0" smtClean="0"/>
              <a:t>[1] 0.90309</a:t>
            </a:r>
            <a:br>
              <a:rPr lang="es-CO" dirty="0" smtClean="0"/>
            </a:br>
            <a:r>
              <a:rPr lang="es-CO" dirty="0" smtClean="0"/>
              <a:t>&gt; log (8) / log (10)</a:t>
            </a:r>
            <a:br>
              <a:rPr lang="es-CO" dirty="0" smtClean="0"/>
            </a:br>
            <a:r>
              <a:rPr lang="es-CO" dirty="0" smtClean="0"/>
              <a:t>[1] 0.90309</a:t>
            </a:r>
            <a:br>
              <a:rPr lang="es-CO" dirty="0" smtClean="0"/>
            </a:br>
            <a:r>
              <a:rPr lang="es-CO" dirty="0" smtClean="0"/>
              <a:t/>
            </a:r>
            <a:br>
              <a:rPr lang="es-CO" dirty="0" smtClean="0"/>
            </a:br>
            <a:r>
              <a:rPr lang="es-CO" dirty="0" smtClean="0"/>
              <a:t>&gt; 7^ log (2, 7) </a:t>
            </a:r>
            <a:r>
              <a:rPr lang="es-CO" dirty="0" smtClean="0">
                <a:solidFill>
                  <a:srgbClr val="FF0000"/>
                </a:solidFill>
              </a:rPr>
              <a:t>#7 elevado al logaritmo en base 7 de 2 da ...</a:t>
            </a:r>
            <a:r>
              <a:rPr lang="es-CO" dirty="0" smtClean="0"/>
              <a:t/>
            </a:r>
            <a:br>
              <a:rPr lang="es-CO" dirty="0" smtClean="0"/>
            </a:br>
            <a:r>
              <a:rPr lang="es-CO" dirty="0" smtClean="0"/>
              <a:t>[1] 2</a:t>
            </a:r>
            <a:br>
              <a:rPr lang="es-CO" dirty="0" smtClean="0"/>
            </a:br>
            <a:r>
              <a:rPr lang="es-CO" dirty="0" smtClean="0"/>
              <a:t/>
            </a:r>
            <a:br>
              <a:rPr lang="es-CO" dirty="0" smtClean="0"/>
            </a:br>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smtClean="0"/>
              <a:t>Actividad…</a:t>
            </a:r>
            <a:endParaRPr lang="es-CO" dirty="0"/>
          </a:p>
        </p:txBody>
      </p:sp>
      <p:sp>
        <p:nvSpPr>
          <p:cNvPr id="4" name="3 Marcador de contenido"/>
          <p:cNvSpPr>
            <a:spLocks noGrp="1"/>
          </p:cNvSpPr>
          <p:nvPr>
            <p:ph sz="half" idx="2"/>
          </p:nvPr>
        </p:nvSpPr>
        <p:spPr>
          <a:xfrm>
            <a:off x="1293664" y="500042"/>
            <a:ext cx="9158466" cy="4714908"/>
          </a:xfrm>
        </p:spPr>
        <p:txBody>
          <a:bodyPr/>
          <a:lstStyle/>
          <a:p>
            <a:r>
              <a:rPr lang="es-CO" dirty="0" smtClean="0"/>
              <a:t>Calcule los siguientes:</a:t>
            </a:r>
          </a:p>
          <a:p>
            <a:endParaRPr lang="es-CO" dirty="0" smtClean="0"/>
          </a:p>
          <a:p>
            <a:r>
              <a:rPr lang="es-CO" dirty="0" smtClean="0"/>
              <a:t>(2*3+2+5)   /  (2*3)^2</a:t>
            </a:r>
          </a:p>
          <a:p>
            <a:r>
              <a:rPr lang="es-CO" dirty="0" smtClean="0"/>
              <a:t>Utilice la función round para redondear con 2 dígitos</a:t>
            </a:r>
          </a:p>
          <a:p>
            <a:r>
              <a:rPr lang="es-CO" dirty="0" err="1" smtClean="0"/>
              <a:t>ln</a:t>
            </a:r>
            <a:r>
              <a:rPr lang="es-CO" dirty="0" smtClean="0"/>
              <a:t>(2*5) + </a:t>
            </a:r>
            <a:r>
              <a:rPr lang="es-CO" dirty="0" err="1" smtClean="0"/>
              <a:t>ln</a:t>
            </a:r>
            <a:r>
              <a:rPr lang="es-CO" dirty="0" smtClean="0"/>
              <a:t>(4)</a:t>
            </a:r>
          </a:p>
          <a:p>
            <a:r>
              <a:rPr lang="es-CO" dirty="0" smtClean="0"/>
              <a:t>Cree 2 vectores x, y con el comando c(). Realice operaciones básicas con los vectores. </a:t>
            </a:r>
            <a:r>
              <a:rPr lang="es-CO" dirty="0" err="1" smtClean="0"/>
              <a:t>x+y</a:t>
            </a:r>
            <a:r>
              <a:rPr lang="es-CO" dirty="0" smtClean="0"/>
              <a:t> ; x-y, mean(x), mean(y), x/y, x*y, </a:t>
            </a:r>
            <a:r>
              <a:rPr lang="es-CO" dirty="0" err="1" smtClean="0"/>
              <a:t>etc</a:t>
            </a:r>
            <a:endParaRPr lang="es-CO" dirty="0" smtClean="0"/>
          </a:p>
          <a:p>
            <a:r>
              <a:rPr lang="es-CO" dirty="0" smtClean="0"/>
              <a:t>Investigue sobre la función </a:t>
            </a:r>
            <a:r>
              <a:rPr lang="es-CO" dirty="0" err="1" smtClean="0"/>
              <a:t>matrix</a:t>
            </a:r>
            <a:r>
              <a:rPr lang="es-CO" dirty="0" smtClean="0"/>
              <a:t> (?</a:t>
            </a:r>
            <a:r>
              <a:rPr lang="es-CO" dirty="0" err="1" smtClean="0"/>
              <a:t>matrix</a:t>
            </a:r>
            <a:r>
              <a:rPr lang="es-CO" dirty="0" smtClean="0"/>
              <a:t>)</a:t>
            </a:r>
          </a:p>
          <a:p>
            <a:pPr>
              <a:buNone/>
            </a:pPr>
            <a:r>
              <a:rPr lang="es-CO" dirty="0" smtClean="0"/>
              <a:t> </a:t>
            </a:r>
          </a:p>
          <a:p>
            <a:endParaRPr lang="es-CO" dirty="0" smtClean="0"/>
          </a:p>
          <a:p>
            <a:endParaRPr lang="es-CO" dirty="0" smtClean="0"/>
          </a:p>
          <a:p>
            <a:endParaRPr lang="es-CO"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contenido 3"/>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3308330" y="1000108"/>
            <a:ext cx="5190925" cy="4773638"/>
          </a:xfrm>
          <a:prstGeom prst="rect">
            <a:avLst/>
          </a:prstGeom>
        </p:spPr>
      </p:pic>
    </p:spTree>
    <p:extLst>
      <p:ext uri="{BB962C8B-B14F-4D97-AF65-F5344CB8AC3E}">
        <p14:creationId xmlns:p14="http://schemas.microsoft.com/office/powerpoint/2010/main" xmlns="" val="391459242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tf02801084">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extLst>
    <a:ext uri="{05A4C25C-085E-4340-85A3-A5531E510DB2}">
      <thm15:themeFamily xmlns:thm15="http://schemas.microsoft.com/office/thememl/2012/main" xmlns="" name="Office_13666347_TF02801084" id="{CD88FFC4-256B-4A8B-A834-3ED1FB95D122}" vid="{8EBA3372-4352-4BB3-92A0-2911D09DA088}"/>
    </a:ext>
  </a:extLst>
</a:theme>
</file>

<file path=ppt/theme/theme2.xml><?xml version="1.0" encoding="utf-8"?>
<a:theme xmlns:a="http://schemas.openxmlformats.org/drawingml/2006/main" name="Tema de Offic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ppt/theme/theme3.xml><?xml version="1.0" encoding="utf-8"?>
<a:theme xmlns:a="http://schemas.openxmlformats.org/drawingml/2006/main" name="Tema de Offic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AACE6D-8EB6-447A-8DFD-C2C0C52916AC}">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40262f94-9f35-4ac3-9a90-690165a166b7"/>
    <ds:schemaRef ds:uri="a4f35948-e619-41b3-aa29-22878b09cfd2"/>
    <ds:schemaRef ds:uri="http://www.w3.org/XML/1998/namespace"/>
  </ds:schemaRefs>
</ds:datastoreItem>
</file>

<file path=customXml/itemProps2.xml><?xml version="1.0" encoding="utf-8"?>
<ds:datastoreItem xmlns:ds="http://schemas.openxmlformats.org/officeDocument/2006/customXml" ds:itemID="{7F9B8BCC-BF24-4800-92E1-9F891BBB27E6}">
  <ds:schemaRefs>
    <ds:schemaRef ds:uri="http://schemas.microsoft.com/sharepoint/v3/contenttype/forms"/>
  </ds:schemaRefs>
</ds:datastoreItem>
</file>

<file path=customXml/itemProps3.xml><?xml version="1.0" encoding="utf-8"?>
<ds:datastoreItem xmlns:ds="http://schemas.openxmlformats.org/officeDocument/2006/customXml" ds:itemID="{5CCB2C71-1ED8-4540-B003-293B5E75C7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tf02801084</Template>
  <TotalTime>575</TotalTime>
  <Words>712</Words>
  <Application>Microsoft Office PowerPoint</Application>
  <PresentationFormat>Personalizado</PresentationFormat>
  <Paragraphs>96</Paragraphs>
  <Slides>26</Slides>
  <Notes>6</Notes>
  <HiddenSlides>0</HiddenSlides>
  <MMClips>0</MMClips>
  <ScaleCrop>false</ScaleCrop>
  <HeadingPairs>
    <vt:vector size="4" baseType="variant">
      <vt:variant>
        <vt:lpstr>Tema</vt:lpstr>
      </vt:variant>
      <vt:variant>
        <vt:i4>1</vt:i4>
      </vt:variant>
      <vt:variant>
        <vt:lpstr>Títulos de diapositiva</vt:lpstr>
      </vt:variant>
      <vt:variant>
        <vt:i4>26</vt:i4>
      </vt:variant>
    </vt:vector>
  </HeadingPairs>
  <TitlesOfParts>
    <vt:vector size="27" baseType="lpstr">
      <vt:lpstr>tf02801084</vt:lpstr>
      <vt:lpstr>Curso Análisis Estadístico de datos: software R</vt:lpstr>
      <vt:lpstr>Introducción a R</vt:lpstr>
      <vt:lpstr>Atractivos de R</vt:lpstr>
      <vt:lpstr>Atractivos de R</vt:lpstr>
      <vt:lpstr>Atractivos de R</vt:lpstr>
      <vt:lpstr>Atractivos de R</vt:lpstr>
      <vt:lpstr>Algunos ejemplos</vt:lpstr>
      <vt:lpstr>Algunos ejemplos</vt:lpstr>
      <vt:lpstr>Algunos ejemplos</vt:lpstr>
      <vt:lpstr>Algunos ejemplos</vt:lpstr>
      <vt:lpstr>Algunos ejemplos</vt:lpstr>
      <vt:lpstr>¿Cuál es tu motivación para aprender R?</vt:lpstr>
      <vt:lpstr>Recomendaciones para empezar a aprender R</vt:lpstr>
      <vt:lpstr>Conociendo la interfaz de R</vt:lpstr>
      <vt:lpstr>Interfaz R Studio</vt:lpstr>
      <vt:lpstr>Recomendaciones al iniciar una sesión en R</vt:lpstr>
      <vt:lpstr>Recomendaciones al iniciar una sesión en R</vt:lpstr>
      <vt:lpstr>Recomendaciones al iniciar una sesión en R</vt:lpstr>
      <vt:lpstr>Ejemplos de R (uso como calculadora)</vt:lpstr>
      <vt:lpstr>Números reales: operaciones y funciones básicas</vt:lpstr>
      <vt:lpstr>Números reales: operaciones y funciones básicas</vt:lpstr>
      <vt:lpstr>Números reales: operaciones y funciones básicas</vt:lpstr>
      <vt:lpstr>Números reales: operaciones y funciones básicas</vt:lpstr>
      <vt:lpstr>Números reales: operaciones y funciones básicas</vt:lpstr>
      <vt:lpstr>Actividad…</vt:lpstr>
      <vt:lpstr>Diapositiva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Andres</dc:creator>
  <cp:lastModifiedBy>Andres</cp:lastModifiedBy>
  <cp:revision>48</cp:revision>
  <dcterms:created xsi:type="dcterms:W3CDTF">2018-04-11T20:09:05Z</dcterms:created>
  <dcterms:modified xsi:type="dcterms:W3CDTF">2018-05-02T14:59:08Z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