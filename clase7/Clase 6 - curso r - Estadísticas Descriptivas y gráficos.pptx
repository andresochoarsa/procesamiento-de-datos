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56" r:id="rId5"/>
    <p:sldId id="265" r:id="rId6"/>
    <p:sldId id="267" r:id="rId7"/>
    <p:sldId id="275" r:id="rId8"/>
    <p:sldId id="276" r:id="rId9"/>
    <p:sldId id="288" r:id="rId10"/>
    <p:sldId id="289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98" r:id="rId19"/>
    <p:sldId id="284" r:id="rId20"/>
    <p:sldId id="299" r:id="rId21"/>
    <p:sldId id="285" r:id="rId22"/>
    <p:sldId id="294" r:id="rId23"/>
    <p:sldId id="295" r:id="rId24"/>
    <p:sldId id="300" r:id="rId25"/>
    <p:sldId id="301" r:id="rId26"/>
    <p:sldId id="296" r:id="rId27"/>
    <p:sldId id="303" r:id="rId28"/>
    <p:sldId id="304" r:id="rId29"/>
    <p:sldId id="302" r:id="rId30"/>
    <p:sldId id="286" r:id="rId31"/>
    <p:sldId id="290" r:id="rId32"/>
    <p:sldId id="287" r:id="rId33"/>
    <p:sldId id="291" r:id="rId34"/>
    <p:sldId id="292" r:id="rId35"/>
    <p:sldId id="293" r:id="rId36"/>
    <p:sldId id="305" r:id="rId37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706" autoAdjust="0"/>
  </p:normalViewPr>
  <p:slideViewPr>
    <p:cSldViewPr showGuides="1">
      <p:cViewPr varScale="1">
        <p:scale>
          <a:sx n="69" d="100"/>
          <a:sy n="69" d="100"/>
        </p:scale>
        <p:origin x="-756" y="-9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46" d="100"/>
          <a:sy n="46" d="100"/>
        </p:scale>
        <p:origin x="660" y="4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/Relationships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EA337-AD34-4422-B53A-01423AF1AC8F}">
      <dsp:nvSpPr>
        <dsp:cNvPr id="0" name=""/>
        <dsp:cNvSpPr/>
      </dsp:nvSpPr>
      <dsp:spPr>
        <a:xfrm>
          <a:off x="514115" y="483158"/>
          <a:ext cx="3224682" cy="3224682"/>
        </a:xfrm>
        <a:prstGeom prst="blockArc">
          <a:avLst>
            <a:gd name="adj1" fmla="val 10800000"/>
            <a:gd name="adj2" fmla="val 1620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5DF5F-8B8B-41EF-8531-276CBECDCAB4}">
      <dsp:nvSpPr>
        <dsp:cNvPr id="0" name=""/>
        <dsp:cNvSpPr/>
      </dsp:nvSpPr>
      <dsp:spPr>
        <a:xfrm>
          <a:off x="514115" y="483158"/>
          <a:ext cx="3224682" cy="3224682"/>
        </a:xfrm>
        <a:prstGeom prst="blockArc">
          <a:avLst>
            <a:gd name="adj1" fmla="val 5400000"/>
            <a:gd name="adj2" fmla="val 1080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B3940-637A-4C32-AB7F-CFAD929A59AB}">
      <dsp:nvSpPr>
        <dsp:cNvPr id="0" name=""/>
        <dsp:cNvSpPr/>
      </dsp:nvSpPr>
      <dsp:spPr>
        <a:xfrm>
          <a:off x="514115" y="483158"/>
          <a:ext cx="3224682" cy="3224682"/>
        </a:xfrm>
        <a:prstGeom prst="blockArc">
          <a:avLst>
            <a:gd name="adj1" fmla="val 0"/>
            <a:gd name="adj2" fmla="val 540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E7562-7D1C-4B0F-8927-12F8E6C5F5AF}">
      <dsp:nvSpPr>
        <dsp:cNvPr id="0" name=""/>
        <dsp:cNvSpPr/>
      </dsp:nvSpPr>
      <dsp:spPr>
        <a:xfrm>
          <a:off x="514115" y="483158"/>
          <a:ext cx="3224682" cy="3224682"/>
        </a:xfrm>
        <a:prstGeom prst="blockArc">
          <a:avLst>
            <a:gd name="adj1" fmla="val 16200000"/>
            <a:gd name="adj2" fmla="val 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B9C9C-582A-4226-99A2-A6A4B7AD887A}">
      <dsp:nvSpPr>
        <dsp:cNvPr id="0" name=""/>
        <dsp:cNvSpPr/>
      </dsp:nvSpPr>
      <dsp:spPr>
        <a:xfrm>
          <a:off x="1385103" y="1354147"/>
          <a:ext cx="1482705" cy="14827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rtlCol="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900" kern="1200" noProof="0" dirty="0" smtClean="0"/>
            <a:t>Grupo A</a:t>
          </a:r>
          <a:endParaRPr lang="es-ES" sz="2900" kern="1200" noProof="0" dirty="0"/>
        </a:p>
      </dsp:txBody>
      <dsp:txXfrm>
        <a:off x="1602240" y="1571284"/>
        <a:ext cx="1048431" cy="1048431"/>
      </dsp:txXfrm>
    </dsp:sp>
    <dsp:sp modelId="{0B9D5D8D-AE9B-4E3C-8081-7E5A4C702F02}">
      <dsp:nvSpPr>
        <dsp:cNvPr id="0" name=""/>
        <dsp:cNvSpPr/>
      </dsp:nvSpPr>
      <dsp:spPr>
        <a:xfrm>
          <a:off x="1607509" y="1576"/>
          <a:ext cx="1037893" cy="1037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rtlCol="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200" kern="1200" noProof="0" dirty="0" smtClean="0"/>
            <a:t>Tarea 1</a:t>
          </a:r>
          <a:endParaRPr lang="es-ES" sz="2200" kern="1200" noProof="0" dirty="0"/>
        </a:p>
      </dsp:txBody>
      <dsp:txXfrm>
        <a:off x="1759505" y="153572"/>
        <a:ext cx="733901" cy="733901"/>
      </dsp:txXfrm>
    </dsp:sp>
    <dsp:sp modelId="{1C226D9E-C8BD-43C0-B5A7-66592C02513E}">
      <dsp:nvSpPr>
        <dsp:cNvPr id="0" name=""/>
        <dsp:cNvSpPr/>
      </dsp:nvSpPr>
      <dsp:spPr>
        <a:xfrm>
          <a:off x="3182486" y="1576553"/>
          <a:ext cx="1037893" cy="1037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rtlCol="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200" kern="1200" noProof="0" dirty="0" smtClean="0"/>
            <a:t>Tarea 2</a:t>
          </a:r>
          <a:endParaRPr lang="es-ES" sz="2200" kern="1200" noProof="0" dirty="0"/>
        </a:p>
      </dsp:txBody>
      <dsp:txXfrm>
        <a:off x="3334482" y="1728549"/>
        <a:ext cx="733901" cy="733901"/>
      </dsp:txXfrm>
    </dsp:sp>
    <dsp:sp modelId="{29DFD080-5F1B-4B82-A3B2-DA9D6DF3694E}">
      <dsp:nvSpPr>
        <dsp:cNvPr id="0" name=""/>
        <dsp:cNvSpPr/>
      </dsp:nvSpPr>
      <dsp:spPr>
        <a:xfrm>
          <a:off x="1607509" y="3151530"/>
          <a:ext cx="1037893" cy="1037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rtlCol="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200" kern="1200" noProof="0" dirty="0" smtClean="0"/>
            <a:t>Tarea 3</a:t>
          </a:r>
          <a:endParaRPr lang="es-ES" sz="2200" kern="1200" noProof="0" dirty="0"/>
        </a:p>
      </dsp:txBody>
      <dsp:txXfrm>
        <a:off x="1759505" y="3303526"/>
        <a:ext cx="733901" cy="733901"/>
      </dsp:txXfrm>
    </dsp:sp>
    <dsp:sp modelId="{B3F8C3C3-65FB-486F-82C0-A8478B7022B9}">
      <dsp:nvSpPr>
        <dsp:cNvPr id="0" name=""/>
        <dsp:cNvSpPr/>
      </dsp:nvSpPr>
      <dsp:spPr>
        <a:xfrm>
          <a:off x="32532" y="1576553"/>
          <a:ext cx="1037893" cy="1037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rtlCol="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200" kern="1200" noProof="0" dirty="0" smtClean="0"/>
            <a:t>Tarea 4</a:t>
          </a:r>
          <a:endParaRPr lang="es-ES" sz="2200" kern="1200" noProof="0" dirty="0"/>
        </a:p>
      </dsp:txBody>
      <dsp:txXfrm>
        <a:off x="184528" y="1728549"/>
        <a:ext cx="733901" cy="733901"/>
      </dsp:txXfrm>
    </dsp:sp>
  </dsp:spTree>
</dsp:drawing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C91A5D5-FFF8-46DF-9C0E-0D4F23F47441}" type="datetime1">
              <a:rPr lang="es-ES" smtClean="0"/>
              <a:pPr rtl="0"/>
              <a:t>09/05/2018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4CBEF8-5CDE-472B-839B-B8BB0C881006}" type="slidenum">
              <a:rPr lang="es-ES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2632892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F57AFA-577C-4932-92E9-D908A67F120F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B98AFB-CB0D-4DFE-87B9-B4B0D0DE73CD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25128058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3751008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3938222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pPr rtl="0"/>
              <a:t>29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56362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 rtlCol="0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 rtlCol="0"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 smtClean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F0BD41-664D-4ABB-BED5-60658B66DD7C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664752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AFB294-75A7-4B00-B220-CD65C2131025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2429153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rtlCol="0" anchor="b">
            <a:normAutofit/>
          </a:bodyPr>
          <a:lstStyle>
            <a:lvl1pPr algn="l">
              <a:defRPr sz="5400" b="1" cap="none" baseline="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rtlCol="0"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EC0E9D-6882-4573-BA34-049B7160C60E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3701331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F87BAA-EB97-4293-BA03-25DA42ED3F33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3413709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873C6C-A638-4A2B-8C7B-738C92DEBADC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2000784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AB7FA5-3598-48B9-9C77-8C3FE03A7F24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907158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855685E-F8EB-43D9-9EDD-55E7759E9BB9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2441531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rtlCol="0" anchor="b">
            <a:normAutofit/>
          </a:bodyPr>
          <a:lstStyle>
            <a:lvl1pPr algn="l">
              <a:defRPr sz="3600" b="1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392E02-8288-486A-A35E-2FB446293FE3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2101711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rtlCol="0" anchor="b">
            <a:noAutofit/>
          </a:bodyPr>
          <a:lstStyle>
            <a:lvl1pPr algn="l">
              <a:defRPr sz="3600" b="1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xmlns="" val="1419608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79A989-1972-408F-82FF-A58E53892B77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2668093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CD3A61-A9C3-4CD9-B800-BFDBF3EEB1B4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188244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 dirty="0" smtClean="0"/>
              <a:t>Agregar un pie de página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5F0077C4-AA9A-431A-A8F9-E2A2FBCC5765}" type="datetime1">
              <a:rPr lang="es-ES" noProof="0" smtClean="0"/>
              <a:pPr rtl="0"/>
              <a:t>09/05/2018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AAEAE4A8-A6E5-453E-B946-FB774B73F48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xmlns="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22314" y="857232"/>
            <a:ext cx="5029200" cy="2514601"/>
          </a:xfrm>
        </p:spPr>
        <p:txBody>
          <a:bodyPr rtlCol="0">
            <a:normAutofit fontScale="90000"/>
          </a:bodyPr>
          <a:lstStyle/>
          <a:p>
            <a:r>
              <a:rPr lang="es-CO" dirty="0" smtClean="0"/>
              <a:t>Herramientas para el Análisis Exploratorio de </a:t>
            </a:r>
            <a:r>
              <a:rPr lang="es-CO" dirty="0" smtClean="0"/>
              <a:t>Datos con R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2314" y="3857628"/>
            <a:ext cx="5029201" cy="1397000"/>
          </a:xfrm>
        </p:spPr>
        <p:txBody>
          <a:bodyPr rtlCol="0"/>
          <a:lstStyle/>
          <a:p>
            <a:pPr rtl="0"/>
            <a:r>
              <a:rPr lang="es-ES" dirty="0" smtClean="0"/>
              <a:t>Andrés Felipe Ochoa Muñoz</a:t>
            </a:r>
          </a:p>
          <a:p>
            <a:pPr rtl="0"/>
            <a:r>
              <a:rPr lang="es-ES" dirty="0" smtClean="0"/>
              <a:t>a</a:t>
            </a:r>
            <a:r>
              <a:rPr lang="es-ES" dirty="0" smtClean="0"/>
              <a:t>ndres.ochoa@correounivalle.edu.co</a:t>
            </a:r>
            <a:endParaRPr lang="es-ES" dirty="0"/>
          </a:p>
        </p:txBody>
      </p:sp>
      <p:pic>
        <p:nvPicPr>
          <p:cNvPr id="4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08924" y="642918"/>
            <a:ext cx="2274937" cy="1762762"/>
          </a:xfrm>
          <a:prstGeom prst="rect">
            <a:avLst/>
          </a:prstGeom>
          <a:noFill/>
        </p:spPr>
      </p:pic>
      <p:pic>
        <p:nvPicPr>
          <p:cNvPr id="5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37750" y="2214554"/>
            <a:ext cx="1560557" cy="1209216"/>
          </a:xfrm>
          <a:prstGeom prst="rect">
            <a:avLst/>
          </a:prstGeom>
          <a:noFill/>
        </p:spPr>
      </p:pic>
      <p:pic>
        <p:nvPicPr>
          <p:cNvPr id="6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80560" y="3143248"/>
            <a:ext cx="1106334" cy="857256"/>
          </a:xfrm>
          <a:prstGeom prst="rect">
            <a:avLst/>
          </a:prstGeom>
          <a:noFill/>
        </p:spPr>
      </p:pic>
      <p:pic>
        <p:nvPicPr>
          <p:cNvPr id="7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70028" y="3857628"/>
            <a:ext cx="645362" cy="500066"/>
          </a:xfrm>
          <a:prstGeom prst="rect">
            <a:avLst/>
          </a:prstGeom>
          <a:noFill/>
        </p:spPr>
      </p:pic>
      <p:pic>
        <p:nvPicPr>
          <p:cNvPr id="8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37750" y="4214818"/>
            <a:ext cx="645362" cy="500066"/>
          </a:xfrm>
          <a:prstGeom prst="rect">
            <a:avLst/>
          </a:prstGeom>
          <a:noFill/>
        </p:spPr>
      </p:pic>
      <p:pic>
        <p:nvPicPr>
          <p:cNvPr id="9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37816" y="4572008"/>
            <a:ext cx="500066" cy="387482"/>
          </a:xfrm>
          <a:prstGeom prst="rect">
            <a:avLst/>
          </a:prstGeom>
          <a:noFill/>
        </p:spPr>
      </p:pic>
      <p:pic>
        <p:nvPicPr>
          <p:cNvPr id="10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23502" y="5000636"/>
            <a:ext cx="553167" cy="428628"/>
          </a:xfrm>
          <a:prstGeom prst="rect">
            <a:avLst/>
          </a:prstGeom>
          <a:noFill/>
        </p:spPr>
      </p:pic>
      <p:pic>
        <p:nvPicPr>
          <p:cNvPr id="11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79262" y="5429264"/>
            <a:ext cx="460973" cy="357190"/>
          </a:xfrm>
          <a:prstGeom prst="rect">
            <a:avLst/>
          </a:prstGeom>
          <a:noFill/>
        </p:spPr>
      </p:pic>
      <p:pic>
        <p:nvPicPr>
          <p:cNvPr id="12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94874" y="5786454"/>
            <a:ext cx="460973" cy="3476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93259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Contenido</a:t>
            </a:r>
            <a:endParaRPr lang="es-ES" dirty="0"/>
          </a:p>
        </p:txBody>
      </p:sp>
      <p:sp>
        <p:nvSpPr>
          <p:cNvPr id="14" name="Marcador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 smtClean="0"/>
              <a:t>Indicadores de tendencia central, de posición, dispersión y forma</a:t>
            </a:r>
          </a:p>
          <a:p>
            <a:pPr rtl="0"/>
            <a:r>
              <a:rPr lang="es-ES" dirty="0" smtClean="0"/>
              <a:t>La función </a:t>
            </a:r>
            <a:r>
              <a:rPr lang="es-ES" dirty="0" err="1" smtClean="0"/>
              <a:t>plot</a:t>
            </a:r>
            <a:r>
              <a:rPr lang="es-ES" dirty="0" smtClean="0"/>
              <a:t>() , </a:t>
            </a:r>
            <a:r>
              <a:rPr lang="es-ES" dirty="0" err="1" smtClean="0"/>
              <a:t>hist</a:t>
            </a:r>
            <a:r>
              <a:rPr lang="es-ES" dirty="0" smtClean="0"/>
              <a:t>(), </a:t>
            </a:r>
            <a:r>
              <a:rPr lang="es-ES" dirty="0" err="1" smtClean="0"/>
              <a:t>boxplot</a:t>
            </a:r>
            <a:r>
              <a:rPr lang="es-ES" dirty="0" smtClean="0"/>
              <a:t>(), </a:t>
            </a:r>
            <a:r>
              <a:rPr lang="es-ES" dirty="0" err="1" smtClean="0"/>
              <a:t>barplot</a:t>
            </a:r>
            <a:r>
              <a:rPr lang="es-ES" dirty="0" smtClean="0"/>
              <a:t>(), pie()</a:t>
            </a:r>
          </a:p>
          <a:p>
            <a:pPr rtl="0"/>
            <a:r>
              <a:rPr lang="es-ES" dirty="0" smtClean="0"/>
              <a:t>Tablas de frecuencias</a:t>
            </a:r>
          </a:p>
          <a:p>
            <a:pPr rtl="0"/>
            <a:r>
              <a:rPr lang="es-ES" dirty="0" smtClean="0"/>
              <a:t>La librería ggplot2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1437231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Indicadores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9315480" cy="4191000"/>
          </a:xfrm>
        </p:spPr>
        <p:txBody>
          <a:bodyPr rtlCol="0"/>
          <a:lstStyle/>
          <a:p>
            <a:pPr rtl="0"/>
            <a:r>
              <a:rPr lang="es-ES" dirty="0" smtClean="0">
                <a:solidFill>
                  <a:srgbClr val="FF0000"/>
                </a:solidFill>
              </a:rPr>
              <a:t>Indicadores de tendencia central</a:t>
            </a:r>
            <a:r>
              <a:rPr lang="es-ES" dirty="0" smtClean="0"/>
              <a:t>: Muestran hacia donde tienden la mayoría de los datos, un ejemplo es el promedio, que también se conoce como “el centro de gravedad de los datos”. Los indicadores son:</a:t>
            </a:r>
          </a:p>
          <a:p>
            <a:pPr rtl="0"/>
            <a:r>
              <a:rPr lang="es-ES" dirty="0" smtClean="0"/>
              <a:t>Promedio, Mediana y Moda. Las funciones respectivas en R son:</a:t>
            </a:r>
          </a:p>
          <a:p>
            <a:pPr rtl="0"/>
            <a:r>
              <a:rPr lang="es-ES" dirty="0" smtClean="0"/>
              <a:t>mean(), median(). R no dispone de una función en su paquete base (</a:t>
            </a:r>
            <a:r>
              <a:rPr lang="es-ES" dirty="0" err="1" smtClean="0"/>
              <a:t>stats</a:t>
            </a:r>
            <a:r>
              <a:rPr lang="es-ES" dirty="0" smtClean="0"/>
              <a:t>). Por lo cuál se utiliza el paquete “</a:t>
            </a:r>
            <a:r>
              <a:rPr lang="es-ES" dirty="0" err="1" smtClean="0"/>
              <a:t>modeest</a:t>
            </a:r>
            <a:r>
              <a:rPr lang="es-ES" dirty="0" smtClean="0"/>
              <a:t>”</a:t>
            </a:r>
          </a:p>
          <a:p>
            <a:pPr rtl="0"/>
            <a:endParaRPr lang="es-ES" dirty="0" smtClean="0"/>
          </a:p>
          <a:p>
            <a:pPr>
              <a:buNone/>
            </a:pPr>
            <a:r>
              <a:rPr lang="es-CO" dirty="0" err="1" smtClean="0"/>
              <a:t>install.packages</a:t>
            </a:r>
            <a:r>
              <a:rPr lang="es-CO" dirty="0" smtClean="0"/>
              <a:t>("</a:t>
            </a:r>
            <a:r>
              <a:rPr lang="es-CO" dirty="0" err="1" smtClean="0"/>
              <a:t>modeest</a:t>
            </a:r>
            <a:r>
              <a:rPr lang="es-CO" dirty="0" smtClean="0"/>
              <a:t>");  </a:t>
            </a:r>
            <a:r>
              <a:rPr lang="es-CO" dirty="0" err="1" smtClean="0"/>
              <a:t>library</a:t>
            </a:r>
            <a:r>
              <a:rPr lang="es-CO" dirty="0" smtClean="0"/>
              <a:t>(</a:t>
            </a:r>
            <a:r>
              <a:rPr lang="es-CO" dirty="0" err="1" smtClean="0"/>
              <a:t>modeest</a:t>
            </a:r>
            <a:r>
              <a:rPr lang="es-CO" dirty="0" smtClean="0"/>
              <a:t>)</a:t>
            </a:r>
          </a:p>
          <a:p>
            <a:pPr>
              <a:buNone/>
            </a:pPr>
            <a:r>
              <a:rPr lang="es-CO" dirty="0" err="1" smtClean="0"/>
              <a:t>mlv</a:t>
            </a:r>
            <a:r>
              <a:rPr lang="es-CO" dirty="0" smtClean="0"/>
              <a:t>(</a:t>
            </a:r>
            <a:r>
              <a:rPr lang="es-CO" dirty="0" err="1" smtClean="0"/>
              <a:t>runif</a:t>
            </a:r>
            <a:r>
              <a:rPr lang="es-CO" dirty="0" smtClean="0"/>
              <a:t>(20), </a:t>
            </a:r>
            <a:r>
              <a:rPr lang="es-CO" dirty="0" err="1" smtClean="0"/>
              <a:t>method</a:t>
            </a:r>
            <a:r>
              <a:rPr lang="es-CO" dirty="0" smtClean="0"/>
              <a:t> = "</a:t>
            </a:r>
            <a:r>
              <a:rPr lang="es-CO" dirty="0" err="1" smtClean="0"/>
              <a:t>mfv</a:t>
            </a:r>
            <a:r>
              <a:rPr lang="es-CO" dirty="0" smtClean="0"/>
              <a:t>")[1</a:t>
            </a:r>
            <a:r>
              <a:rPr lang="es-CO" dirty="0" smtClean="0"/>
              <a:t>]  ## Genera el valor más frecuente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 smtClean="0"/>
              <a:t>Indicadores</a:t>
            </a:r>
            <a:endParaRPr lang="es-E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 l="29108" t="43295" r="9558" b="29432"/>
          <a:stretch>
            <a:fillRect/>
          </a:stretch>
        </p:blipFill>
        <p:spPr bwMode="auto">
          <a:xfrm>
            <a:off x="1165190" y="1928802"/>
            <a:ext cx="7000924" cy="1750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 l="30700" t="43873" r="20752" b="15492"/>
          <a:stretch>
            <a:fillRect/>
          </a:stretch>
        </p:blipFill>
        <p:spPr bwMode="auto">
          <a:xfrm>
            <a:off x="1450942" y="3643314"/>
            <a:ext cx="6715172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Ejemplo: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9315480" cy="4191000"/>
          </a:xfrm>
        </p:spPr>
        <p:txBody>
          <a:bodyPr rtlCol="0"/>
          <a:lstStyle/>
          <a:p>
            <a:pPr rtl="0"/>
            <a:endParaRPr lang="es-ES" dirty="0" smtClean="0"/>
          </a:p>
          <a:p>
            <a:pPr rtl="0"/>
            <a:r>
              <a:rPr lang="es-ES" dirty="0" smtClean="0"/>
              <a:t>Para el siguiente vector, calcule la media, mediana y moda</a:t>
            </a:r>
          </a:p>
          <a:p>
            <a:pPr rtl="0">
              <a:buNone/>
            </a:pPr>
            <a:r>
              <a:rPr lang="es-ES" dirty="0" smtClean="0"/>
              <a:t>x= c(20,NA,10,15,NA,25,22,NA)</a:t>
            </a:r>
          </a:p>
          <a:p>
            <a:pPr rtl="0">
              <a:buNone/>
            </a:pPr>
            <a:r>
              <a:rPr lang="es-ES" dirty="0" smtClean="0"/>
              <a:t>mean(</a:t>
            </a:r>
            <a:r>
              <a:rPr lang="es-ES" dirty="0" err="1" smtClean="0"/>
              <a:t>x,na.rm</a:t>
            </a:r>
            <a:r>
              <a:rPr lang="es-ES" dirty="0" smtClean="0"/>
              <a:t>=T)</a:t>
            </a:r>
          </a:p>
          <a:p>
            <a:pPr rtl="0">
              <a:buNone/>
            </a:pPr>
            <a:r>
              <a:rPr lang="es-ES" dirty="0" smtClean="0"/>
              <a:t>median(</a:t>
            </a:r>
            <a:r>
              <a:rPr lang="es-ES" dirty="0" err="1" smtClean="0"/>
              <a:t>x,na.rm</a:t>
            </a:r>
            <a:r>
              <a:rPr lang="es-ES" dirty="0" smtClean="0"/>
              <a:t>=T)</a:t>
            </a:r>
          </a:p>
          <a:p>
            <a:pPr>
              <a:buNone/>
            </a:pPr>
            <a:r>
              <a:rPr lang="es-ES" dirty="0" err="1" smtClean="0"/>
              <a:t>mlv</a:t>
            </a:r>
            <a:r>
              <a:rPr lang="es-ES" dirty="0" smtClean="0"/>
              <a:t>(x, </a:t>
            </a:r>
            <a:r>
              <a:rPr lang="es-ES" dirty="0" err="1" smtClean="0"/>
              <a:t>method</a:t>
            </a:r>
            <a:r>
              <a:rPr lang="es-ES" dirty="0" smtClean="0"/>
              <a:t> = "</a:t>
            </a:r>
            <a:r>
              <a:rPr lang="es-ES" dirty="0" err="1" smtClean="0"/>
              <a:t>mfv",na.rm</a:t>
            </a:r>
            <a:r>
              <a:rPr lang="es-ES" dirty="0" smtClean="0"/>
              <a:t>=T)[1</a:t>
            </a:r>
            <a:r>
              <a:rPr lang="es-ES" dirty="0" smtClean="0"/>
              <a:t>]</a:t>
            </a:r>
          </a:p>
          <a:p>
            <a:pPr>
              <a:buNone/>
            </a:pPr>
            <a:r>
              <a:rPr lang="es-ES" dirty="0" smtClean="0"/>
              <a:t>“</a:t>
            </a:r>
            <a:r>
              <a:rPr lang="es-CO" i="1" dirty="0" smtClean="0"/>
              <a:t>En el caso de variable </a:t>
            </a:r>
            <a:r>
              <a:rPr lang="es-CO" i="1" dirty="0" smtClean="0">
                <a:solidFill>
                  <a:srgbClr val="FF0000"/>
                </a:solidFill>
              </a:rPr>
              <a:t>cuantitativas continuas </a:t>
            </a:r>
            <a:r>
              <a:rPr lang="es-CO" i="1" dirty="0" smtClean="0"/>
              <a:t>la </a:t>
            </a:r>
            <a:r>
              <a:rPr lang="es-CO" i="1" dirty="0" smtClean="0"/>
              <a:t>moda corresponde a los valores alrededor de los cuales se produce la mayor concentración de los datos.</a:t>
            </a:r>
            <a:r>
              <a:rPr lang="es-ES" i="1" dirty="0" smtClean="0"/>
              <a:t>”</a:t>
            </a:r>
            <a:endParaRPr lang="es-ES" i="1" dirty="0"/>
          </a:p>
        </p:txBody>
      </p:sp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Un ejemplo con datos agrupados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8672538" cy="4191000"/>
          </a:xfrm>
        </p:spPr>
        <p:txBody>
          <a:bodyPr>
            <a:normAutofit/>
          </a:bodyPr>
          <a:lstStyle/>
          <a:p>
            <a:r>
              <a:rPr lang="es-CO" dirty="0" smtClean="0"/>
              <a:t>Sea la variable Ingreso en millones, conforme una tabla de frecuencias usando la función </a:t>
            </a:r>
            <a:r>
              <a:rPr lang="es-CO" dirty="0" err="1" smtClean="0"/>
              <a:t>table.freq</a:t>
            </a:r>
            <a:r>
              <a:rPr lang="es-CO" dirty="0" smtClean="0"/>
              <a:t>() de </a:t>
            </a:r>
            <a:r>
              <a:rPr lang="es-CO" dirty="0" smtClean="0"/>
              <a:t>la librería </a:t>
            </a:r>
            <a:r>
              <a:rPr lang="es-CO" dirty="0" smtClean="0"/>
              <a:t>“</a:t>
            </a:r>
            <a:r>
              <a:rPr lang="es-CO" dirty="0" err="1" smtClean="0"/>
              <a:t>agricolae</a:t>
            </a:r>
            <a:r>
              <a:rPr lang="es-CO" dirty="0" smtClean="0"/>
              <a:t>”. Y calcule la media en datos agrupados</a:t>
            </a:r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r>
              <a:rPr lang="es-CO" dirty="0" smtClean="0"/>
              <a:t>Ingreso = c(2, 1.5, 3, 2.2, 1, 1.2, 3, 4, 5, 1, 2)</a:t>
            </a:r>
            <a:endParaRPr lang="es-CO" dirty="0" smtClean="0"/>
          </a:p>
          <a:p>
            <a:pPr>
              <a:buNone/>
            </a:pPr>
            <a:r>
              <a:rPr lang="es-CO" dirty="0" err="1" smtClean="0"/>
              <a:t>tbFreqEdad</a:t>
            </a:r>
            <a:r>
              <a:rPr lang="es-CO" dirty="0" smtClean="0"/>
              <a:t>=</a:t>
            </a:r>
            <a:r>
              <a:rPr lang="es-CO" dirty="0" err="1" smtClean="0"/>
              <a:t>table.freq</a:t>
            </a:r>
            <a:r>
              <a:rPr lang="es-CO" dirty="0" smtClean="0"/>
              <a:t>(</a:t>
            </a:r>
            <a:r>
              <a:rPr lang="es-CO" dirty="0" err="1" smtClean="0"/>
              <a:t>hist</a:t>
            </a:r>
            <a:r>
              <a:rPr lang="es-CO" dirty="0" smtClean="0"/>
              <a:t>(Ingreso</a:t>
            </a:r>
            <a:r>
              <a:rPr lang="es-CO" dirty="0" smtClean="0"/>
              <a:t>, </a:t>
            </a:r>
            <a:r>
              <a:rPr lang="es-CO" dirty="0" err="1" smtClean="0"/>
              <a:t>plot</a:t>
            </a:r>
            <a:r>
              <a:rPr lang="es-CO" dirty="0" smtClean="0"/>
              <a:t>=FALSE))</a:t>
            </a:r>
          </a:p>
          <a:p>
            <a:pPr>
              <a:buNone/>
            </a:pPr>
            <a:r>
              <a:rPr lang="es-CO" dirty="0" err="1" smtClean="0"/>
              <a:t>tbFreqEdad</a:t>
            </a:r>
            <a:endParaRPr lang="es-CO" dirty="0" smtClean="0"/>
          </a:p>
          <a:p>
            <a:pPr>
              <a:buNone/>
            </a:pPr>
            <a:r>
              <a:rPr lang="de-DE" dirty="0" smtClean="0"/>
              <a:t>xx &lt;- tbFreqEdad[,c(3,5</a:t>
            </a:r>
            <a:r>
              <a:rPr lang="de-DE" dirty="0" smtClean="0"/>
              <a:t>)]</a:t>
            </a:r>
            <a:endParaRPr lang="de-DE" dirty="0" smtClean="0"/>
          </a:p>
          <a:p>
            <a:pPr>
              <a:buNone/>
            </a:pPr>
            <a:r>
              <a:rPr lang="de-DE" dirty="0" smtClean="0"/>
              <a:t>t(xx[,1])%*%(xx[,2]/100)</a:t>
            </a: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Un ejemplo con datos agrupados</a:t>
            </a:r>
            <a:endParaRPr lang="es-CO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 t="51467" r="69334" b="33951"/>
          <a:stretch>
            <a:fillRect/>
          </a:stretch>
        </p:blipFill>
        <p:spPr bwMode="auto">
          <a:xfrm>
            <a:off x="1093752" y="2212388"/>
            <a:ext cx="4214842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Elipse"/>
          <p:cNvSpPr/>
          <p:nvPr/>
        </p:nvSpPr>
        <p:spPr>
          <a:xfrm>
            <a:off x="2236760" y="2428868"/>
            <a:ext cx="571504" cy="21431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7 Elipse"/>
          <p:cNvSpPr/>
          <p:nvPr/>
        </p:nvSpPr>
        <p:spPr>
          <a:xfrm>
            <a:off x="3736958" y="2428868"/>
            <a:ext cx="642942" cy="21431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 l="28257" t="35261" r="14632" b="16936"/>
          <a:stretch>
            <a:fillRect/>
          </a:stretch>
        </p:blipFill>
        <p:spPr bwMode="auto">
          <a:xfrm>
            <a:off x="5199884" y="2143116"/>
            <a:ext cx="6038064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022314" y="428604"/>
            <a:ext cx="8686801" cy="1066800"/>
          </a:xfrm>
        </p:spPr>
        <p:txBody>
          <a:bodyPr rtlCol="0"/>
          <a:lstStyle/>
          <a:p>
            <a:pPr rtl="0"/>
            <a:r>
              <a:rPr lang="es-ES" dirty="0" smtClean="0"/>
              <a:t>Indicadores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22314" y="1714488"/>
            <a:ext cx="9315480" cy="1385886"/>
          </a:xfrm>
        </p:spPr>
        <p:txBody>
          <a:bodyPr rtlCol="0"/>
          <a:lstStyle/>
          <a:p>
            <a:pPr marL="0" indent="0">
              <a:buNone/>
            </a:pPr>
            <a:r>
              <a:rPr lang="es-ES" dirty="0" smtClean="0">
                <a:solidFill>
                  <a:srgbClr val="FF0000"/>
                </a:solidFill>
              </a:rPr>
              <a:t>Indicadores de dispersión:  </a:t>
            </a:r>
            <a:r>
              <a:rPr lang="es-CO" dirty="0" smtClean="0"/>
              <a:t>Los indicadores de dispersión o variabilidad evalúan la </a:t>
            </a:r>
            <a:r>
              <a:rPr lang="es-CO" dirty="0" smtClean="0"/>
              <a:t>confiabilidad de </a:t>
            </a:r>
            <a:r>
              <a:rPr lang="es-CO" dirty="0" smtClean="0"/>
              <a:t>la información obtenida por algunos indicadores de </a:t>
            </a:r>
            <a:r>
              <a:rPr lang="es-CO" dirty="0" smtClean="0"/>
              <a:t>tendencia central</a:t>
            </a:r>
            <a:r>
              <a:rPr lang="es-CO" dirty="0" smtClean="0"/>
              <a:t>. Ya que la representatividad de los indicadores depende </a:t>
            </a:r>
            <a:r>
              <a:rPr lang="es-CO" dirty="0" smtClean="0"/>
              <a:t>de la </a:t>
            </a:r>
            <a:r>
              <a:rPr lang="es-CO" dirty="0" smtClean="0"/>
              <a:t>dispersión de los datos.</a:t>
            </a:r>
          </a:p>
          <a:p>
            <a:pPr rtl="0">
              <a:buNone/>
            </a:pPr>
            <a:endParaRPr lang="es-ES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 l="29517" t="34188" r="17504" b="39016"/>
          <a:stretch>
            <a:fillRect/>
          </a:stretch>
        </p:blipFill>
        <p:spPr bwMode="auto">
          <a:xfrm>
            <a:off x="1879570" y="3143248"/>
            <a:ext cx="7072362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Marcador de contenido 5"/>
          <p:cNvSpPr>
            <a:spLocks noGrp="1"/>
          </p:cNvSpPr>
          <p:nvPr>
            <p:ph sz="half" idx="1"/>
          </p:nvPr>
        </p:nvSpPr>
        <p:spPr>
          <a:xfrm>
            <a:off x="808000" y="5072074"/>
            <a:ext cx="9029728" cy="928694"/>
          </a:xfrm>
        </p:spPr>
        <p:txBody>
          <a:bodyPr rtlCol="0">
            <a:normAutofit/>
          </a:bodyPr>
          <a:lstStyle/>
          <a:p>
            <a:pPr algn="just" rtl="0">
              <a:buNone/>
            </a:pPr>
            <a:r>
              <a:rPr lang="es-ES" dirty="0" smtClean="0">
                <a:solidFill>
                  <a:schemeClr val="tx1"/>
                </a:solidFill>
              </a:rPr>
              <a:t>    La función en R es </a:t>
            </a:r>
            <a:r>
              <a:rPr lang="es-ES" dirty="0" err="1" smtClean="0">
                <a:solidFill>
                  <a:srgbClr val="FF0000"/>
                </a:solidFill>
              </a:rPr>
              <a:t>var</a:t>
            </a:r>
            <a:r>
              <a:rPr lang="es-ES" dirty="0" smtClean="0">
                <a:solidFill>
                  <a:srgbClr val="FF0000"/>
                </a:solidFill>
              </a:rPr>
              <a:t>(). </a:t>
            </a:r>
            <a:r>
              <a:rPr lang="es-ES" dirty="0" smtClean="0">
                <a:solidFill>
                  <a:schemeClr val="tx1"/>
                </a:solidFill>
              </a:rPr>
              <a:t>Dicha función esta divida sobre n-1. Como las unidades de la varianza son elevadas al cuadrado se recomienda interpretar la desviación </a:t>
            </a:r>
            <a:r>
              <a:rPr lang="es-ES" dirty="0" err="1" smtClean="0">
                <a:solidFill>
                  <a:schemeClr val="tx1"/>
                </a:solidFill>
              </a:rPr>
              <a:t>estandar</a:t>
            </a:r>
            <a:r>
              <a:rPr lang="es-ES" dirty="0" smtClean="0">
                <a:solidFill>
                  <a:schemeClr val="tx1"/>
                </a:solidFill>
              </a:rPr>
              <a:t>. Función </a:t>
            </a:r>
            <a:r>
              <a:rPr lang="es-ES" dirty="0" err="1" smtClean="0">
                <a:solidFill>
                  <a:srgbClr val="FF0000"/>
                </a:solidFill>
              </a:rPr>
              <a:t>sd</a:t>
            </a:r>
            <a:r>
              <a:rPr lang="es-ES" dirty="0" smtClean="0">
                <a:solidFill>
                  <a:srgbClr val="FF0000"/>
                </a:solidFill>
              </a:rPr>
              <a:t>()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Ejemplo indicadores de dispersión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9315480" cy="4191000"/>
          </a:xfrm>
        </p:spPr>
        <p:txBody>
          <a:bodyPr rtlCol="0"/>
          <a:lstStyle/>
          <a:p>
            <a:pPr rtl="0"/>
            <a:r>
              <a:rPr lang="es-ES" dirty="0" smtClean="0"/>
              <a:t>Suponga que se tienen tres grupos de personas con las siguientes estaturas:</a:t>
            </a:r>
          </a:p>
          <a:p>
            <a:pPr rtl="0">
              <a:buNone/>
            </a:pPr>
            <a:r>
              <a:rPr lang="es-ES" dirty="0" smtClean="0"/>
              <a:t>Grupo1 &lt;- c(60, 100, 140, 180)</a:t>
            </a:r>
          </a:p>
          <a:p>
            <a:pPr>
              <a:buNone/>
            </a:pPr>
            <a:r>
              <a:rPr lang="es-ES" dirty="0" smtClean="0"/>
              <a:t>Grupo2 </a:t>
            </a:r>
            <a:r>
              <a:rPr lang="es-ES" dirty="0" smtClean="0"/>
              <a:t>&lt;- </a:t>
            </a:r>
            <a:r>
              <a:rPr lang="es-ES" dirty="0" smtClean="0"/>
              <a:t>c(100, </a:t>
            </a:r>
            <a:r>
              <a:rPr lang="es-ES" dirty="0" smtClean="0"/>
              <a:t>100, 140, </a:t>
            </a:r>
            <a:r>
              <a:rPr lang="es-ES" dirty="0" smtClean="0"/>
              <a:t>140)</a:t>
            </a:r>
          </a:p>
          <a:p>
            <a:pPr>
              <a:buNone/>
            </a:pPr>
            <a:r>
              <a:rPr lang="es-ES" dirty="0" smtClean="0"/>
              <a:t>Grupo3 &lt;- c(120, 120, 120, 120)</a:t>
            </a:r>
          </a:p>
          <a:p>
            <a:r>
              <a:rPr lang="es-ES" dirty="0" smtClean="0"/>
              <a:t>Analice que dichos grupos tienen igual promedio pero su variabilidad es distinta</a:t>
            </a:r>
          </a:p>
          <a:p>
            <a:pPr>
              <a:buNone/>
            </a:pPr>
            <a:r>
              <a:rPr lang="es-ES" dirty="0" smtClean="0"/>
              <a:t>mean(Grupo1); mean(Grupo2); mean(Grupo3)</a:t>
            </a:r>
          </a:p>
          <a:p>
            <a:pPr>
              <a:buNone/>
            </a:pPr>
            <a:r>
              <a:rPr lang="es-ES" dirty="0" err="1" smtClean="0"/>
              <a:t>v</a:t>
            </a:r>
            <a:r>
              <a:rPr lang="es-ES" dirty="0" err="1" smtClean="0"/>
              <a:t>ar</a:t>
            </a:r>
            <a:r>
              <a:rPr lang="es-ES" dirty="0" smtClean="0"/>
              <a:t>(Grupo1); </a:t>
            </a:r>
            <a:r>
              <a:rPr lang="es-ES" dirty="0" err="1" smtClean="0"/>
              <a:t>var</a:t>
            </a:r>
            <a:r>
              <a:rPr lang="es-ES" dirty="0" smtClean="0"/>
              <a:t>(Grupo2); </a:t>
            </a:r>
            <a:r>
              <a:rPr lang="es-ES" dirty="0" err="1" smtClean="0"/>
              <a:t>var</a:t>
            </a:r>
            <a:r>
              <a:rPr lang="es-ES" dirty="0" smtClean="0"/>
              <a:t>(Grupo3)</a:t>
            </a:r>
            <a:endParaRPr lang="es-ES" dirty="0" smtClean="0"/>
          </a:p>
          <a:p>
            <a:pPr>
              <a:buNone/>
            </a:pPr>
            <a:r>
              <a:rPr lang="es-ES" dirty="0" err="1" smtClean="0"/>
              <a:t>sd</a:t>
            </a:r>
            <a:r>
              <a:rPr lang="es-ES" dirty="0" smtClean="0"/>
              <a:t>(Grupo1</a:t>
            </a:r>
            <a:r>
              <a:rPr lang="es-ES" dirty="0" smtClean="0"/>
              <a:t>); </a:t>
            </a:r>
            <a:r>
              <a:rPr lang="es-ES" dirty="0" err="1" smtClean="0"/>
              <a:t>sd</a:t>
            </a:r>
            <a:r>
              <a:rPr lang="es-ES" dirty="0" smtClean="0"/>
              <a:t>(Grupo2</a:t>
            </a:r>
            <a:r>
              <a:rPr lang="es-ES" dirty="0" smtClean="0"/>
              <a:t>); </a:t>
            </a:r>
            <a:r>
              <a:rPr lang="es-ES" dirty="0" err="1" smtClean="0"/>
              <a:t>sd</a:t>
            </a:r>
            <a:r>
              <a:rPr lang="es-ES" dirty="0" smtClean="0"/>
              <a:t>(Grupo3</a:t>
            </a:r>
            <a:r>
              <a:rPr lang="es-ES" dirty="0" smtClean="0"/>
              <a:t>)</a:t>
            </a:r>
          </a:p>
          <a:p>
            <a:endParaRPr lang="es-ES" dirty="0" smtClean="0"/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 smtClean="0"/>
              <a:t>Indicadores de dispersión</a:t>
            </a:r>
            <a:endParaRPr lang="es-ES" dirty="0"/>
          </a:p>
        </p:txBody>
      </p:sp>
      <p:sp>
        <p:nvSpPr>
          <p:cNvPr id="7" name="6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CO" dirty="0" smtClean="0">
                <a:solidFill>
                  <a:srgbClr val="FF0000"/>
                </a:solidFill>
              </a:rPr>
              <a:t>Coeficiente de Variación: </a:t>
            </a:r>
            <a:r>
              <a:rPr lang="es-CO" dirty="0" smtClean="0"/>
              <a:t>Ayuda a identificar si los datos son homogéneos o heterogéneos. Determinar </a:t>
            </a:r>
            <a:r>
              <a:rPr lang="es-CO" dirty="0" smtClean="0"/>
              <a:t>si cierta media es consistente con cierta </a:t>
            </a:r>
            <a:r>
              <a:rPr lang="es-CO" dirty="0" smtClean="0"/>
              <a:t>varianza.</a:t>
            </a:r>
          </a:p>
          <a:p>
            <a:r>
              <a:rPr lang="es-CO" dirty="0" smtClean="0"/>
              <a:t>Ejemplo:</a:t>
            </a:r>
          </a:p>
          <a:p>
            <a:pPr>
              <a:buNone/>
            </a:pPr>
            <a:r>
              <a:rPr lang="es-CO" dirty="0" smtClean="0"/>
              <a:t>CV &lt;- </a:t>
            </a:r>
            <a:r>
              <a:rPr lang="es-CO" dirty="0" err="1" smtClean="0"/>
              <a:t>function</a:t>
            </a:r>
            <a:r>
              <a:rPr lang="es-CO" dirty="0" smtClean="0"/>
              <a:t>(x) {</a:t>
            </a:r>
          </a:p>
          <a:p>
            <a:pPr>
              <a:buNone/>
            </a:pPr>
            <a:r>
              <a:rPr lang="es-CO" dirty="0" err="1" smtClean="0"/>
              <a:t>s</a:t>
            </a:r>
            <a:r>
              <a:rPr lang="es-CO" dirty="0" err="1" smtClean="0"/>
              <a:t>d</a:t>
            </a:r>
            <a:r>
              <a:rPr lang="es-CO" dirty="0" smtClean="0"/>
              <a:t>(x)/mean(x)</a:t>
            </a:r>
            <a:endParaRPr lang="es-CO" dirty="0" smtClean="0"/>
          </a:p>
          <a:p>
            <a:pPr>
              <a:buNone/>
            </a:pPr>
            <a:r>
              <a:rPr lang="es-CO" dirty="0" smtClean="0"/>
              <a:t>}</a:t>
            </a:r>
          </a:p>
          <a:p>
            <a:pPr>
              <a:buNone/>
            </a:pPr>
            <a:r>
              <a:rPr lang="es-CO" dirty="0" smtClean="0"/>
              <a:t>CV(Grupo1); CV(Grupo2); CV(Grupo3)</a:t>
            </a:r>
            <a:endParaRPr lang="es-CO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 l="28566" t="46015" r="24383" b="21108"/>
          <a:stretch>
            <a:fillRect/>
          </a:stretch>
        </p:blipFill>
        <p:spPr bwMode="auto">
          <a:xfrm>
            <a:off x="5737222" y="2285992"/>
            <a:ext cx="5357850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Indicadores de posición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9315480" cy="2100266"/>
          </a:xfrm>
        </p:spPr>
        <p:txBody>
          <a:bodyPr rtlCol="0">
            <a:normAutofit fontScale="92500" lnSpcReduction="10000"/>
          </a:bodyPr>
          <a:lstStyle/>
          <a:p>
            <a:pPr algn="just"/>
            <a:r>
              <a:rPr lang="es-CO" dirty="0" smtClean="0"/>
              <a:t>Los indicadores de posición que mas se trabaja en el </a:t>
            </a:r>
            <a:r>
              <a:rPr lang="es-CO" dirty="0" smtClean="0"/>
              <a:t>análisis descriptivo </a:t>
            </a:r>
            <a:r>
              <a:rPr lang="es-CO" dirty="0" smtClean="0"/>
              <a:t>son los </a:t>
            </a:r>
            <a:r>
              <a:rPr lang="es-CO" dirty="0" err="1" smtClean="0"/>
              <a:t>cuartiles</a:t>
            </a:r>
            <a:r>
              <a:rPr lang="es-CO" dirty="0" smtClean="0"/>
              <a:t>, </a:t>
            </a:r>
            <a:r>
              <a:rPr lang="es-CO" dirty="0" smtClean="0"/>
              <a:t>estos dividen la muestra ordenada </a:t>
            </a:r>
            <a:r>
              <a:rPr lang="es-CO" dirty="0" smtClean="0"/>
              <a:t>en cuatro </a:t>
            </a:r>
            <a:r>
              <a:rPr lang="es-CO" dirty="0" smtClean="0"/>
              <a:t>partes que contienen aproximadamente el mismo </a:t>
            </a:r>
            <a:r>
              <a:rPr lang="es-CO" dirty="0" smtClean="0"/>
              <a:t>número de datos</a:t>
            </a:r>
            <a:endParaRPr lang="es-CO" dirty="0" smtClean="0"/>
          </a:p>
          <a:p>
            <a:pPr rtl="0"/>
            <a:r>
              <a:rPr lang="es-ES" dirty="0" smtClean="0"/>
              <a:t>La función en R sería </a:t>
            </a:r>
            <a:r>
              <a:rPr lang="es-ES" dirty="0" err="1" smtClean="0">
                <a:solidFill>
                  <a:srgbClr val="FF0000"/>
                </a:solidFill>
              </a:rPr>
              <a:t>quantile</a:t>
            </a:r>
            <a:r>
              <a:rPr lang="es-ES" dirty="0" smtClean="0">
                <a:solidFill>
                  <a:srgbClr val="FF0000"/>
                </a:solidFill>
              </a:rPr>
              <a:t>()</a:t>
            </a:r>
          </a:p>
          <a:p>
            <a:pPr rtl="0"/>
            <a:r>
              <a:rPr lang="es-ES" dirty="0" smtClean="0"/>
              <a:t>También se pueden calcular los percentiles. Por ejemplo: P80 A partir de que valor se encuentra el 80% de los datos</a:t>
            </a:r>
            <a:endParaRPr lang="es-ES" dirty="0"/>
          </a:p>
        </p:txBody>
      </p:sp>
      <p:pic>
        <p:nvPicPr>
          <p:cNvPr id="5" name="Marcador de contenido 3"/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l="25435" t="51025" r="10082" b="18749"/>
          <a:stretch/>
        </p:blipFill>
        <p:spPr>
          <a:xfrm>
            <a:off x="1703178" y="4071942"/>
            <a:ext cx="7748820" cy="223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Ejemplo Indicadores de posición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9315480" cy="4191000"/>
          </a:xfrm>
        </p:spPr>
        <p:txBody>
          <a:bodyPr rtlCol="0"/>
          <a:lstStyle/>
          <a:p>
            <a:pPr rtl="0"/>
            <a:r>
              <a:rPr lang="es-ES" dirty="0" smtClean="0"/>
              <a:t>En la base de datos </a:t>
            </a:r>
            <a:r>
              <a:rPr lang="es-ES" dirty="0" err="1" smtClean="0"/>
              <a:t>decathlon</a:t>
            </a:r>
            <a:r>
              <a:rPr lang="es-ES" dirty="0" smtClean="0"/>
              <a:t> </a:t>
            </a:r>
            <a:r>
              <a:rPr lang="es-ES" dirty="0" smtClean="0"/>
              <a:t>del paquete </a:t>
            </a:r>
            <a:r>
              <a:rPr lang="es-ES" dirty="0" err="1" smtClean="0"/>
              <a:t>FactoMineR</a:t>
            </a:r>
            <a:r>
              <a:rPr lang="es-ES" dirty="0" smtClean="0"/>
              <a:t> Calcule los </a:t>
            </a:r>
            <a:r>
              <a:rPr lang="es-ES" dirty="0" err="1" smtClean="0"/>
              <a:t>cuartiles</a:t>
            </a:r>
            <a:r>
              <a:rPr lang="es-ES" dirty="0" smtClean="0"/>
              <a:t> y los percentiles 60, 80 y 90. Con la prueba 100m. Interprete dichos valores.</a:t>
            </a:r>
          </a:p>
          <a:p>
            <a:pPr>
              <a:buNone/>
            </a:pPr>
            <a:r>
              <a:rPr lang="es-ES" dirty="0" err="1" smtClean="0"/>
              <a:t>library</a:t>
            </a:r>
            <a:r>
              <a:rPr lang="es-ES" dirty="0" smtClean="0"/>
              <a:t>(</a:t>
            </a:r>
            <a:r>
              <a:rPr lang="es-ES" dirty="0" err="1" smtClean="0"/>
              <a:t>FactoMineR</a:t>
            </a:r>
            <a:r>
              <a:rPr lang="es-ES" dirty="0" smtClean="0"/>
              <a:t>)</a:t>
            </a:r>
          </a:p>
          <a:p>
            <a:pPr>
              <a:buNone/>
            </a:pPr>
            <a:r>
              <a:rPr lang="es-ES" dirty="0" smtClean="0"/>
              <a:t>data(</a:t>
            </a:r>
            <a:r>
              <a:rPr lang="es-ES" dirty="0" err="1" smtClean="0"/>
              <a:t>decathlon</a:t>
            </a:r>
            <a:r>
              <a:rPr lang="es-ES" dirty="0" smtClean="0"/>
              <a:t>)</a:t>
            </a:r>
            <a:endParaRPr lang="es-ES" dirty="0" smtClean="0"/>
          </a:p>
          <a:p>
            <a:pPr>
              <a:buNone/>
            </a:pPr>
            <a:r>
              <a:rPr lang="es-ES" dirty="0" err="1" smtClean="0"/>
              <a:t>quantile</a:t>
            </a:r>
            <a:r>
              <a:rPr lang="es-ES" dirty="0" smtClean="0"/>
              <a:t>(</a:t>
            </a:r>
            <a:r>
              <a:rPr lang="es-ES" dirty="0" err="1" smtClean="0"/>
              <a:t>decathlon</a:t>
            </a:r>
            <a:r>
              <a:rPr lang="es-ES" dirty="0" smtClean="0"/>
              <a:t>[,1],</a:t>
            </a:r>
            <a:r>
              <a:rPr lang="es-ES" dirty="0" err="1" smtClean="0"/>
              <a:t>seq</a:t>
            </a:r>
            <a:r>
              <a:rPr lang="es-ES" dirty="0" smtClean="0"/>
              <a:t>(0,1,0.1</a:t>
            </a:r>
            <a:r>
              <a:rPr lang="es-ES" dirty="0" smtClean="0"/>
              <a:t>))</a:t>
            </a:r>
            <a:endParaRPr lang="es-ES" dirty="0" smtClean="0"/>
          </a:p>
          <a:p>
            <a:pPr>
              <a:buNone/>
            </a:pPr>
            <a:r>
              <a:rPr lang="es-ES" dirty="0" smtClean="0">
                <a:solidFill>
                  <a:srgbClr val="0070C0"/>
                </a:solidFill>
              </a:rPr>
              <a:t>0%   10%   20%   30%   40%   50%   60%   70%   80%   90%  100% </a:t>
            </a:r>
          </a:p>
          <a:p>
            <a:pPr>
              <a:buNone/>
            </a:pPr>
            <a:r>
              <a:rPr lang="es-ES" dirty="0" smtClean="0">
                <a:solidFill>
                  <a:srgbClr val="0070C0"/>
                </a:solidFill>
              </a:rPr>
              <a:t>10.44 10.68 10.83 10.87 10.91 </a:t>
            </a:r>
            <a:r>
              <a:rPr lang="es-ES" dirty="0" smtClean="0">
                <a:solidFill>
                  <a:srgbClr val="0070C0"/>
                </a:solidFill>
              </a:rPr>
              <a:t>10.98 </a:t>
            </a:r>
            <a:r>
              <a:rPr lang="es-ES" dirty="0" smtClean="0">
                <a:solidFill>
                  <a:srgbClr val="0070C0"/>
                </a:solidFill>
              </a:rPr>
              <a:t>11.06 11.11 11.23 11.34 </a:t>
            </a:r>
            <a:r>
              <a:rPr lang="es-ES" dirty="0" smtClean="0">
                <a:solidFill>
                  <a:srgbClr val="0070C0"/>
                </a:solidFill>
              </a:rPr>
              <a:t>11.64</a:t>
            </a:r>
          </a:p>
          <a:p>
            <a:pPr>
              <a:buNone/>
            </a:pPr>
            <a:r>
              <a:rPr lang="es-ES" i="1" dirty="0" smtClean="0">
                <a:solidFill>
                  <a:srgbClr val="0070C0"/>
                </a:solidFill>
              </a:rPr>
              <a:t>El 70% de los competidores presentaron tiempos menores o iguales a 11.11 segundos</a:t>
            </a:r>
            <a:endParaRPr lang="es-ES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Indicadores de forma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9315480" cy="2171704"/>
          </a:xfrm>
        </p:spPr>
        <p:txBody>
          <a:bodyPr rtlCol="0">
            <a:normAutofit fontScale="92500" lnSpcReduction="10000"/>
          </a:bodyPr>
          <a:lstStyle/>
          <a:p>
            <a:pPr algn="just"/>
            <a:r>
              <a:rPr lang="es-CO" dirty="0" smtClean="0">
                <a:solidFill>
                  <a:srgbClr val="FF0000"/>
                </a:solidFill>
              </a:rPr>
              <a:t>La </a:t>
            </a:r>
            <a:r>
              <a:rPr lang="es-CO" b="1" dirty="0" smtClean="0">
                <a:solidFill>
                  <a:srgbClr val="FF0000"/>
                </a:solidFill>
              </a:rPr>
              <a:t>asimetría y curtosis</a:t>
            </a:r>
            <a:r>
              <a:rPr lang="es-CO" dirty="0" smtClean="0">
                <a:solidFill>
                  <a:srgbClr val="FF0000"/>
                </a:solidFill>
              </a:rPr>
              <a:t> </a:t>
            </a:r>
            <a:r>
              <a:rPr lang="es-CO" dirty="0" smtClean="0"/>
              <a:t>informan sobre la forma de la distribución de una variable. Estas medidas permiten saber las características de su asimetría y </a:t>
            </a:r>
            <a:r>
              <a:rPr lang="es-CO" dirty="0" smtClean="0"/>
              <a:t>homogeneidad </a:t>
            </a:r>
            <a:r>
              <a:rPr lang="es-CO" dirty="0" smtClean="0"/>
              <a:t>sin necesidad de representarlos gráficamente. </a:t>
            </a:r>
            <a:endParaRPr lang="es-CO" dirty="0" smtClean="0"/>
          </a:p>
          <a:p>
            <a:pPr algn="just"/>
            <a:r>
              <a:rPr lang="es-CO" dirty="0" smtClean="0"/>
              <a:t>En R se puede trabajar con la librería “</a:t>
            </a:r>
            <a:r>
              <a:rPr lang="es-CO" dirty="0" err="1" smtClean="0"/>
              <a:t>agricolae</a:t>
            </a:r>
            <a:r>
              <a:rPr lang="es-CO" dirty="0" smtClean="0"/>
              <a:t>” o la librería “</a:t>
            </a:r>
            <a:r>
              <a:rPr lang="es-CO" dirty="0" err="1" smtClean="0"/>
              <a:t>moments</a:t>
            </a:r>
            <a:r>
              <a:rPr lang="es-CO" dirty="0" smtClean="0"/>
              <a:t>”</a:t>
            </a:r>
          </a:p>
          <a:p>
            <a:pPr algn="just">
              <a:buNone/>
            </a:pPr>
            <a:r>
              <a:rPr lang="es-CO" dirty="0" err="1" smtClean="0"/>
              <a:t>kurtosis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[,1]) ## Curtosis</a:t>
            </a:r>
          </a:p>
          <a:p>
            <a:pPr algn="just">
              <a:buNone/>
            </a:pPr>
            <a:r>
              <a:rPr lang="es-CO" dirty="0" err="1" smtClean="0"/>
              <a:t>skewness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[,1]) ## coeficiente de </a:t>
            </a:r>
            <a:r>
              <a:rPr lang="es-CO" dirty="0" smtClean="0"/>
              <a:t>asimetría </a:t>
            </a:r>
            <a:endParaRPr lang="es-E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 l="43136" t="70871" r="23974" b="11487"/>
          <a:stretch>
            <a:fillRect/>
          </a:stretch>
        </p:blipFill>
        <p:spPr bwMode="auto">
          <a:xfrm>
            <a:off x="2165322" y="4357694"/>
            <a:ext cx="6500858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 smtClean="0"/>
              <a:t>Indicadores de forma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9315480" cy="1957390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es-ES" dirty="0" smtClean="0"/>
              <a:t>Coeficiente de simetría existen alrededor de tres tipos, el más común es el de Fisher. </a:t>
            </a:r>
            <a:r>
              <a:rPr lang="es-ES" dirty="0" smtClean="0"/>
              <a:t>Y en todos los tipos se considera lo siguiente:</a:t>
            </a:r>
            <a:endParaRPr lang="es-ES" dirty="0" smtClean="0"/>
          </a:p>
          <a:p>
            <a:pPr rtl="0"/>
            <a:r>
              <a:rPr lang="es-ES" dirty="0" smtClean="0"/>
              <a:t>CA &lt;0 asimetría negativa</a:t>
            </a:r>
          </a:p>
          <a:p>
            <a:pPr rtl="0"/>
            <a:r>
              <a:rPr lang="es-ES" dirty="0" smtClean="0"/>
              <a:t>CA=0 simetría</a:t>
            </a:r>
          </a:p>
          <a:p>
            <a:pPr rtl="0"/>
            <a:r>
              <a:rPr lang="es-ES" dirty="0" smtClean="0"/>
              <a:t>CA&gt;0 asimetría positiva</a:t>
            </a:r>
            <a:endParaRPr lang="es-ES" dirty="0"/>
          </a:p>
        </p:txBody>
      </p:sp>
      <p:sp>
        <p:nvSpPr>
          <p:cNvPr id="4" name="Marcador de contenido 5"/>
          <p:cNvSpPr>
            <a:spLocks noGrp="1"/>
          </p:cNvSpPr>
          <p:nvPr>
            <p:ph sz="half" idx="1"/>
          </p:nvPr>
        </p:nvSpPr>
        <p:spPr>
          <a:xfrm>
            <a:off x="1022314" y="4000504"/>
            <a:ext cx="9315480" cy="1957390"/>
          </a:xfrm>
        </p:spPr>
        <p:txBody>
          <a:bodyPr rtlCol="0"/>
          <a:lstStyle/>
          <a:p>
            <a:r>
              <a:rPr lang="es-CO" dirty="0" smtClean="0">
                <a:solidFill>
                  <a:srgbClr val="FF0000"/>
                </a:solidFill>
              </a:rPr>
              <a:t>La </a:t>
            </a:r>
            <a:r>
              <a:rPr lang="es-CO" b="1" dirty="0" smtClean="0">
                <a:solidFill>
                  <a:srgbClr val="FF0000"/>
                </a:solidFill>
              </a:rPr>
              <a:t>curtosis</a:t>
            </a:r>
            <a:r>
              <a:rPr lang="es-CO" dirty="0" smtClean="0">
                <a:solidFill>
                  <a:srgbClr val="FF0000"/>
                </a:solidFill>
              </a:rPr>
              <a:t> (o </a:t>
            </a:r>
            <a:r>
              <a:rPr lang="es-CO" b="1" dirty="0" smtClean="0">
                <a:solidFill>
                  <a:srgbClr val="FF0000"/>
                </a:solidFill>
              </a:rPr>
              <a:t>apuntamiento</a:t>
            </a:r>
            <a:r>
              <a:rPr lang="es-CO" dirty="0" smtClean="0">
                <a:solidFill>
                  <a:srgbClr val="FF0000"/>
                </a:solidFill>
              </a:rPr>
              <a:t>) </a:t>
            </a:r>
            <a:r>
              <a:rPr lang="es-CO" dirty="0" smtClean="0"/>
              <a:t>es una medida de forma que mide </a:t>
            </a:r>
            <a:r>
              <a:rPr lang="es-CO" dirty="0" smtClean="0"/>
              <a:t>“empinada” está </a:t>
            </a:r>
            <a:r>
              <a:rPr lang="es-CO" dirty="0" smtClean="0"/>
              <a:t>una curva o distribución. </a:t>
            </a:r>
          </a:p>
          <a:p>
            <a:r>
              <a:rPr lang="es-CO" dirty="0" smtClean="0"/>
              <a:t>Este coeficiente indica la cantidad de datos que hay cercanos a la media, de manera que a </a:t>
            </a:r>
            <a:r>
              <a:rPr lang="es-CO" b="1" dirty="0" smtClean="0"/>
              <a:t>mayor grado de curtosis, </a:t>
            </a:r>
            <a:r>
              <a:rPr lang="es-CO" b="1" dirty="0" smtClean="0"/>
              <a:t>“más empinada” </a:t>
            </a:r>
            <a:r>
              <a:rPr lang="es-CO" dirty="0" smtClean="0"/>
              <a:t>será </a:t>
            </a:r>
            <a:r>
              <a:rPr lang="es-CO" dirty="0" smtClean="0"/>
              <a:t>la forma de la curva. </a:t>
            </a: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</a:t>
            </a:r>
            <a:r>
              <a:rPr lang="es-CO" dirty="0" err="1" smtClean="0"/>
              <a:t>plot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O" dirty="0" smtClean="0"/>
              <a:t>La función </a:t>
            </a:r>
            <a:r>
              <a:rPr lang="es-CO" dirty="0" err="1" smtClean="0"/>
              <a:t>plot</a:t>
            </a:r>
            <a:r>
              <a:rPr lang="es-CO" dirty="0" smtClean="0"/>
              <a:t>() esta en </a:t>
            </a:r>
            <a:r>
              <a:rPr lang="es-CO" dirty="0" smtClean="0"/>
              <a:t>el paquete </a:t>
            </a:r>
            <a:r>
              <a:rPr lang="es-CO" dirty="0" smtClean="0"/>
              <a:t>“</a:t>
            </a:r>
            <a:r>
              <a:rPr lang="es-CO" dirty="0" err="1" smtClean="0"/>
              <a:t>graphics</a:t>
            </a:r>
            <a:r>
              <a:rPr lang="es-CO" dirty="0" smtClean="0"/>
              <a:t>”. Sirve para graficar funciones en 2d. </a:t>
            </a:r>
            <a:endParaRPr lang="es-CO" dirty="0" smtClean="0"/>
          </a:p>
          <a:p>
            <a:r>
              <a:rPr lang="es-CO" dirty="0" smtClean="0"/>
              <a:t>Se utiliza para hacer diagramas de dispersión, donde se relacionan 2 variables una X (independiente) y </a:t>
            </a:r>
            <a:r>
              <a:rPr lang="es-CO" dirty="0" err="1" smtClean="0"/>
              <a:t>Y</a:t>
            </a:r>
            <a:r>
              <a:rPr lang="es-CO" dirty="0" smtClean="0"/>
              <a:t>(dependiente).</a:t>
            </a:r>
          </a:p>
          <a:p>
            <a:r>
              <a:rPr lang="es-CO" dirty="0" err="1" smtClean="0"/>
              <a:t>plot</a:t>
            </a:r>
            <a:r>
              <a:rPr lang="es-CO" dirty="0" smtClean="0"/>
              <a:t>(</a:t>
            </a:r>
            <a:r>
              <a:rPr lang="es-CO" dirty="0" err="1" smtClean="0"/>
              <a:t>x,y</a:t>
            </a:r>
            <a:r>
              <a:rPr lang="es-CO" dirty="0" smtClean="0"/>
              <a:t>).</a:t>
            </a:r>
          </a:p>
          <a:p>
            <a:r>
              <a:rPr lang="es-CO" dirty="0" smtClean="0"/>
              <a:t>También se utiliza para graficas series tiempo. Aunque en este aspecto se recomienda la función </a:t>
            </a:r>
            <a:r>
              <a:rPr lang="es-CO" dirty="0" err="1" smtClean="0"/>
              <a:t>ts.plot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344590" cy="4191000"/>
          </a:xfrm>
        </p:spPr>
        <p:txBody>
          <a:bodyPr>
            <a:normAutofit fontScale="92500" lnSpcReduction="20000"/>
          </a:bodyPr>
          <a:lstStyle/>
          <a:p>
            <a:r>
              <a:rPr lang="es-CO" dirty="0" smtClean="0"/>
              <a:t>Algunos parámetros de la función </a:t>
            </a:r>
            <a:r>
              <a:rPr lang="es-CO" dirty="0" err="1" smtClean="0"/>
              <a:t>plot</a:t>
            </a:r>
            <a:r>
              <a:rPr lang="es-CO" dirty="0" smtClean="0"/>
              <a:t>() son:</a:t>
            </a:r>
          </a:p>
          <a:p>
            <a:endParaRPr lang="es-CO" dirty="0" smtClean="0"/>
          </a:p>
          <a:p>
            <a:r>
              <a:rPr lang="es-CO" dirty="0" err="1" smtClean="0"/>
              <a:t>main</a:t>
            </a:r>
            <a:r>
              <a:rPr lang="es-CO" dirty="0" smtClean="0"/>
              <a:t>: título del grafico</a:t>
            </a:r>
          </a:p>
          <a:p>
            <a:r>
              <a:rPr lang="es-CO" dirty="0" err="1" smtClean="0"/>
              <a:t>xlab</a:t>
            </a:r>
            <a:r>
              <a:rPr lang="es-CO" dirty="0" smtClean="0"/>
              <a:t>: nombre del eje x</a:t>
            </a:r>
          </a:p>
          <a:p>
            <a:r>
              <a:rPr lang="es-CO" dirty="0" err="1" smtClean="0"/>
              <a:t>ylab</a:t>
            </a:r>
            <a:r>
              <a:rPr lang="es-CO" dirty="0" smtClean="0"/>
              <a:t>: nombre del eje y</a:t>
            </a:r>
          </a:p>
          <a:p>
            <a:r>
              <a:rPr lang="es-CO" dirty="0" err="1" smtClean="0"/>
              <a:t>xlim</a:t>
            </a:r>
            <a:r>
              <a:rPr lang="es-CO" dirty="0" smtClean="0"/>
              <a:t> </a:t>
            </a:r>
            <a:r>
              <a:rPr lang="es-CO" dirty="0" smtClean="0"/>
              <a:t>y </a:t>
            </a:r>
            <a:r>
              <a:rPr lang="es-CO" dirty="0" err="1" smtClean="0"/>
              <a:t>ylim</a:t>
            </a:r>
            <a:r>
              <a:rPr lang="es-CO" dirty="0" smtClean="0"/>
              <a:t>: Indica el rango visible de los ejes.</a:t>
            </a:r>
          </a:p>
          <a:p>
            <a:r>
              <a:rPr lang="es-CO" dirty="0" smtClean="0"/>
              <a:t>col: color de los puntos o </a:t>
            </a:r>
            <a:r>
              <a:rPr lang="es-CO" dirty="0" err="1" smtClean="0"/>
              <a:t>lineas</a:t>
            </a:r>
            <a:r>
              <a:rPr lang="es-CO" dirty="0" smtClean="0"/>
              <a:t> del gráfico</a:t>
            </a:r>
          </a:p>
          <a:p>
            <a:r>
              <a:rPr lang="es-CO" dirty="0" err="1" smtClean="0"/>
              <a:t>type</a:t>
            </a:r>
            <a:r>
              <a:rPr lang="es-CO" dirty="0" smtClean="0"/>
              <a:t>: como quiero que sean los puntos “p” “l” “s” , </a:t>
            </a:r>
            <a:r>
              <a:rPr lang="es-CO" dirty="0" err="1" smtClean="0"/>
              <a:t>etc</a:t>
            </a: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Función </a:t>
            </a:r>
            <a:r>
              <a:rPr lang="es-ES" dirty="0" err="1" smtClean="0"/>
              <a:t>plot</a:t>
            </a:r>
            <a:r>
              <a:rPr lang="es-ES" dirty="0" smtClean="0"/>
              <a:t>()</a:t>
            </a:r>
            <a:endParaRPr lang="es-E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65322" y="1785926"/>
            <a:ext cx="7239020" cy="4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</a:t>
            </a:r>
            <a:r>
              <a:rPr lang="es-CO" dirty="0" err="1" smtClean="0"/>
              <a:t>plot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8672538" cy="4191000"/>
          </a:xfrm>
        </p:spPr>
        <p:txBody>
          <a:bodyPr>
            <a:normAutofit/>
          </a:bodyPr>
          <a:lstStyle/>
          <a:p>
            <a:pPr>
              <a:buNone/>
            </a:pPr>
            <a:endParaRPr lang="es-CO" sz="2400" dirty="0" smtClean="0"/>
          </a:p>
          <a:p>
            <a:pPr>
              <a:buNone/>
            </a:pPr>
            <a:r>
              <a:rPr lang="es-CO" sz="2400" dirty="0" err="1" smtClean="0"/>
              <a:t>plot</a:t>
            </a:r>
            <a:r>
              <a:rPr lang="es-CO" sz="2400" dirty="0" smtClean="0"/>
              <a:t>(</a:t>
            </a:r>
            <a:r>
              <a:rPr lang="es-CO" sz="2400" dirty="0" err="1" smtClean="0"/>
              <a:t>decathlon</a:t>
            </a:r>
            <a:r>
              <a:rPr lang="es-CO" sz="2400" dirty="0" smtClean="0"/>
              <a:t>[,1],</a:t>
            </a:r>
            <a:r>
              <a:rPr lang="es-CO" sz="2400" dirty="0" err="1" smtClean="0"/>
              <a:t>decathlon</a:t>
            </a:r>
            <a:r>
              <a:rPr lang="es-CO" sz="2400" dirty="0" smtClean="0"/>
              <a:t>[,5],</a:t>
            </a:r>
            <a:r>
              <a:rPr lang="es-CO" sz="2400" dirty="0" err="1" smtClean="0"/>
              <a:t>xlab</a:t>
            </a:r>
            <a:r>
              <a:rPr lang="es-CO" sz="2400" dirty="0" smtClean="0"/>
              <a:t>="100m",ylab="400m",</a:t>
            </a:r>
          </a:p>
          <a:p>
            <a:pPr>
              <a:buNone/>
            </a:pPr>
            <a:r>
              <a:rPr lang="es-CO" sz="2400" dirty="0" smtClean="0"/>
              <a:t>col="</a:t>
            </a:r>
            <a:r>
              <a:rPr lang="es-CO" sz="2400" dirty="0" err="1" smtClean="0"/>
              <a:t>green",main</a:t>
            </a:r>
            <a:r>
              <a:rPr lang="es-CO" sz="2400" dirty="0" smtClean="0"/>
              <a:t>="Diagrama dispersión 100m vs 400m \n (</a:t>
            </a:r>
            <a:r>
              <a:rPr lang="es-CO" sz="2400" dirty="0" err="1" smtClean="0"/>
              <a:t>type</a:t>
            </a:r>
            <a:r>
              <a:rPr lang="es-CO" sz="2400" dirty="0" smtClean="0"/>
              <a:t> p</a:t>
            </a:r>
            <a:r>
              <a:rPr lang="es-CO" sz="2400" dirty="0" smtClean="0"/>
              <a:t>)", sub</a:t>
            </a:r>
            <a:r>
              <a:rPr lang="es-CO" sz="2400" dirty="0" smtClean="0"/>
              <a:t>="Curso R </a:t>
            </a:r>
            <a:r>
              <a:rPr lang="es-CO" sz="2400" dirty="0" smtClean="0"/>
              <a:t>2018",</a:t>
            </a:r>
            <a:r>
              <a:rPr lang="es-CO" sz="2400" dirty="0" smtClean="0"/>
              <a:t>cex.sub=0.8</a:t>
            </a:r>
            <a:r>
              <a:rPr lang="es-CO" sz="2400" dirty="0" smtClean="0"/>
              <a:t>)</a:t>
            </a:r>
          </a:p>
          <a:p>
            <a:pPr>
              <a:buNone/>
            </a:pPr>
            <a:endParaRPr lang="es-CO" sz="2400" dirty="0" smtClean="0"/>
          </a:p>
          <a:p>
            <a:pPr>
              <a:buNone/>
            </a:pPr>
            <a:r>
              <a:rPr lang="es-CO" sz="2400" dirty="0" smtClean="0"/>
              <a:t>## el comando \n es un </a:t>
            </a:r>
            <a:r>
              <a:rPr lang="es-CO" sz="2400" dirty="0" err="1" smtClean="0"/>
              <a:t>enter</a:t>
            </a:r>
            <a:r>
              <a:rPr lang="es-CO" sz="2400" dirty="0" smtClean="0"/>
              <a:t> dentro del título del gráfico</a:t>
            </a:r>
          </a:p>
          <a:p>
            <a:pPr>
              <a:buNone/>
            </a:pPr>
            <a:r>
              <a:rPr lang="es-CO" sz="2400" dirty="0" smtClean="0"/>
              <a:t>## x= </a:t>
            </a:r>
            <a:r>
              <a:rPr lang="es-CO" sz="2400" dirty="0" err="1" smtClean="0"/>
              <a:t>decathlon</a:t>
            </a:r>
            <a:r>
              <a:rPr lang="es-CO" sz="2400" dirty="0" smtClean="0"/>
              <a:t>[,1]  prueba 100m</a:t>
            </a:r>
          </a:p>
          <a:p>
            <a:pPr>
              <a:buNone/>
            </a:pPr>
            <a:r>
              <a:rPr lang="es-CO" sz="2400" dirty="0" smtClean="0"/>
              <a:t>## y= </a:t>
            </a:r>
            <a:r>
              <a:rPr lang="es-CO" sz="2400" dirty="0" err="1" smtClean="0"/>
              <a:t>decathlon</a:t>
            </a:r>
            <a:r>
              <a:rPr lang="es-CO" sz="2400" dirty="0" smtClean="0"/>
              <a:t>[,5] prueba 400m</a:t>
            </a:r>
            <a:endParaRPr lang="es-CO" sz="24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Función </a:t>
            </a:r>
            <a:r>
              <a:rPr lang="es-ES" dirty="0" err="1" smtClean="0"/>
              <a:t>plot</a:t>
            </a:r>
            <a:r>
              <a:rPr lang="es-ES" dirty="0" smtClean="0"/>
              <a:t>()</a:t>
            </a:r>
            <a:endParaRPr lang="es-ES" dirty="0"/>
          </a:p>
        </p:txBody>
      </p:sp>
      <p:sp>
        <p:nvSpPr>
          <p:cNvPr id="4" name="Marcador de contenido 5"/>
          <p:cNvSpPr>
            <a:spLocks noGrp="1"/>
          </p:cNvSpPr>
          <p:nvPr>
            <p:ph sz="half" idx="1"/>
          </p:nvPr>
        </p:nvSpPr>
        <p:spPr>
          <a:xfrm>
            <a:off x="6880230" y="2571744"/>
            <a:ext cx="4143404" cy="1100126"/>
          </a:xfrm>
        </p:spPr>
        <p:txBody>
          <a:bodyPr rtlCol="0"/>
          <a:lstStyle/>
          <a:p>
            <a:pPr>
              <a:buNone/>
            </a:pPr>
            <a:r>
              <a:rPr lang="es-CO" dirty="0" err="1" smtClean="0"/>
              <a:t>plot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[,1:3]) ## Colocando 2 o más columnas..</a:t>
            </a:r>
            <a:endParaRPr lang="es-E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950876" y="1785926"/>
            <a:ext cx="565691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</a:t>
            </a:r>
            <a:r>
              <a:rPr lang="es-CO" dirty="0" err="1" smtClean="0"/>
              <a:t>h</a:t>
            </a:r>
            <a:r>
              <a:rPr lang="es-CO" dirty="0" err="1" smtClean="0"/>
              <a:t>ist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65124" y="1828800"/>
            <a:ext cx="4652048" cy="4386282"/>
          </a:xfrm>
        </p:spPr>
        <p:txBody>
          <a:bodyPr>
            <a:normAutofit/>
          </a:bodyPr>
          <a:lstStyle/>
          <a:p>
            <a:r>
              <a:rPr lang="en-US" dirty="0" err="1" smtClean="0"/>
              <a:t>hist</a:t>
            </a:r>
            <a:r>
              <a:rPr lang="en-US" dirty="0" smtClean="0"/>
              <a:t>(decathlon[,1],main="</a:t>
            </a:r>
            <a:r>
              <a:rPr lang="en-US" dirty="0" err="1" smtClean="0"/>
              <a:t>Prueba</a:t>
            </a:r>
            <a:r>
              <a:rPr lang="en-US" dirty="0" smtClean="0"/>
              <a:t> 100m",sub="</a:t>
            </a:r>
            <a:r>
              <a:rPr lang="en-US" dirty="0" err="1" smtClean="0"/>
              <a:t>curso</a:t>
            </a:r>
            <a:r>
              <a:rPr lang="en-US" dirty="0" smtClean="0"/>
              <a:t> R", breaks=10,col="blue</a:t>
            </a:r>
            <a:r>
              <a:rPr lang="en-US" dirty="0" smtClean="0"/>
              <a:t>")</a:t>
            </a:r>
          </a:p>
          <a:p>
            <a:r>
              <a:rPr lang="en-US" dirty="0" smtClean="0"/>
              <a:t>La </a:t>
            </a:r>
            <a:r>
              <a:rPr lang="en-US" dirty="0" err="1" smtClean="0"/>
              <a:t>función</a:t>
            </a:r>
            <a:r>
              <a:rPr lang="en-US" dirty="0" smtClean="0"/>
              <a:t> </a:t>
            </a:r>
            <a:r>
              <a:rPr lang="en-US" dirty="0" err="1" smtClean="0"/>
              <a:t>hist</a:t>
            </a:r>
            <a:r>
              <a:rPr lang="en-US" dirty="0" smtClean="0"/>
              <a:t>() </a:t>
            </a:r>
            <a:r>
              <a:rPr lang="en-US" dirty="0" err="1" smtClean="0"/>
              <a:t>realiza</a:t>
            </a:r>
            <a:r>
              <a:rPr lang="en-US" dirty="0" smtClean="0"/>
              <a:t> un </a:t>
            </a:r>
            <a:r>
              <a:rPr lang="en-US" dirty="0" err="1" smtClean="0"/>
              <a:t>histograma</a:t>
            </a:r>
            <a:r>
              <a:rPr lang="en-US" dirty="0" smtClean="0"/>
              <a:t>, </a:t>
            </a:r>
            <a:r>
              <a:rPr lang="en-US" dirty="0" err="1" smtClean="0"/>
              <a:t>gráfico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se </a:t>
            </a:r>
            <a:r>
              <a:rPr lang="en-US" dirty="0" err="1" smtClean="0"/>
              <a:t>utiliza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variables </a:t>
            </a:r>
            <a:r>
              <a:rPr lang="en-US" dirty="0" err="1" smtClean="0"/>
              <a:t>cuantitativas</a:t>
            </a:r>
            <a:r>
              <a:rPr lang="en-US" dirty="0" smtClean="0"/>
              <a:t> </a:t>
            </a:r>
            <a:r>
              <a:rPr lang="en-US" dirty="0" err="1" smtClean="0"/>
              <a:t>continuas</a:t>
            </a:r>
            <a:r>
              <a:rPr lang="en-US" dirty="0" smtClean="0"/>
              <a:t>. La </a:t>
            </a:r>
            <a:r>
              <a:rPr lang="en-US" dirty="0" err="1" smtClean="0"/>
              <a:t>funciión</a:t>
            </a:r>
            <a:r>
              <a:rPr lang="en-US" dirty="0" smtClean="0"/>
              <a:t> </a:t>
            </a:r>
            <a:r>
              <a:rPr lang="en-US" dirty="0" err="1" smtClean="0"/>
              <a:t>hist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defecto</a:t>
            </a:r>
            <a:r>
              <a:rPr lang="en-US" dirty="0" smtClean="0"/>
              <a:t> </a:t>
            </a:r>
            <a:r>
              <a:rPr lang="en-US" dirty="0" err="1" smtClean="0"/>
              <a:t>realiza</a:t>
            </a:r>
            <a:r>
              <a:rPr lang="en-US" dirty="0" smtClean="0"/>
              <a:t> los </a:t>
            </a:r>
            <a:r>
              <a:rPr lang="en-US" dirty="0" err="1" smtClean="0"/>
              <a:t>intervalos</a:t>
            </a:r>
            <a:r>
              <a:rPr lang="en-US" dirty="0" smtClean="0"/>
              <a:t> de </a:t>
            </a:r>
            <a:r>
              <a:rPr lang="en-US" dirty="0" err="1" smtClean="0"/>
              <a:t>clase</a:t>
            </a:r>
            <a:r>
              <a:rPr lang="en-US" dirty="0" smtClean="0"/>
              <a:t> con la </a:t>
            </a:r>
            <a:r>
              <a:rPr lang="en-US" dirty="0" err="1" smtClean="0"/>
              <a:t>regla</a:t>
            </a:r>
            <a:r>
              <a:rPr lang="en-US" dirty="0" smtClean="0"/>
              <a:t> de </a:t>
            </a:r>
            <a:r>
              <a:rPr lang="en-US" dirty="0" err="1" smtClean="0"/>
              <a:t>sturges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Los </a:t>
            </a:r>
            <a:r>
              <a:rPr lang="en-US" dirty="0" err="1" smtClean="0"/>
              <a:t>parametros</a:t>
            </a:r>
            <a:r>
              <a:rPr lang="en-US" dirty="0" smtClean="0"/>
              <a:t> de la </a:t>
            </a:r>
            <a:r>
              <a:rPr lang="en-US" dirty="0" err="1" smtClean="0"/>
              <a:t>función</a:t>
            </a:r>
            <a:r>
              <a:rPr lang="en-US" dirty="0" smtClean="0"/>
              <a:t> </a:t>
            </a:r>
            <a:r>
              <a:rPr lang="en-US" dirty="0" err="1" smtClean="0"/>
              <a:t>hist</a:t>
            </a:r>
            <a:r>
              <a:rPr lang="en-US" dirty="0" smtClean="0"/>
              <a:t> son </a:t>
            </a:r>
            <a:r>
              <a:rPr lang="en-US" dirty="0" err="1" smtClean="0"/>
              <a:t>similares</a:t>
            </a:r>
            <a:r>
              <a:rPr lang="en-US" dirty="0" smtClean="0"/>
              <a:t> a los de plot()</a:t>
            </a:r>
          </a:p>
          <a:p>
            <a:r>
              <a:rPr lang="en-US" dirty="0" smtClean="0"/>
              <a:t>Breaks </a:t>
            </a:r>
            <a:r>
              <a:rPr lang="en-US" dirty="0" err="1" smtClean="0"/>
              <a:t>indica</a:t>
            </a:r>
            <a:r>
              <a:rPr lang="en-US" dirty="0" smtClean="0"/>
              <a:t> el # de </a:t>
            </a:r>
            <a:r>
              <a:rPr lang="en-US" dirty="0" err="1" smtClean="0"/>
              <a:t>clases</a:t>
            </a:r>
            <a:endParaRPr lang="es-CO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91335" y="1828800"/>
            <a:ext cx="419859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</a:t>
            </a:r>
            <a:r>
              <a:rPr lang="es-CO" dirty="0" err="1" smtClean="0"/>
              <a:t>boxplot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O" dirty="0" smtClean="0"/>
              <a:t>Sirve para realizar un diagrama de cajas, el cuál puede ayudar en la </a:t>
            </a:r>
            <a:r>
              <a:rPr lang="es-CO" dirty="0" err="1" smtClean="0"/>
              <a:t>indentificación</a:t>
            </a:r>
            <a:r>
              <a:rPr lang="es-CO" dirty="0" smtClean="0"/>
              <a:t> de datos atípicos “</a:t>
            </a:r>
            <a:r>
              <a:rPr lang="es-CO" dirty="0" err="1" smtClean="0"/>
              <a:t>outliers</a:t>
            </a:r>
            <a:r>
              <a:rPr lang="es-CO" dirty="0" smtClean="0"/>
              <a:t>”.</a:t>
            </a:r>
          </a:p>
          <a:p>
            <a:r>
              <a:rPr lang="es-CO" dirty="0" smtClean="0"/>
              <a:t>La función recibe vectores o matrices</a:t>
            </a:r>
            <a:endParaRPr lang="es-CO" dirty="0"/>
          </a:p>
        </p:txBody>
      </p:sp>
      <p:pic>
        <p:nvPicPr>
          <p:cNvPr id="5" name="Marcador de contenido 3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6126" t="34618" r="11004" b="16733"/>
          <a:stretch/>
        </p:blipFill>
        <p:spPr>
          <a:xfrm>
            <a:off x="5464175" y="2071678"/>
            <a:ext cx="5059393" cy="34623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</a:t>
            </a:r>
            <a:r>
              <a:rPr lang="es-CO" dirty="0" err="1" smtClean="0"/>
              <a:t>boxplot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O" dirty="0" smtClean="0"/>
          </a:p>
          <a:p>
            <a:pPr>
              <a:buNone/>
            </a:pPr>
            <a:r>
              <a:rPr lang="es-CO" dirty="0" err="1" smtClean="0"/>
              <a:t>for</a:t>
            </a:r>
            <a:r>
              <a:rPr lang="es-CO" dirty="0" smtClean="0"/>
              <a:t>(i in 1:10) </a:t>
            </a:r>
            <a:r>
              <a:rPr lang="es-CO" dirty="0" smtClean="0"/>
              <a:t>{</a:t>
            </a:r>
            <a:endParaRPr lang="es-CO" dirty="0" smtClean="0"/>
          </a:p>
          <a:p>
            <a:pPr>
              <a:buNone/>
            </a:pPr>
            <a:r>
              <a:rPr lang="es-CO" dirty="0" err="1" smtClean="0"/>
              <a:t>boxplot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[,i],</a:t>
            </a:r>
            <a:r>
              <a:rPr lang="es-CO" dirty="0" smtClean="0"/>
              <a:t>col=</a:t>
            </a:r>
            <a:r>
              <a:rPr lang="es-CO" dirty="0" err="1" smtClean="0"/>
              <a:t>i,main</a:t>
            </a:r>
            <a:r>
              <a:rPr lang="es-CO" dirty="0" smtClean="0"/>
              <a:t>=paste</a:t>
            </a:r>
            <a:r>
              <a:rPr lang="es-CO" dirty="0" smtClean="0"/>
              <a:t>("Prueba ", i),</a:t>
            </a:r>
            <a:r>
              <a:rPr lang="es-CO" dirty="0" err="1" smtClean="0"/>
              <a:t>cex.main</a:t>
            </a:r>
            <a:r>
              <a:rPr lang="es-CO" dirty="0" smtClean="0"/>
              <a:t>=1)</a:t>
            </a:r>
          </a:p>
          <a:p>
            <a:pPr>
              <a:buNone/>
            </a:pPr>
            <a:r>
              <a:rPr lang="es-CO" dirty="0" smtClean="0"/>
              <a:t>}</a:t>
            </a:r>
            <a:endParaRPr lang="es-CO" dirty="0" smtClean="0"/>
          </a:p>
          <a:p>
            <a:endParaRPr lang="es-CO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91335" y="1828800"/>
            <a:ext cx="419859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</a:t>
            </a:r>
            <a:r>
              <a:rPr lang="es-CO" dirty="0" err="1" smtClean="0"/>
              <a:t>boxplot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O" dirty="0" err="1" smtClean="0"/>
              <a:t>boxplot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[,1]</a:t>
            </a:r>
            <a:r>
              <a:rPr lang="es-CO" dirty="0" smtClean="0">
                <a:solidFill>
                  <a:srgbClr val="FF0000"/>
                </a:solidFill>
              </a:rPr>
              <a:t>~</a:t>
            </a:r>
            <a:r>
              <a:rPr lang="es-CO" dirty="0" err="1" smtClean="0"/>
              <a:t>decathlon</a:t>
            </a:r>
            <a:r>
              <a:rPr lang="es-CO" dirty="0" smtClean="0"/>
              <a:t>[,13],</a:t>
            </a:r>
            <a:r>
              <a:rPr lang="es-CO" dirty="0" err="1" smtClean="0"/>
              <a:t>ylab</a:t>
            </a:r>
            <a:r>
              <a:rPr lang="es-CO" dirty="0" smtClean="0"/>
              <a:t>="prueba 100m") ## Prueba 100m en función del evento </a:t>
            </a:r>
            <a:r>
              <a:rPr lang="es-CO" dirty="0" err="1" smtClean="0"/>
              <a:t>Decastar</a:t>
            </a:r>
            <a:r>
              <a:rPr lang="es-CO" dirty="0" smtClean="0"/>
              <a:t> u </a:t>
            </a:r>
            <a:r>
              <a:rPr lang="es-CO" dirty="0" err="1" smtClean="0"/>
              <a:t>OlympicG</a:t>
            </a:r>
            <a:endParaRPr lang="es-CO" dirty="0" smtClean="0"/>
          </a:p>
          <a:p>
            <a:r>
              <a:rPr lang="es-CO" dirty="0" err="1" smtClean="0">
                <a:solidFill>
                  <a:srgbClr val="FF0000"/>
                </a:solidFill>
              </a:rPr>
              <a:t>y~x</a:t>
            </a:r>
            <a:endParaRPr lang="es-CO" dirty="0" smtClean="0">
              <a:solidFill>
                <a:srgbClr val="FF0000"/>
              </a:solidFill>
            </a:endParaRPr>
          </a:p>
          <a:p>
            <a:r>
              <a:rPr lang="es-CO" dirty="0" smtClean="0"/>
              <a:t>Donde x es cualitativa</a:t>
            </a:r>
          </a:p>
          <a:p>
            <a:pPr>
              <a:buNone/>
            </a:pPr>
            <a:r>
              <a:rPr lang="es-CO" dirty="0" smtClean="0"/>
              <a:t> </a:t>
            </a:r>
            <a:endParaRPr lang="es-CO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91335" y="1828800"/>
            <a:ext cx="419859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</a:t>
            </a:r>
            <a:r>
              <a:rPr lang="es-CO" dirty="0" err="1" smtClean="0"/>
              <a:t>barplot</a:t>
            </a:r>
            <a:r>
              <a:rPr lang="es-CO" dirty="0" smtClean="0"/>
              <a:t>()  “Diagramas de Barras”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s-CO" dirty="0" smtClean="0"/>
          </a:p>
          <a:p>
            <a:r>
              <a:rPr lang="es-CO" dirty="0" smtClean="0"/>
              <a:t>La función </a:t>
            </a:r>
            <a:r>
              <a:rPr lang="es-CO" dirty="0" err="1" smtClean="0"/>
              <a:t>barplot</a:t>
            </a:r>
            <a:r>
              <a:rPr lang="es-CO" dirty="0" smtClean="0"/>
              <a:t>() nos ayuda a crear diagramas de barras, los cuales se utilizan con variables </a:t>
            </a:r>
            <a:r>
              <a:rPr lang="es-CO" dirty="0" err="1" smtClean="0"/>
              <a:t>cualiitativas</a:t>
            </a:r>
            <a:r>
              <a:rPr lang="es-CO" dirty="0" smtClean="0"/>
              <a:t>. Es necesario tener los conteos, los cuales se pueden hacer con la función </a:t>
            </a:r>
            <a:r>
              <a:rPr lang="es-CO" dirty="0" err="1" smtClean="0"/>
              <a:t>table</a:t>
            </a:r>
            <a:r>
              <a:rPr lang="es-CO" dirty="0" smtClean="0"/>
              <a:t>()</a:t>
            </a:r>
          </a:p>
          <a:p>
            <a:r>
              <a:rPr lang="es-CO" dirty="0" err="1" smtClean="0"/>
              <a:t>rr</a:t>
            </a:r>
            <a:r>
              <a:rPr lang="es-CO" dirty="0" smtClean="0"/>
              <a:t> &lt;- </a:t>
            </a:r>
            <a:r>
              <a:rPr lang="es-CO" dirty="0" err="1" smtClean="0"/>
              <a:t>table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[,13])</a:t>
            </a:r>
          </a:p>
          <a:p>
            <a:r>
              <a:rPr lang="es-CO" dirty="0" err="1" smtClean="0"/>
              <a:t>barplot</a:t>
            </a:r>
            <a:r>
              <a:rPr lang="es-CO" dirty="0" smtClean="0"/>
              <a:t>(</a:t>
            </a:r>
            <a:r>
              <a:rPr lang="es-CO" dirty="0" err="1" smtClean="0"/>
              <a:t>rr</a:t>
            </a:r>
            <a:r>
              <a:rPr lang="es-CO" dirty="0" smtClean="0"/>
              <a:t>)</a:t>
            </a:r>
            <a:endParaRPr lang="es-CO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91335" y="1828800"/>
            <a:ext cx="419859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</a:t>
            </a:r>
            <a:r>
              <a:rPr lang="es-CO" dirty="0" err="1" smtClean="0"/>
              <a:t>barplot</a:t>
            </a:r>
            <a:r>
              <a:rPr lang="es-CO" dirty="0" smtClean="0"/>
              <a:t>()  “Diagramas de Barras”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CO" sz="2400" dirty="0" smtClean="0">
                <a:solidFill>
                  <a:srgbClr val="FF0000"/>
                </a:solidFill>
              </a:rPr>
              <a:t>¿Cómo agregar los porcentajes encima de las gráficas?</a:t>
            </a:r>
          </a:p>
          <a:p>
            <a:r>
              <a:rPr lang="es-CO" sz="2400" dirty="0" smtClean="0"/>
              <a:t>Agregar un texto dentro del gráfico</a:t>
            </a:r>
          </a:p>
          <a:p>
            <a:r>
              <a:rPr lang="es-CO" sz="2400" dirty="0" smtClean="0"/>
              <a:t>Función </a:t>
            </a:r>
            <a:r>
              <a:rPr lang="es-CO" sz="2400" dirty="0" err="1" smtClean="0"/>
              <a:t>text</a:t>
            </a:r>
            <a:r>
              <a:rPr lang="es-CO" sz="2400" dirty="0" smtClean="0"/>
              <a:t>()</a:t>
            </a:r>
          </a:p>
          <a:p>
            <a:r>
              <a:rPr lang="es-CO" sz="2400" dirty="0" err="1" smtClean="0"/>
              <a:t>p</a:t>
            </a:r>
            <a:r>
              <a:rPr lang="es-CO" sz="2400" dirty="0" err="1" smtClean="0"/>
              <a:t>rop.table</a:t>
            </a:r>
            <a:r>
              <a:rPr lang="es-CO" sz="2400" dirty="0" smtClean="0"/>
              <a:t>() ## genera los porcentajes por tabla</a:t>
            </a:r>
            <a:endParaRPr lang="es-CO" sz="2400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5273284" cy="424340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s-CO" dirty="0" smtClean="0"/>
              <a:t>barplot2&lt;-</a:t>
            </a:r>
            <a:r>
              <a:rPr lang="es-CO" dirty="0" err="1" smtClean="0"/>
              <a:t>function</a:t>
            </a:r>
            <a:r>
              <a:rPr lang="es-CO" dirty="0" smtClean="0"/>
              <a:t>(</a:t>
            </a:r>
            <a:r>
              <a:rPr lang="es-CO" dirty="0" err="1" smtClean="0"/>
              <a:t>px,title</a:t>
            </a:r>
            <a:r>
              <a:rPr lang="es-CO" dirty="0" smtClean="0"/>
              <a:t>){</a:t>
            </a:r>
            <a:endParaRPr lang="es-CO" dirty="0" smtClean="0"/>
          </a:p>
          <a:p>
            <a:pPr>
              <a:buNone/>
            </a:pPr>
            <a:r>
              <a:rPr lang="es-CO" dirty="0" err="1" smtClean="0"/>
              <a:t>xpx</a:t>
            </a:r>
            <a:r>
              <a:rPr lang="es-CO" dirty="0" smtClean="0"/>
              <a:t>&lt;-</a:t>
            </a:r>
            <a:r>
              <a:rPr lang="es-CO" dirty="0" err="1" smtClean="0"/>
              <a:t>prop.table</a:t>
            </a:r>
            <a:r>
              <a:rPr lang="es-CO" dirty="0" smtClean="0"/>
              <a:t>(</a:t>
            </a:r>
            <a:r>
              <a:rPr lang="es-CO" dirty="0" err="1" smtClean="0"/>
              <a:t>table</a:t>
            </a:r>
            <a:r>
              <a:rPr lang="es-CO" dirty="0" smtClean="0"/>
              <a:t>(</a:t>
            </a:r>
            <a:r>
              <a:rPr lang="es-CO" dirty="0" err="1" smtClean="0"/>
              <a:t>px</a:t>
            </a:r>
            <a:r>
              <a:rPr lang="es-CO" dirty="0" smtClean="0"/>
              <a:t>))*100</a:t>
            </a:r>
          </a:p>
          <a:p>
            <a:pPr>
              <a:buNone/>
            </a:pPr>
            <a:r>
              <a:rPr lang="es-CO" dirty="0" err="1" smtClean="0"/>
              <a:t>xpx</a:t>
            </a:r>
            <a:r>
              <a:rPr lang="es-CO" dirty="0" smtClean="0"/>
              <a:t>&lt;-round(</a:t>
            </a:r>
            <a:r>
              <a:rPr lang="es-CO" dirty="0" err="1" smtClean="0"/>
              <a:t>array</a:t>
            </a:r>
            <a:r>
              <a:rPr lang="es-CO" dirty="0" smtClean="0"/>
              <a:t>(</a:t>
            </a:r>
            <a:r>
              <a:rPr lang="es-CO" dirty="0" err="1" smtClean="0"/>
              <a:t>xpx</a:t>
            </a:r>
            <a:r>
              <a:rPr lang="es-CO" dirty="0" smtClean="0"/>
              <a:t>),1)</a:t>
            </a:r>
          </a:p>
          <a:p>
            <a:pPr>
              <a:buNone/>
            </a:pPr>
            <a:r>
              <a:rPr lang="es-CO" dirty="0" err="1" smtClean="0"/>
              <a:t>ypx</a:t>
            </a:r>
            <a:r>
              <a:rPr lang="es-CO" dirty="0" smtClean="0"/>
              <a:t>&lt;-</a:t>
            </a:r>
            <a:r>
              <a:rPr lang="es-CO" dirty="0" err="1" smtClean="0"/>
              <a:t>as.character</a:t>
            </a:r>
            <a:r>
              <a:rPr lang="es-CO" dirty="0" smtClean="0"/>
              <a:t>(</a:t>
            </a:r>
            <a:r>
              <a:rPr lang="es-CO" dirty="0" err="1" smtClean="0"/>
              <a:t>xpx</a:t>
            </a:r>
            <a:r>
              <a:rPr lang="es-CO" dirty="0" smtClean="0"/>
              <a:t>)</a:t>
            </a:r>
          </a:p>
          <a:p>
            <a:pPr>
              <a:buNone/>
            </a:pPr>
            <a:r>
              <a:rPr lang="es-CO" dirty="0" err="1" smtClean="0"/>
              <a:t>xpx</a:t>
            </a:r>
            <a:endParaRPr lang="es-CO" dirty="0" smtClean="0"/>
          </a:p>
          <a:p>
            <a:pPr>
              <a:buNone/>
            </a:pPr>
            <a:r>
              <a:rPr lang="es-CO" dirty="0" smtClean="0"/>
              <a:t>barplot2&lt;</a:t>
            </a:r>
            <a:r>
              <a:rPr lang="es-CO" dirty="0" err="1" smtClean="0"/>
              <a:t>barplot</a:t>
            </a:r>
            <a:r>
              <a:rPr lang="es-CO" dirty="0" smtClean="0"/>
              <a:t>(</a:t>
            </a:r>
            <a:r>
              <a:rPr lang="es-CO" dirty="0" err="1" smtClean="0"/>
              <a:t>prop.table</a:t>
            </a:r>
            <a:r>
              <a:rPr lang="es-CO" dirty="0" smtClean="0"/>
              <a:t>(</a:t>
            </a:r>
            <a:r>
              <a:rPr lang="es-CO" dirty="0" err="1" smtClean="0"/>
              <a:t>table</a:t>
            </a:r>
            <a:r>
              <a:rPr lang="es-CO" dirty="0" smtClean="0"/>
              <a:t>(</a:t>
            </a:r>
            <a:r>
              <a:rPr lang="es-CO" dirty="0" err="1" smtClean="0"/>
              <a:t>px</a:t>
            </a:r>
            <a:r>
              <a:rPr lang="es-CO" dirty="0" smtClean="0"/>
              <a:t>))*100,ylim=c(0,100),</a:t>
            </a:r>
            <a:r>
              <a:rPr lang="es-CO" dirty="0" err="1" smtClean="0"/>
              <a:t>main</a:t>
            </a:r>
            <a:r>
              <a:rPr lang="es-CO" dirty="0" smtClean="0"/>
              <a:t>=</a:t>
            </a:r>
            <a:r>
              <a:rPr lang="es-CO" dirty="0" err="1" smtClean="0"/>
              <a:t>title,sub</a:t>
            </a:r>
            <a:r>
              <a:rPr lang="es-CO" dirty="0" smtClean="0"/>
              <a:t>="", </a:t>
            </a:r>
            <a:r>
              <a:rPr lang="es-CO" dirty="0" err="1" smtClean="0"/>
              <a:t>xlab</a:t>
            </a:r>
            <a:r>
              <a:rPr lang="es-CO" dirty="0" smtClean="0"/>
              <a:t>="",</a:t>
            </a:r>
            <a:r>
              <a:rPr lang="es-CO" dirty="0" err="1" smtClean="0"/>
              <a:t>ylab</a:t>
            </a:r>
            <a:r>
              <a:rPr lang="es-CO" dirty="0" smtClean="0"/>
              <a:t>="Porcentaje %",cex.sub=0.7,font.sub=3,col=c("</a:t>
            </a:r>
            <a:r>
              <a:rPr lang="es-CO" dirty="0" err="1" smtClean="0"/>
              <a:t>white","black","gray</a:t>
            </a:r>
            <a:r>
              <a:rPr lang="es-CO" dirty="0" smtClean="0"/>
              <a:t>"),</a:t>
            </a:r>
            <a:r>
              <a:rPr lang="es-CO" dirty="0" err="1" smtClean="0"/>
              <a:t>cex.main</a:t>
            </a:r>
            <a:r>
              <a:rPr lang="es-CO" dirty="0" smtClean="0"/>
              <a:t>=0.9,cex.names=0.8</a:t>
            </a:r>
            <a:r>
              <a:rPr lang="es-CO" dirty="0" smtClean="0"/>
              <a:t>)</a:t>
            </a:r>
            <a:endParaRPr lang="es-CO" dirty="0" smtClean="0"/>
          </a:p>
          <a:p>
            <a:pPr>
              <a:buNone/>
            </a:pPr>
            <a:r>
              <a:rPr lang="es-CO" dirty="0" err="1" smtClean="0"/>
              <a:t>text</a:t>
            </a:r>
            <a:r>
              <a:rPr lang="es-CO" dirty="0" smtClean="0"/>
              <a:t>(xpx+8,ypx,adj=c(0.5,0.5),</a:t>
            </a:r>
            <a:r>
              <a:rPr lang="es-CO" dirty="0" err="1" smtClean="0"/>
              <a:t>cex</a:t>
            </a:r>
            <a:r>
              <a:rPr lang="es-CO" dirty="0" smtClean="0"/>
              <a:t>=0.9</a:t>
            </a:r>
            <a:r>
              <a:rPr lang="es-CO" dirty="0" smtClean="0"/>
              <a:t>)</a:t>
            </a:r>
            <a:endParaRPr lang="es-CO" dirty="0" smtClean="0"/>
          </a:p>
          <a:p>
            <a:pPr>
              <a:buNone/>
            </a:pPr>
            <a:r>
              <a:rPr lang="es-CO" dirty="0" smtClean="0"/>
              <a:t>}</a:t>
            </a:r>
            <a:endParaRPr lang="es-CO" dirty="0" smtClean="0"/>
          </a:p>
          <a:p>
            <a:pPr>
              <a:buNone/>
            </a:pPr>
            <a:r>
              <a:rPr lang="es-CO" dirty="0" smtClean="0"/>
              <a:t>barplot2(</a:t>
            </a:r>
            <a:r>
              <a:rPr lang="es-CO" dirty="0" err="1" smtClean="0"/>
              <a:t>decathlon</a:t>
            </a:r>
            <a:r>
              <a:rPr lang="es-CO" dirty="0" smtClean="0"/>
              <a:t>[,13],"Evento")</a:t>
            </a:r>
          </a:p>
          <a:p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barplot2()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0810" y="3143248"/>
            <a:ext cx="4251960" cy="1314448"/>
          </a:xfrm>
        </p:spPr>
        <p:txBody>
          <a:bodyPr/>
          <a:lstStyle/>
          <a:p>
            <a:r>
              <a:rPr lang="es-CO" dirty="0" smtClean="0"/>
              <a:t>Solo pide la variable y el nombre del grafico </a:t>
            </a:r>
            <a:endParaRPr lang="es-CO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22842" y="1714488"/>
            <a:ext cx="5143536" cy="4618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pie</a:t>
            </a:r>
            <a:r>
              <a:rPr lang="es-CO" dirty="0" smtClean="0"/>
              <a:t>()  “Gráficos de pastel”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65124" y="2571744"/>
            <a:ext cx="4251960" cy="2171704"/>
          </a:xfrm>
        </p:spPr>
        <p:txBody>
          <a:bodyPr/>
          <a:lstStyle/>
          <a:p>
            <a:r>
              <a:rPr lang="es-CO" dirty="0" smtClean="0"/>
              <a:t>## </a:t>
            </a:r>
            <a:r>
              <a:rPr lang="es-CO" dirty="0" err="1" smtClean="0"/>
              <a:t>funcion</a:t>
            </a:r>
            <a:r>
              <a:rPr lang="es-CO" dirty="0" smtClean="0"/>
              <a:t> pie()</a:t>
            </a:r>
          </a:p>
          <a:p>
            <a:pPr>
              <a:buNone/>
            </a:pPr>
            <a:endParaRPr lang="es-CO" dirty="0" smtClean="0"/>
          </a:p>
          <a:p>
            <a:r>
              <a:rPr lang="es-CO" dirty="0" err="1" smtClean="0"/>
              <a:t>rr</a:t>
            </a:r>
            <a:r>
              <a:rPr lang="es-CO" dirty="0" smtClean="0"/>
              <a:t> &lt;- </a:t>
            </a:r>
            <a:r>
              <a:rPr lang="es-CO" dirty="0" err="1" smtClean="0"/>
              <a:t>table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[,13])</a:t>
            </a:r>
          </a:p>
          <a:p>
            <a:r>
              <a:rPr lang="es-CO" dirty="0" smtClean="0"/>
              <a:t>pie(</a:t>
            </a:r>
            <a:r>
              <a:rPr lang="es-CO" dirty="0" err="1" smtClean="0"/>
              <a:t>rr,col</a:t>
            </a:r>
            <a:r>
              <a:rPr lang="es-CO" dirty="0" smtClean="0"/>
              <a:t>=c(3,2))</a:t>
            </a:r>
            <a:endParaRPr lang="es-CO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08528" y="1766555"/>
            <a:ext cx="4881399" cy="425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Librería ggplot2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9315480" cy="957258"/>
          </a:xfrm>
        </p:spPr>
        <p:txBody>
          <a:bodyPr rtlCol="0"/>
          <a:lstStyle/>
          <a:p>
            <a:r>
              <a:rPr lang="es-ES" dirty="0" smtClean="0"/>
              <a:t>https://www.rstudio.com/wp-content/uploads/2015/04/ggplot2-spanish.pdf</a:t>
            </a:r>
            <a:endParaRPr lang="es-E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450942" y="2571744"/>
            <a:ext cx="4500594" cy="3362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6263654" y="2143125"/>
            <a:ext cx="4617104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Librería ggplot2</a:t>
            </a:r>
            <a:endParaRPr lang="es-CO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36562" y="1984713"/>
            <a:ext cx="4357718" cy="401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763590" y="1571612"/>
            <a:ext cx="4902854" cy="4405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 smtClean="0"/>
              <a:t>Librería ggplot2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9315480" cy="4191000"/>
          </a:xfrm>
        </p:spPr>
        <p:txBody>
          <a:bodyPr rtlCol="0"/>
          <a:lstStyle/>
          <a:p>
            <a:pPr rtl="0"/>
            <a:r>
              <a:rPr lang="es-ES" dirty="0" smtClean="0"/>
              <a:t>## Histograma</a:t>
            </a:r>
          </a:p>
          <a:p>
            <a:pPr>
              <a:buNone/>
            </a:pPr>
            <a:r>
              <a:rPr lang="es-ES" dirty="0" err="1" smtClean="0"/>
              <a:t>ggplot</a:t>
            </a:r>
            <a:r>
              <a:rPr lang="es-ES" dirty="0" smtClean="0"/>
              <a:t>(data=</a:t>
            </a:r>
            <a:r>
              <a:rPr lang="es-ES" dirty="0" err="1" smtClean="0"/>
              <a:t>decathlon,aes</a:t>
            </a:r>
            <a:r>
              <a:rPr lang="es-ES" dirty="0" smtClean="0"/>
              <a:t>(</a:t>
            </a:r>
            <a:r>
              <a:rPr lang="es-ES" dirty="0" err="1" smtClean="0"/>
              <a:t>decathlon</a:t>
            </a:r>
            <a:r>
              <a:rPr lang="es-ES" dirty="0" smtClean="0"/>
              <a:t>[,1]))+</a:t>
            </a:r>
          </a:p>
          <a:p>
            <a:pPr>
              <a:buNone/>
            </a:pPr>
            <a:r>
              <a:rPr lang="es-ES" dirty="0" err="1" smtClean="0"/>
              <a:t>geom_histogram</a:t>
            </a:r>
            <a:r>
              <a:rPr lang="es-ES" dirty="0" smtClean="0"/>
              <a:t>(</a:t>
            </a:r>
            <a:r>
              <a:rPr lang="es-ES" dirty="0" err="1" smtClean="0"/>
              <a:t>fill</a:t>
            </a:r>
            <a:r>
              <a:rPr lang="es-ES" dirty="0" smtClean="0"/>
              <a:t>="</a:t>
            </a:r>
            <a:r>
              <a:rPr lang="es-ES" dirty="0" err="1" smtClean="0"/>
              <a:t>blue</a:t>
            </a:r>
            <a:r>
              <a:rPr lang="es-ES" dirty="0" smtClean="0"/>
              <a:t>")</a:t>
            </a:r>
          </a:p>
          <a:p>
            <a:pPr>
              <a:buNone/>
            </a:pPr>
            <a:r>
              <a:rPr lang="es-ES" dirty="0" smtClean="0"/>
              <a:t>## El signo + indica que se van agregando elementos al gráfico</a:t>
            </a:r>
            <a:endParaRPr lang="es-ES" dirty="0" smtClean="0"/>
          </a:p>
          <a:p>
            <a:pPr>
              <a:buNone/>
            </a:pPr>
            <a:r>
              <a:rPr lang="es-ES" dirty="0" smtClean="0"/>
              <a:t>## </a:t>
            </a:r>
            <a:r>
              <a:rPr lang="es-ES" dirty="0" err="1" smtClean="0"/>
              <a:t>Boxplot</a:t>
            </a:r>
            <a:endParaRPr lang="es-ES" dirty="0" smtClean="0"/>
          </a:p>
          <a:p>
            <a:pPr>
              <a:buNone/>
            </a:pPr>
            <a:r>
              <a:rPr lang="es-ES" dirty="0" err="1" smtClean="0"/>
              <a:t>ggplot</a:t>
            </a:r>
            <a:r>
              <a:rPr lang="es-ES" dirty="0" smtClean="0"/>
              <a:t>(data=</a:t>
            </a:r>
            <a:r>
              <a:rPr lang="es-ES" dirty="0" err="1" smtClean="0"/>
              <a:t>decathlon,aes</a:t>
            </a:r>
            <a:r>
              <a:rPr lang="es-ES" dirty="0" smtClean="0"/>
              <a:t>(</a:t>
            </a:r>
            <a:r>
              <a:rPr lang="es-ES" dirty="0" err="1" smtClean="0"/>
              <a:t>decathlon</a:t>
            </a:r>
            <a:r>
              <a:rPr lang="es-ES" dirty="0" smtClean="0"/>
              <a:t>[,13],</a:t>
            </a:r>
            <a:r>
              <a:rPr lang="es-ES" dirty="0" err="1" smtClean="0"/>
              <a:t>decathlon</a:t>
            </a:r>
            <a:r>
              <a:rPr lang="es-ES" dirty="0" smtClean="0"/>
              <a:t>[,1]))+</a:t>
            </a:r>
          </a:p>
          <a:p>
            <a:pPr>
              <a:buNone/>
            </a:pPr>
            <a:r>
              <a:rPr lang="es-ES" dirty="0" err="1" smtClean="0"/>
              <a:t>geom_boxplot</a:t>
            </a:r>
            <a:r>
              <a:rPr lang="es-ES" dirty="0" smtClean="0"/>
              <a:t>(color="</a:t>
            </a:r>
            <a:r>
              <a:rPr lang="es-ES" dirty="0" err="1" smtClean="0"/>
              <a:t>blue</a:t>
            </a:r>
            <a:r>
              <a:rPr lang="es-ES" dirty="0" smtClean="0"/>
              <a:t>")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10108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Librería ggplot2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8958290" cy="4191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O" dirty="0" smtClean="0"/>
              <a:t>## </a:t>
            </a:r>
            <a:r>
              <a:rPr lang="es-CO" dirty="0" smtClean="0"/>
              <a:t>Diagrama de </a:t>
            </a:r>
            <a:r>
              <a:rPr lang="es-CO" dirty="0" smtClean="0"/>
              <a:t>dispersión</a:t>
            </a:r>
            <a:endParaRPr lang="es-CO" dirty="0" smtClean="0"/>
          </a:p>
          <a:p>
            <a:pPr>
              <a:buNone/>
            </a:pPr>
            <a:r>
              <a:rPr lang="es-CO" dirty="0" err="1" smtClean="0"/>
              <a:t>qplot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[,1],</a:t>
            </a:r>
            <a:r>
              <a:rPr lang="es-CO" dirty="0" err="1" smtClean="0"/>
              <a:t>decathlon</a:t>
            </a:r>
            <a:r>
              <a:rPr lang="es-CO" dirty="0" smtClean="0"/>
              <a:t>[,5],data=</a:t>
            </a:r>
            <a:r>
              <a:rPr lang="es-CO" dirty="0" err="1" smtClean="0"/>
              <a:t>decathlon,color</a:t>
            </a:r>
            <a:r>
              <a:rPr lang="es-CO" dirty="0" smtClean="0"/>
              <a:t>="")</a:t>
            </a:r>
            <a:endParaRPr lang="es-CO" dirty="0" smtClean="0"/>
          </a:p>
          <a:p>
            <a:pPr>
              <a:buNone/>
            </a:pPr>
            <a:r>
              <a:rPr lang="es-CO" dirty="0" err="1" smtClean="0"/>
              <a:t>ggplot</a:t>
            </a:r>
            <a:r>
              <a:rPr lang="es-CO" dirty="0" smtClean="0"/>
              <a:t>(data=</a:t>
            </a:r>
            <a:r>
              <a:rPr lang="es-CO" dirty="0" err="1" smtClean="0"/>
              <a:t>decathlon,aes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[,1],</a:t>
            </a:r>
            <a:r>
              <a:rPr lang="es-CO" dirty="0" err="1" smtClean="0"/>
              <a:t>decathlon</a:t>
            </a:r>
            <a:r>
              <a:rPr lang="es-CO" dirty="0" smtClean="0"/>
              <a:t>[,5]))+</a:t>
            </a:r>
          </a:p>
          <a:p>
            <a:pPr>
              <a:buNone/>
            </a:pPr>
            <a:r>
              <a:rPr lang="es-CO" dirty="0" err="1" smtClean="0"/>
              <a:t>geom_jitter</a:t>
            </a:r>
            <a:r>
              <a:rPr lang="es-CO" dirty="0" smtClean="0"/>
              <a:t>(color="red")+</a:t>
            </a:r>
          </a:p>
          <a:p>
            <a:pPr>
              <a:buNone/>
            </a:pPr>
            <a:r>
              <a:rPr lang="es-CO" dirty="0" err="1" smtClean="0"/>
              <a:t>ggtitle</a:t>
            </a:r>
            <a:r>
              <a:rPr lang="es-CO" dirty="0" smtClean="0"/>
              <a:t>("</a:t>
            </a:r>
            <a:r>
              <a:rPr lang="es-CO" dirty="0" err="1" smtClean="0"/>
              <a:t>GrÁfico</a:t>
            </a:r>
            <a:r>
              <a:rPr lang="es-CO" dirty="0" smtClean="0"/>
              <a:t> de Dispersión")+  ### Titulo</a:t>
            </a:r>
          </a:p>
          <a:p>
            <a:pPr>
              <a:buNone/>
            </a:pPr>
            <a:r>
              <a:rPr lang="es-CO" dirty="0" err="1" smtClean="0"/>
              <a:t>xlab</a:t>
            </a:r>
            <a:r>
              <a:rPr lang="es-CO" dirty="0" smtClean="0"/>
              <a:t>("100m")+ ## </a:t>
            </a:r>
            <a:r>
              <a:rPr lang="es-CO" dirty="0" err="1" smtClean="0"/>
              <a:t>label</a:t>
            </a:r>
            <a:r>
              <a:rPr lang="es-CO" dirty="0" smtClean="0"/>
              <a:t> eje x</a:t>
            </a:r>
          </a:p>
          <a:p>
            <a:pPr>
              <a:buNone/>
            </a:pPr>
            <a:r>
              <a:rPr lang="es-CO" dirty="0" err="1" smtClean="0"/>
              <a:t>ylab</a:t>
            </a:r>
            <a:r>
              <a:rPr lang="es-CO" dirty="0" smtClean="0"/>
              <a:t>("400m") ## </a:t>
            </a:r>
            <a:r>
              <a:rPr lang="es-CO" dirty="0" err="1" smtClean="0"/>
              <a:t>label</a:t>
            </a:r>
            <a:r>
              <a:rPr lang="es-CO" dirty="0" smtClean="0"/>
              <a:t> eje y</a:t>
            </a:r>
          </a:p>
          <a:p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Librería ggplot2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8672538" cy="4191000"/>
          </a:xfrm>
        </p:spPr>
        <p:txBody>
          <a:bodyPr/>
          <a:lstStyle/>
          <a:p>
            <a:pPr>
              <a:buNone/>
            </a:pPr>
            <a:r>
              <a:rPr lang="es-CO" dirty="0" smtClean="0"/>
              <a:t>### Diagrama de </a:t>
            </a:r>
            <a:r>
              <a:rPr lang="es-CO" dirty="0" smtClean="0"/>
              <a:t>Barras</a:t>
            </a:r>
            <a:endParaRPr lang="es-CO" dirty="0" smtClean="0"/>
          </a:p>
          <a:p>
            <a:pPr>
              <a:buNone/>
            </a:pPr>
            <a:r>
              <a:rPr lang="es-CO" dirty="0" err="1" smtClean="0"/>
              <a:t>ggplot</a:t>
            </a:r>
            <a:r>
              <a:rPr lang="es-CO" dirty="0" smtClean="0"/>
              <a:t>(data=</a:t>
            </a:r>
            <a:r>
              <a:rPr lang="es-CO" dirty="0" err="1" smtClean="0"/>
              <a:t>decathlon,aes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[,13]))+</a:t>
            </a:r>
          </a:p>
          <a:p>
            <a:pPr>
              <a:buNone/>
            </a:pPr>
            <a:r>
              <a:rPr lang="es-CO" dirty="0" err="1" smtClean="0"/>
              <a:t>geom_bar</a:t>
            </a:r>
            <a:r>
              <a:rPr lang="es-CO" dirty="0" smtClean="0"/>
              <a:t>(</a:t>
            </a:r>
            <a:r>
              <a:rPr lang="es-CO" dirty="0" err="1" smtClean="0"/>
              <a:t>fill</a:t>
            </a:r>
            <a:r>
              <a:rPr lang="es-CO" dirty="0" smtClean="0"/>
              <a:t>="</a:t>
            </a:r>
            <a:r>
              <a:rPr lang="es-CO" dirty="0" err="1" smtClean="0"/>
              <a:t>skyblue</a:t>
            </a:r>
            <a:r>
              <a:rPr lang="es-CO" dirty="0" smtClean="0"/>
              <a:t>")+</a:t>
            </a:r>
          </a:p>
          <a:p>
            <a:pPr>
              <a:buNone/>
            </a:pPr>
            <a:r>
              <a:rPr lang="es-CO" dirty="0" err="1" smtClean="0"/>
              <a:t>ggtitle</a:t>
            </a:r>
            <a:r>
              <a:rPr lang="es-CO" dirty="0" smtClean="0"/>
              <a:t>("Diagrama de Barras")+  ### Titulo</a:t>
            </a:r>
          </a:p>
          <a:p>
            <a:pPr>
              <a:buNone/>
            </a:pPr>
            <a:r>
              <a:rPr lang="es-CO" dirty="0" err="1" smtClean="0"/>
              <a:t>xlab</a:t>
            </a:r>
            <a:r>
              <a:rPr lang="es-CO" dirty="0" smtClean="0"/>
              <a:t>("Evento") ## </a:t>
            </a:r>
            <a:r>
              <a:rPr lang="es-CO" dirty="0" err="1" smtClean="0"/>
              <a:t>label</a:t>
            </a:r>
            <a:r>
              <a:rPr lang="es-CO" dirty="0" smtClean="0"/>
              <a:t> eje x</a:t>
            </a:r>
          </a:p>
          <a:p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Gráfico de dispersión con modelo de Regresión ggplot2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630342" cy="4243406"/>
          </a:xfrm>
        </p:spPr>
        <p:txBody>
          <a:bodyPr/>
          <a:lstStyle/>
          <a:p>
            <a:pPr>
              <a:buNone/>
            </a:pPr>
            <a:r>
              <a:rPr lang="es-CO" dirty="0" err="1" smtClean="0"/>
              <a:t>ggplot</a:t>
            </a:r>
            <a:r>
              <a:rPr lang="es-CO" dirty="0" smtClean="0"/>
              <a:t>(data=</a:t>
            </a:r>
            <a:r>
              <a:rPr lang="es-CO" dirty="0" err="1" smtClean="0"/>
              <a:t>decathlon,aes</a:t>
            </a:r>
            <a:r>
              <a:rPr lang="es-CO" dirty="0" smtClean="0"/>
              <a:t>(</a:t>
            </a:r>
            <a:r>
              <a:rPr lang="es-CO" dirty="0" err="1" smtClean="0"/>
              <a:t>decathlon</a:t>
            </a:r>
            <a:r>
              <a:rPr lang="es-CO" dirty="0" smtClean="0"/>
              <a:t>[,1],</a:t>
            </a:r>
            <a:r>
              <a:rPr lang="es-CO" dirty="0" err="1" smtClean="0"/>
              <a:t>decathlon</a:t>
            </a:r>
            <a:r>
              <a:rPr lang="es-CO" dirty="0" smtClean="0"/>
              <a:t>[,5]))+</a:t>
            </a:r>
          </a:p>
          <a:p>
            <a:pPr>
              <a:buNone/>
            </a:pPr>
            <a:r>
              <a:rPr lang="es-CO" dirty="0" err="1" smtClean="0"/>
              <a:t>geom_jitter</a:t>
            </a:r>
            <a:r>
              <a:rPr lang="es-CO" dirty="0" smtClean="0"/>
              <a:t>(color="red")+</a:t>
            </a:r>
          </a:p>
          <a:p>
            <a:pPr>
              <a:buNone/>
            </a:pPr>
            <a:r>
              <a:rPr lang="es-CO" dirty="0" err="1" smtClean="0"/>
              <a:t>ggtitle</a:t>
            </a:r>
            <a:r>
              <a:rPr lang="es-CO" dirty="0" smtClean="0"/>
              <a:t>("</a:t>
            </a:r>
            <a:r>
              <a:rPr lang="es-CO" dirty="0" err="1" smtClean="0"/>
              <a:t>GrÁfico</a:t>
            </a:r>
            <a:r>
              <a:rPr lang="es-CO" dirty="0" smtClean="0"/>
              <a:t> de Dispersión")+  ### Titulo</a:t>
            </a:r>
          </a:p>
          <a:p>
            <a:pPr>
              <a:buNone/>
            </a:pPr>
            <a:r>
              <a:rPr lang="es-CO" dirty="0" err="1" smtClean="0"/>
              <a:t>xlab</a:t>
            </a:r>
            <a:r>
              <a:rPr lang="es-CO" dirty="0" smtClean="0"/>
              <a:t>("100m")+ ## </a:t>
            </a:r>
            <a:r>
              <a:rPr lang="es-CO" dirty="0" err="1" smtClean="0"/>
              <a:t>label</a:t>
            </a:r>
            <a:r>
              <a:rPr lang="es-CO" dirty="0" smtClean="0"/>
              <a:t> eje x</a:t>
            </a:r>
          </a:p>
          <a:p>
            <a:pPr>
              <a:buNone/>
            </a:pPr>
            <a:r>
              <a:rPr lang="es-CO" dirty="0" err="1" smtClean="0"/>
              <a:t>ylab</a:t>
            </a:r>
            <a:r>
              <a:rPr lang="es-CO" dirty="0" smtClean="0"/>
              <a:t>("400m")+ ## </a:t>
            </a:r>
            <a:r>
              <a:rPr lang="es-CO" dirty="0" err="1" smtClean="0"/>
              <a:t>label</a:t>
            </a:r>
            <a:r>
              <a:rPr lang="es-CO" dirty="0" smtClean="0"/>
              <a:t> eje y</a:t>
            </a:r>
          </a:p>
          <a:p>
            <a:pPr>
              <a:buNone/>
            </a:pPr>
            <a:r>
              <a:rPr lang="es-CO" dirty="0" err="1" smtClean="0"/>
              <a:t>geom_smooth</a:t>
            </a:r>
            <a:r>
              <a:rPr lang="es-CO" dirty="0" smtClean="0"/>
              <a:t>(</a:t>
            </a:r>
            <a:r>
              <a:rPr lang="es-CO" dirty="0" err="1" smtClean="0">
                <a:solidFill>
                  <a:srgbClr val="FF0000"/>
                </a:solidFill>
              </a:rPr>
              <a:t>model</a:t>
            </a:r>
            <a:r>
              <a:rPr lang="es-CO" dirty="0" smtClean="0">
                <a:solidFill>
                  <a:srgbClr val="FF0000"/>
                </a:solidFill>
              </a:rPr>
              <a:t> = lm</a:t>
            </a:r>
            <a:r>
              <a:rPr lang="es-CO" dirty="0" smtClean="0"/>
              <a:t>)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Regresión loess (Regresión No </a:t>
            </a:r>
            <a:r>
              <a:rPr lang="es-CO" dirty="0" err="1" smtClean="0">
                <a:solidFill>
                  <a:srgbClr val="FF0000"/>
                </a:solidFill>
              </a:rPr>
              <a:t>parametrica</a:t>
            </a:r>
            <a:r>
              <a:rPr lang="es-CO" dirty="0" smtClean="0">
                <a:solidFill>
                  <a:srgbClr val="FF0000"/>
                </a:solidFill>
              </a:rPr>
              <a:t>)</a:t>
            </a:r>
            <a:endParaRPr lang="es-CO" dirty="0" smtClean="0">
              <a:solidFill>
                <a:srgbClr val="FF0000"/>
              </a:solidFill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91579" y="1828800"/>
            <a:ext cx="419859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51140" y="714356"/>
            <a:ext cx="5190925" cy="4773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f02895266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_15870690_TF02895266.potx" id="{662AE8D8-24CF-4300-88CA-77AD0B4045E0}" vid="{53658028-3D1B-4AA4-8E7B-3BB150406BCD}"/>
    </a:ext>
  </a:extLst>
</a:theme>
</file>

<file path=ppt/theme/theme2.xml><?xml version="1.0" encoding="utf-8"?>
<a:theme xmlns:a="http://schemas.openxmlformats.org/drawingml/2006/main" name="Tema de Offic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02F2BE50-DDB3-465B-A26E-975A276D43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80FAF7-F941-4D3E-A3C3-283A611079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220E13-D325-4A9E-AA7A-0D1409275EB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40262f94-9f35-4ac3-9a90-690165a166b7"/>
    <ds:schemaRef ds:uri="a4f35948-e619-41b3-aa29-22878b09cfd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tf02895266</Template>
  <TotalTime>286</TotalTime>
  <Words>1557</Words>
  <Application>Microsoft Office PowerPoint</Application>
  <PresentationFormat>Personalizado</PresentationFormat>
  <Paragraphs>193</Paragraphs>
  <Slides>33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4" baseType="lpstr">
      <vt:lpstr>tf02895266</vt:lpstr>
      <vt:lpstr>Herramientas para el Análisis Exploratorio de Datos con R</vt:lpstr>
      <vt:lpstr>Contenido</vt:lpstr>
      <vt:lpstr>Indicadores</vt:lpstr>
      <vt:lpstr>Indicadores</vt:lpstr>
      <vt:lpstr>Ejemplo:</vt:lpstr>
      <vt:lpstr>Un ejemplo con datos agrupados</vt:lpstr>
      <vt:lpstr>Un ejemplo con datos agrupados</vt:lpstr>
      <vt:lpstr>Indicadores</vt:lpstr>
      <vt:lpstr>Ejemplo indicadores de dispersión</vt:lpstr>
      <vt:lpstr>Indicadores de dispersión</vt:lpstr>
      <vt:lpstr>Indicadores de posición</vt:lpstr>
      <vt:lpstr>Ejemplo Indicadores de posición</vt:lpstr>
      <vt:lpstr>Indicadores de forma</vt:lpstr>
      <vt:lpstr>Indicadores de forma</vt:lpstr>
      <vt:lpstr>Función plot()</vt:lpstr>
      <vt:lpstr>Función plot()</vt:lpstr>
      <vt:lpstr>Función plot()</vt:lpstr>
      <vt:lpstr>Función plot()</vt:lpstr>
      <vt:lpstr>Función hist()</vt:lpstr>
      <vt:lpstr>Función boxplot()</vt:lpstr>
      <vt:lpstr>Función boxplot()</vt:lpstr>
      <vt:lpstr>Función boxplot()</vt:lpstr>
      <vt:lpstr>Función barplot()  “Diagramas de Barras”</vt:lpstr>
      <vt:lpstr>Función barplot()  “Diagramas de Barras”</vt:lpstr>
      <vt:lpstr>Función barplot2()</vt:lpstr>
      <vt:lpstr>Función pie()  “Gráficos de pastel”</vt:lpstr>
      <vt:lpstr>Librería ggplot2</vt:lpstr>
      <vt:lpstr>Librería ggplot2</vt:lpstr>
      <vt:lpstr>Librería ggplot2</vt:lpstr>
      <vt:lpstr>Librería ggplot2</vt:lpstr>
      <vt:lpstr>Librería ggplot2</vt:lpstr>
      <vt:lpstr>Gráfico de dispersión con modelo de Regresión ggplot2</vt:lpstr>
      <vt:lpstr>Diapositiva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Herramientas para el Análisis Exploratorio de Datos con R</dc:title>
  <dc:creator>Andres</dc:creator>
  <cp:lastModifiedBy>Andres</cp:lastModifiedBy>
  <cp:revision>53</cp:revision>
  <dcterms:created xsi:type="dcterms:W3CDTF">2018-05-10T03:30:45Z</dcterms:created>
  <dcterms:modified xsi:type="dcterms:W3CDTF">2018-05-10T08:16:53Z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