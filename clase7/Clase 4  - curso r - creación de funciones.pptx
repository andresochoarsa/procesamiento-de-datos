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311" r:id="rId6"/>
    <p:sldId id="291" r:id="rId7"/>
    <p:sldId id="293" r:id="rId8"/>
    <p:sldId id="294" r:id="rId9"/>
    <p:sldId id="270" r:id="rId10"/>
    <p:sldId id="318" r:id="rId11"/>
    <p:sldId id="275" r:id="rId12"/>
    <p:sldId id="276" r:id="rId13"/>
    <p:sldId id="312" r:id="rId14"/>
    <p:sldId id="313" r:id="rId15"/>
    <p:sldId id="314" r:id="rId16"/>
    <p:sldId id="277" r:id="rId17"/>
    <p:sldId id="319" r:id="rId18"/>
    <p:sldId id="280" r:id="rId19"/>
    <p:sldId id="316" r:id="rId20"/>
    <p:sldId id="320" r:id="rId21"/>
    <p:sldId id="288" r:id="rId22"/>
    <p:sldId id="289" r:id="rId23"/>
    <p:sldId id="322" r:id="rId24"/>
    <p:sldId id="323" r:id="rId25"/>
    <p:sldId id="324" r:id="rId26"/>
    <p:sldId id="321" r:id="rId27"/>
    <p:sldId id="330" r:id="rId28"/>
    <p:sldId id="325" r:id="rId29"/>
    <p:sldId id="326" r:id="rId30"/>
    <p:sldId id="328" r:id="rId31"/>
    <p:sldId id="329" r:id="rId32"/>
    <p:sldId id="331" r:id="rId33"/>
  </p:sldIdLst>
  <p:sldSz cx="12188825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3971" autoAdjust="0"/>
    <p:restoredTop sz="94660"/>
  </p:normalViewPr>
  <p:slideViewPr>
    <p:cSldViewPr>
      <p:cViewPr varScale="1">
        <p:scale>
          <a:sx n="73" d="100"/>
          <a:sy n="73" d="100"/>
        </p:scale>
        <p:origin x="-666" y="-9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024" y="9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11FD187-339A-4169-A405-3634A2E4767A}" type="datetime1">
              <a:rPr lang="es-ES" smtClean="0"/>
              <a:pPr rtl="0"/>
              <a:t>06/05/2018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8ED8CD-4E4C-49AC-BDC6-2963BA49E54F}" type="slidenum">
              <a:rPr lang="es-ES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3434179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38686FD-4075-4AD9-B8F9-29CA1BFB4603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FB91549-43BF-425A-AF25-75262019208C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4239286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3962716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FB91549-43BF-425A-AF25-75262019208C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="" xmlns:p14="http://schemas.microsoft.com/office/powerpoint/2010/main" val="831741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Vista desde abajo a las nubes y al cielo azul rodeada de edificios con paredes de cristal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/>
        </p:blipFill>
        <p:spPr>
          <a:xfrm>
            <a:off x="4873625" y="0"/>
            <a:ext cx="7315200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724399"/>
          </a:xfrm>
        </p:spPr>
        <p:txBody>
          <a:bodyPr rtlCol="0">
            <a:normAutofit/>
          </a:bodyPr>
          <a:lstStyle>
            <a:lvl1pPr rtl="0">
              <a:defRPr sz="480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 smtClean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8" name="Marcador de posición de fech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2413DC-7E09-4B22-92E4-DD7EBB58F33E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9" name="Marcador de posición de pie de página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273483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D2D38E-35D9-40B0-9B3D-3E8E9EDFA407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13786258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8013" y="2590800"/>
            <a:ext cx="8229599" cy="2819400"/>
          </a:xfrm>
        </p:spPr>
        <p:txBody>
          <a:bodyPr rtlCol="0" anchor="b">
            <a:normAutofit/>
          </a:bodyPr>
          <a:lstStyle>
            <a:lvl1pPr algn="l" rtl="0">
              <a:defRPr sz="4800" b="0" cap="none" baseline="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6425" y="5410200"/>
            <a:ext cx="8231187" cy="762000"/>
          </a:xfrm>
        </p:spPr>
        <p:txBody>
          <a:bodyPr rtlCol="0" anchor="t">
            <a:normAutofit/>
          </a:bodyPr>
          <a:lstStyle>
            <a:lvl1pPr marL="0" indent="0" rtl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A0DFDB-B788-425E-826A-9981788BFC84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2251135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93813" y="685800"/>
            <a:ext cx="5029200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51614" y="685800"/>
            <a:ext cx="5029199" cy="4191000"/>
          </a:xfrm>
        </p:spPr>
        <p:txBody>
          <a:bodyPr rtlCol="0"/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8D21EB-7BA9-4596-8433-3F9378506832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8970135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93664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93664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51613" y="685800"/>
            <a:ext cx="5029200" cy="9906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50025" y="1676400"/>
            <a:ext cx="5029200" cy="3200400"/>
          </a:xfrm>
        </p:spPr>
        <p:txBody>
          <a:bodyPr rtlCol="0"/>
          <a:lstStyle>
            <a:lvl1pPr rtl="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6722B8-33DA-4E19-8244-813AF4BB1387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51309680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AA39E48-CC81-4F3E-B38E-78AF9E3DDD19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13442815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8C03EA-07B4-4B74-A9E4-45DEB2C989AA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191031189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Autofit/>
          </a:bodyPr>
          <a:lstStyle>
            <a:lvl1pPr algn="l" rtl="0">
              <a:defRPr sz="3600" b="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75212" y="685800"/>
            <a:ext cx="6704171" cy="5486400"/>
          </a:xfrm>
        </p:spPr>
        <p:txBody>
          <a:bodyPr rtlCol="0">
            <a:normAutofit/>
          </a:bodyPr>
          <a:lstStyle>
            <a:lvl1pPr rtl="0"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FCFBDD-C212-4F07-A9A8-52A49C6B398D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22347262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8014" y="685800"/>
            <a:ext cx="3962400" cy="4724400"/>
          </a:xfrm>
        </p:spPr>
        <p:txBody>
          <a:bodyPr rtlCol="0" anchor="b">
            <a:normAutofit/>
          </a:bodyPr>
          <a:lstStyle>
            <a:lvl1pPr algn="l" rtl="0">
              <a:defRPr sz="3600" b="0"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4875213" y="685800"/>
            <a:ext cx="6705600" cy="5486400"/>
          </a:xfrm>
          <a:ln w="63500">
            <a:solidFill>
              <a:schemeClr val="bg1"/>
            </a:solidFill>
            <a:miter lim="800000"/>
          </a:ln>
        </p:spPr>
        <p:txBody>
          <a:bodyPr rtlCol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08013" y="5410200"/>
            <a:ext cx="3962400" cy="762000"/>
          </a:xfrm>
        </p:spPr>
        <p:txBody>
          <a:bodyPr rtlCol="0">
            <a:normAutofit/>
          </a:bodyPr>
          <a:lstStyle>
            <a:lvl1pPr marL="0" indent="0" rtl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AA5B00-09C7-4B7A-8CDF-9B991296B47C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35204143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E7752E-D606-4F8B-9E9F-D982F1478DBD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217629468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10285412" y="685800"/>
            <a:ext cx="1295401" cy="54864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608012" y="685800"/>
            <a:ext cx="9474253" cy="5486400"/>
          </a:xfrm>
        </p:spPr>
        <p:txBody>
          <a:bodyPr vert="eaVert" rtlCol="0"/>
          <a:lstStyle>
            <a:lvl1pPr rtl="0"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s-ES" noProof="0" smtClean="0"/>
              <a:t>Haga clic para modificar el estilo de texto del patrón</a:t>
            </a:r>
          </a:p>
          <a:p>
            <a:pPr lvl="1" rtl="0"/>
            <a:r>
              <a:rPr lang="es-ES" noProof="0" smtClean="0"/>
              <a:t>Segundo nivel</a:t>
            </a:r>
          </a:p>
          <a:p>
            <a:pPr lvl="2" rtl="0"/>
            <a:r>
              <a:rPr lang="es-ES" noProof="0" smtClean="0"/>
              <a:t>Tercer nivel</a:t>
            </a:r>
          </a:p>
          <a:p>
            <a:pPr lvl="3" rtl="0"/>
            <a:r>
              <a:rPr lang="es-ES" noProof="0" smtClean="0"/>
              <a:t>Cuarto nivel</a:t>
            </a:r>
          </a:p>
          <a:p>
            <a:pPr lvl="4" rtl="0"/>
            <a:r>
              <a:rPr lang="es-ES" noProof="0" smtClean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1AA74D-3B0C-480E-8EE8-D6B4F06534F8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3F31473-23EB-4724-8B59-FE6D21D89FA4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85005245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609441" y="5105400"/>
            <a:ext cx="10971372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93813" y="685800"/>
            <a:ext cx="10287000" cy="419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Editar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6635EF74-302A-4764-BD96-22C7FA77AF5B}" type="datetime1">
              <a:rPr lang="es-ES" noProof="0" smtClean="0"/>
              <a:pPr rtl="0"/>
              <a:t>06/05/2018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A3F31473-23EB-4724-8B59-FE6D21D89FA4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="" xmlns:p14="http://schemas.microsoft.com/office/powerpoint/2010/main" val="3449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5950" indent="-28575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Corbe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80744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6479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48840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532888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16936" indent="-283464" algn="l" defTabSz="914400" rtl="0" eaLnBrk="1" latinLnBrk="0" hangingPunct="1">
        <a:lnSpc>
          <a:spcPct val="90000"/>
        </a:lnSpc>
        <a:spcBef>
          <a:spcPts val="600"/>
        </a:spcBef>
        <a:buFont typeface="Corbel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300984" indent="-228600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08013" y="685801"/>
            <a:ext cx="3962400" cy="4100521"/>
          </a:xfrm>
        </p:spPr>
        <p:txBody>
          <a:bodyPr rtlCol="0"/>
          <a:lstStyle/>
          <a:p>
            <a:r>
              <a:rPr lang="es-ES" dirty="0" smtClean="0"/>
              <a:t>Creación de funciones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08012" y="5410200"/>
            <a:ext cx="4200515" cy="762000"/>
          </a:xfrm>
        </p:spPr>
        <p:txBody>
          <a:bodyPr rtlCol="0">
            <a:normAutofit fontScale="85000" lnSpcReduction="10000"/>
          </a:bodyPr>
          <a:lstStyle/>
          <a:p>
            <a:pPr rtl="0"/>
            <a:r>
              <a:rPr lang="es-ES" dirty="0" smtClean="0"/>
              <a:t>Andrés Felipe Ochoa Muñoz</a:t>
            </a:r>
          </a:p>
          <a:p>
            <a:pPr rtl="0"/>
            <a:r>
              <a:rPr lang="es-ES" dirty="0" smtClean="0"/>
              <a:t>andres.ochoa@correounivalle.edu.co</a:t>
            </a:r>
            <a:endParaRPr lang="es-ES" dirty="0"/>
          </a:p>
        </p:txBody>
      </p:sp>
      <p:pic>
        <p:nvPicPr>
          <p:cNvPr id="1026" name="Picture 2" descr="C:\Users\Andres\Desktop\Curso R Banco 2018\R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5982" y="2928934"/>
            <a:ext cx="2274937" cy="17627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4408012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Contenido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Creación y Edición de Funciones: </a:t>
            </a:r>
            <a:r>
              <a:rPr lang="es-CO" dirty="0" err="1" smtClean="0"/>
              <a:t>function</a:t>
            </a:r>
            <a:r>
              <a:rPr lang="es-CO" dirty="0" smtClean="0"/>
              <a:t>() { }</a:t>
            </a:r>
          </a:p>
          <a:p>
            <a:r>
              <a:rPr lang="es-CO" dirty="0" smtClean="0"/>
              <a:t>Condicionales </a:t>
            </a:r>
            <a:r>
              <a:rPr lang="es-CO" dirty="0" err="1" smtClean="0"/>
              <a:t>if</a:t>
            </a:r>
            <a:r>
              <a:rPr lang="es-CO" dirty="0" smtClean="0"/>
              <a:t>()</a:t>
            </a:r>
          </a:p>
          <a:p>
            <a:r>
              <a:rPr lang="es-CO" dirty="0" smtClean="0"/>
              <a:t>Bucles: </a:t>
            </a:r>
            <a:r>
              <a:rPr lang="es-CO" dirty="0" err="1" smtClean="0"/>
              <a:t>for</a:t>
            </a:r>
            <a:r>
              <a:rPr lang="es-CO" dirty="0" smtClean="0"/>
              <a:t>(), </a:t>
            </a:r>
            <a:r>
              <a:rPr lang="es-CO" dirty="0" err="1" smtClean="0"/>
              <a:t>while</a:t>
            </a:r>
            <a:r>
              <a:rPr lang="es-CO" dirty="0" smtClean="0"/>
              <a:t>(), </a:t>
            </a:r>
            <a:r>
              <a:rPr lang="es-CO" dirty="0" err="1" smtClean="0"/>
              <a:t>repeat</a:t>
            </a:r>
            <a:endParaRPr lang="es-CO" dirty="0" smtClean="0"/>
          </a:p>
          <a:p>
            <a:r>
              <a:rPr lang="es-CO" dirty="0" smtClean="0"/>
              <a:t>La familia de funciones </a:t>
            </a:r>
            <a:r>
              <a:rPr lang="es-CO" dirty="0" err="1" smtClean="0"/>
              <a:t>apply</a:t>
            </a:r>
            <a:r>
              <a:rPr lang="es-CO" dirty="0" smtClean="0"/>
              <a:t>, </a:t>
            </a:r>
            <a:r>
              <a:rPr lang="es-CO" dirty="0" err="1" smtClean="0"/>
              <a:t>sapply</a:t>
            </a:r>
            <a:r>
              <a:rPr lang="es-CO" dirty="0" smtClean="0"/>
              <a:t>, </a:t>
            </a:r>
            <a:r>
              <a:rPr lang="es-CO" dirty="0" err="1" smtClean="0"/>
              <a:t>lapply</a:t>
            </a:r>
            <a:r>
              <a:rPr lang="es-CO" dirty="0" smtClean="0"/>
              <a:t>, </a:t>
            </a:r>
            <a:r>
              <a:rPr lang="es-CO" dirty="0" err="1" smtClean="0"/>
              <a:t>tapply</a:t>
            </a:r>
            <a:r>
              <a:rPr lang="es-CO" dirty="0" smtClean="0"/>
              <a:t>.</a:t>
            </a:r>
            <a:r>
              <a:rPr lang="es-CO" dirty="0" smtClean="0"/>
              <a:t> </a:t>
            </a:r>
          </a:p>
          <a:p>
            <a:r>
              <a:rPr lang="es-CO" dirty="0" smtClean="0"/>
              <a:t>Valores faltantes: NA (</a:t>
            </a:r>
            <a:r>
              <a:rPr lang="es-CO" dirty="0" err="1" smtClean="0"/>
              <a:t>Not</a:t>
            </a:r>
            <a:r>
              <a:rPr lang="es-CO" dirty="0" smtClean="0"/>
              <a:t> </a:t>
            </a:r>
            <a:r>
              <a:rPr lang="es-CO" dirty="0" err="1" smtClean="0"/>
              <a:t>Available</a:t>
            </a:r>
            <a:r>
              <a:rPr lang="es-CO" dirty="0" smtClean="0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36628" y="714356"/>
            <a:ext cx="10287000" cy="5500726"/>
          </a:xfrm>
        </p:spPr>
        <p:txBody>
          <a:bodyPr>
            <a:normAutofit/>
          </a:bodyPr>
          <a:lstStyle/>
          <a:p>
            <a:r>
              <a:rPr lang="es-CO" dirty="0" smtClean="0"/>
              <a:t>Las </a:t>
            </a:r>
            <a:r>
              <a:rPr lang="es-CO" dirty="0" smtClean="0">
                <a:solidFill>
                  <a:srgbClr val="FF0000"/>
                </a:solidFill>
              </a:rPr>
              <a:t>funciones</a:t>
            </a:r>
            <a:r>
              <a:rPr lang="es-CO" dirty="0" smtClean="0"/>
              <a:t> son también tipos de objetos de </a:t>
            </a:r>
            <a:r>
              <a:rPr lang="es-CO" b="1" dirty="0" smtClean="0"/>
              <a:t>R </a:t>
            </a:r>
            <a:r>
              <a:rPr lang="es-CO" dirty="0" smtClean="0"/>
              <a:t>que pueden almacenarse en el espacio de trabajo, lo que permite extender las capacidades de </a:t>
            </a:r>
            <a:r>
              <a:rPr lang="es-CO" b="1" dirty="0" smtClean="0"/>
              <a:t>R </a:t>
            </a:r>
            <a:r>
              <a:rPr lang="es-CO" dirty="0" smtClean="0"/>
              <a:t>fácilmente</a:t>
            </a:r>
          </a:p>
          <a:p>
            <a:r>
              <a:rPr lang="es-CO" b="1" dirty="0" smtClean="0">
                <a:solidFill>
                  <a:srgbClr val="FF0000"/>
                </a:solidFill>
              </a:rPr>
              <a:t>Niveles de funciones en R: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I. Funciones estadísticas disponibles por defecto, en las librerías base:</a:t>
            </a:r>
            <a:br>
              <a:rPr lang="es-CO" dirty="0" smtClean="0"/>
            </a:br>
            <a:r>
              <a:rPr lang="es-CO" b="1" dirty="0" smtClean="0">
                <a:solidFill>
                  <a:srgbClr val="0070C0"/>
                </a:solidFill>
              </a:rPr>
              <a:t>mean()</a:t>
            </a:r>
            <a:r>
              <a:rPr lang="es-CO" dirty="0" smtClean="0">
                <a:solidFill>
                  <a:srgbClr val="0070C0"/>
                </a:solidFill>
              </a:rPr>
              <a:t>, </a:t>
            </a:r>
            <a:r>
              <a:rPr lang="es-CO" b="1" dirty="0" err="1" smtClean="0">
                <a:solidFill>
                  <a:srgbClr val="0070C0"/>
                </a:solidFill>
              </a:rPr>
              <a:t>var</a:t>
            </a:r>
            <a:r>
              <a:rPr lang="es-CO" b="1" dirty="0" smtClean="0">
                <a:solidFill>
                  <a:srgbClr val="0070C0"/>
                </a:solidFill>
              </a:rPr>
              <a:t>()</a:t>
            </a:r>
            <a:r>
              <a:rPr lang="es-CO" dirty="0" smtClean="0">
                <a:solidFill>
                  <a:srgbClr val="0070C0"/>
                </a:solidFill>
              </a:rPr>
              <a:t>, </a:t>
            </a:r>
            <a:r>
              <a:rPr lang="es-CO" b="1" dirty="0" err="1" smtClean="0">
                <a:solidFill>
                  <a:srgbClr val="0070C0"/>
                </a:solidFill>
              </a:rPr>
              <a:t>sd</a:t>
            </a:r>
            <a:r>
              <a:rPr lang="es-CO" b="1" dirty="0" smtClean="0">
                <a:solidFill>
                  <a:srgbClr val="0070C0"/>
                </a:solidFill>
              </a:rPr>
              <a:t>()</a:t>
            </a:r>
            <a:r>
              <a:rPr lang="es-CO" dirty="0" smtClean="0">
                <a:solidFill>
                  <a:srgbClr val="0070C0"/>
                </a:solidFill>
              </a:rPr>
              <a:t>, </a:t>
            </a:r>
            <a:r>
              <a:rPr lang="es-CO" b="1" dirty="0" err="1" smtClean="0">
                <a:solidFill>
                  <a:srgbClr val="0070C0"/>
                </a:solidFill>
              </a:rPr>
              <a:t>cor</a:t>
            </a:r>
            <a:r>
              <a:rPr lang="es-CO" b="1" dirty="0" smtClean="0">
                <a:solidFill>
                  <a:srgbClr val="0070C0"/>
                </a:solidFill>
              </a:rPr>
              <a:t>()</a:t>
            </a:r>
            <a:r>
              <a:rPr lang="es-CO" dirty="0" smtClean="0">
                <a:solidFill>
                  <a:srgbClr val="0070C0"/>
                </a:solidFill>
              </a:rPr>
              <a:t>, </a:t>
            </a:r>
            <a:r>
              <a:rPr lang="es-CO" b="1" dirty="0" err="1" smtClean="0">
                <a:solidFill>
                  <a:srgbClr val="0070C0"/>
                </a:solidFill>
              </a:rPr>
              <a:t>table</a:t>
            </a:r>
            <a:r>
              <a:rPr lang="es-CO" b="1" dirty="0" smtClean="0">
                <a:solidFill>
                  <a:srgbClr val="0070C0"/>
                </a:solidFill>
              </a:rPr>
              <a:t>()</a:t>
            </a:r>
            <a:r>
              <a:rPr lang="es-CO" dirty="0" smtClean="0">
                <a:solidFill>
                  <a:srgbClr val="0070C0"/>
                </a:solidFill>
              </a:rPr>
              <a:t>, </a:t>
            </a:r>
            <a:r>
              <a:rPr lang="es-CO" b="1" dirty="0" err="1" smtClean="0">
                <a:solidFill>
                  <a:srgbClr val="0070C0"/>
                </a:solidFill>
              </a:rPr>
              <a:t>summary</a:t>
            </a:r>
            <a:r>
              <a:rPr lang="es-CO" b="1" dirty="0" smtClean="0">
                <a:solidFill>
                  <a:srgbClr val="0070C0"/>
                </a:solidFill>
              </a:rPr>
              <a:t>()</a:t>
            </a:r>
            <a:r>
              <a:rPr lang="es-CO" dirty="0" smtClean="0">
                <a:solidFill>
                  <a:srgbClr val="0070C0"/>
                </a:solidFill>
              </a:rPr>
              <a:t>, …</a:t>
            </a:r>
          </a:p>
          <a:p>
            <a:pPr>
              <a:buNone/>
            </a:pP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II. Funciones instaladas pero no disponibles inmediatamente.</a:t>
            </a:r>
            <a:br>
              <a:rPr lang="es-CO" dirty="0" smtClean="0"/>
            </a:br>
            <a:r>
              <a:rPr lang="es-CO" b="1" dirty="0" err="1" smtClean="0"/>
              <a:t>library</a:t>
            </a:r>
            <a:r>
              <a:rPr lang="es-CO" b="1" dirty="0" smtClean="0"/>
              <a:t>(</a:t>
            </a:r>
            <a:r>
              <a:rPr lang="es-CO" dirty="0" smtClean="0"/>
              <a:t>nombre de la librería</a:t>
            </a:r>
            <a:r>
              <a:rPr lang="es-CO" b="1" dirty="0" smtClean="0"/>
              <a:t>) ….</a:t>
            </a:r>
            <a:r>
              <a:rPr lang="es-CO" dirty="0" smtClean="0"/>
              <a:t> </a:t>
            </a:r>
            <a:r>
              <a:rPr lang="es-CO" b="1" dirty="0" smtClean="0"/>
              <a:t>nombre del paquete</a:t>
            </a:r>
            <a:r>
              <a:rPr lang="es-CO" dirty="0" smtClean="0"/>
              <a:t>.</a:t>
            </a:r>
            <a:br>
              <a:rPr lang="es-CO" dirty="0" smtClean="0"/>
            </a:br>
            <a:r>
              <a:rPr lang="es-CO" b="1" dirty="0" err="1" smtClean="0"/>
              <a:t>require</a:t>
            </a:r>
            <a:r>
              <a:rPr lang="es-CO" b="1" dirty="0" smtClean="0"/>
              <a:t>(</a:t>
            </a:r>
            <a:r>
              <a:rPr lang="es-CO" dirty="0" smtClean="0"/>
              <a:t>nombre de la librería</a:t>
            </a:r>
            <a:r>
              <a:rPr lang="es-CO" b="1" dirty="0" smtClean="0"/>
              <a:t>) …</a:t>
            </a:r>
            <a:r>
              <a:rPr lang="es-CO" dirty="0" smtClean="0"/>
              <a:t> </a:t>
            </a:r>
            <a:r>
              <a:rPr lang="es-CO" b="1" dirty="0" smtClean="0"/>
              <a:t>nombre del paquete.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Creación de funciones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500042"/>
            <a:ext cx="10015573" cy="464347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CO" dirty="0" smtClean="0"/>
              <a:t>III. Funciones no instaladas, pero se pueden descargar en las librerías.</a:t>
            </a:r>
            <a:br>
              <a:rPr lang="es-CO" dirty="0" smtClean="0"/>
            </a:br>
            <a:endParaRPr lang="es-CO" dirty="0" smtClean="0"/>
          </a:p>
          <a:p>
            <a:pPr>
              <a:buNone/>
            </a:pPr>
            <a:r>
              <a:rPr lang="es-CO" dirty="0" smtClean="0"/>
              <a:t>Para </a:t>
            </a:r>
            <a:r>
              <a:rPr lang="es-CO" dirty="0" smtClean="0"/>
              <a:t>ver paquetes instalados: </a:t>
            </a:r>
            <a:r>
              <a:rPr lang="es-CO" b="1" dirty="0" err="1" smtClean="0"/>
              <a:t>installed.packages</a:t>
            </a:r>
            <a:r>
              <a:rPr lang="es-CO" b="1" dirty="0" smtClean="0"/>
              <a:t>()</a:t>
            </a:r>
            <a:r>
              <a:rPr lang="es-CO" dirty="0" smtClean="0"/>
              <a:t>.</a:t>
            </a:r>
            <a:br>
              <a:rPr lang="es-CO" dirty="0" smtClean="0"/>
            </a:br>
            <a:endParaRPr lang="es-CO" dirty="0" smtClean="0"/>
          </a:p>
          <a:p>
            <a:pPr>
              <a:buNone/>
            </a:pPr>
            <a:r>
              <a:rPr lang="es-CO" dirty="0" smtClean="0"/>
              <a:t>Para </a:t>
            </a:r>
            <a:r>
              <a:rPr lang="es-CO" dirty="0" smtClean="0"/>
              <a:t>instalar un paquete: </a:t>
            </a:r>
            <a:r>
              <a:rPr lang="es-CO" b="1" dirty="0" err="1" smtClean="0"/>
              <a:t>install.packages</a:t>
            </a:r>
            <a:r>
              <a:rPr lang="es-CO" b="1" dirty="0" smtClean="0"/>
              <a:t>("</a:t>
            </a:r>
            <a:r>
              <a:rPr lang="es-CO" dirty="0" smtClean="0"/>
              <a:t>Nombre del paquete</a:t>
            </a:r>
            <a:r>
              <a:rPr lang="es-CO" b="1" dirty="0" smtClean="0"/>
              <a:t>")</a:t>
            </a:r>
            <a:r>
              <a:rPr lang="es-CO" dirty="0" smtClean="0"/>
              <a:t>.</a:t>
            </a:r>
            <a:br>
              <a:rPr lang="es-CO" dirty="0" smtClean="0"/>
            </a:br>
            <a:endParaRPr lang="es-CO" dirty="0" smtClean="0"/>
          </a:p>
          <a:p>
            <a:pPr>
              <a:buNone/>
            </a:pPr>
            <a:r>
              <a:rPr lang="es-CO" dirty="0" smtClean="0"/>
              <a:t>Para </a:t>
            </a:r>
            <a:r>
              <a:rPr lang="es-CO" dirty="0" smtClean="0"/>
              <a:t>actualizar paquetes: </a:t>
            </a:r>
            <a:r>
              <a:rPr lang="es-CO" b="1" dirty="0" err="1" smtClean="0"/>
              <a:t>update.packages</a:t>
            </a:r>
            <a:r>
              <a:rPr lang="es-CO" b="1" dirty="0" smtClean="0"/>
              <a:t>()</a:t>
            </a:r>
            <a:r>
              <a:rPr lang="es-CO" dirty="0" smtClean="0"/>
              <a:t>.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endParaRPr lang="es-CO" b="1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Creación de funciones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36628" y="642918"/>
            <a:ext cx="10287000" cy="45291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dirty="0" smtClean="0"/>
              <a:t>    IV. Funciones que se pueden crear por el usuario mediante algoritmos.</a:t>
            </a:r>
            <a:br>
              <a:rPr lang="es-CO" dirty="0" smtClean="0"/>
            </a:br>
            <a:r>
              <a:rPr lang="es-CO" dirty="0" smtClean="0"/>
              <a:t>Una función es un tipo de algoritmo, que describe una secuencia de</a:t>
            </a:r>
            <a:br>
              <a:rPr lang="es-CO" dirty="0" smtClean="0"/>
            </a:br>
            <a:r>
              <a:rPr lang="es-CO" dirty="0" smtClean="0"/>
              <a:t>ordenes para hacer una tarea especifica. En general toda función</a:t>
            </a:r>
            <a:br>
              <a:rPr lang="es-CO" dirty="0" smtClean="0"/>
            </a:br>
            <a:r>
              <a:rPr lang="es-CO" dirty="0" smtClean="0"/>
              <a:t>debe de tener un nombre, lista de parámetros, un algoritmo y un</a:t>
            </a:r>
            <a:br>
              <a:rPr lang="es-CO" dirty="0" smtClean="0"/>
            </a:br>
            <a:r>
              <a:rPr lang="es-CO" dirty="0" smtClean="0"/>
              <a:t>resultado: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endParaRPr lang="es-CO" dirty="0" smtClean="0"/>
          </a:p>
        </p:txBody>
      </p:sp>
      <p:sp>
        <p:nvSpPr>
          <p:cNvPr id="4" name="3 Rectángulo"/>
          <p:cNvSpPr/>
          <p:nvPr/>
        </p:nvSpPr>
        <p:spPr>
          <a:xfrm>
            <a:off x="2236760" y="3571876"/>
            <a:ext cx="1857388" cy="1071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DATOS</a:t>
            </a:r>
          </a:p>
          <a:p>
            <a:pPr algn="ctr"/>
            <a:r>
              <a:rPr lang="es-CO" dirty="0" smtClean="0"/>
              <a:t>ENTRADA</a:t>
            </a:r>
            <a:endParaRPr lang="es-CO" dirty="0"/>
          </a:p>
        </p:txBody>
      </p:sp>
      <p:sp>
        <p:nvSpPr>
          <p:cNvPr id="5" name="4 Flecha derecha"/>
          <p:cNvSpPr/>
          <p:nvPr/>
        </p:nvSpPr>
        <p:spPr>
          <a:xfrm>
            <a:off x="4451338" y="3857628"/>
            <a:ext cx="85725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5 Rectángulo"/>
          <p:cNvSpPr/>
          <p:nvPr/>
        </p:nvSpPr>
        <p:spPr>
          <a:xfrm>
            <a:off x="5451470" y="3500438"/>
            <a:ext cx="1857388" cy="11430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ALGORITMO</a:t>
            </a:r>
          </a:p>
          <a:p>
            <a:pPr algn="ctr"/>
            <a:r>
              <a:rPr lang="es-CO" dirty="0" smtClean="0"/>
              <a:t>(Conjunto de ordenes)</a:t>
            </a:r>
          </a:p>
        </p:txBody>
      </p:sp>
      <p:sp>
        <p:nvSpPr>
          <p:cNvPr id="7" name="6 Flecha derecha"/>
          <p:cNvSpPr/>
          <p:nvPr/>
        </p:nvSpPr>
        <p:spPr>
          <a:xfrm>
            <a:off x="7666048" y="3786190"/>
            <a:ext cx="857256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Rectángulo"/>
          <p:cNvSpPr/>
          <p:nvPr/>
        </p:nvSpPr>
        <p:spPr>
          <a:xfrm>
            <a:off x="8809056" y="3500438"/>
            <a:ext cx="1857388" cy="1071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smtClean="0"/>
              <a:t>RESULTADO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ES" dirty="0" smtClean="0"/>
              <a:t>Creación de funciones</a:t>
            </a:r>
            <a:endParaRPr lang="es-ES" dirty="0"/>
          </a:p>
        </p:txBody>
      </p:sp>
      <p:sp>
        <p:nvSpPr>
          <p:cNvPr id="14" name="Marcador de posición de contenido 13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4743464"/>
          </a:xfrm>
        </p:spPr>
        <p:txBody>
          <a:bodyPr rtlCol="0">
            <a:noAutofit/>
          </a:bodyPr>
          <a:lstStyle/>
          <a:p>
            <a:pPr>
              <a:buNone/>
            </a:pPr>
            <a:r>
              <a:rPr lang="es-CO" dirty="0" smtClean="0"/>
              <a:t/>
            </a:r>
            <a:br>
              <a:rPr lang="es-CO" dirty="0" smtClean="0"/>
            </a:br>
            <a:r>
              <a:rPr lang="es-CO" sz="2400" dirty="0" smtClean="0"/>
              <a:t>Para crear las funciones en R. Utilizaremos la función “</a:t>
            </a:r>
            <a:r>
              <a:rPr lang="es-CO" sz="2400" dirty="0" err="1" smtClean="0"/>
              <a:t>function</a:t>
            </a:r>
            <a:r>
              <a:rPr lang="es-CO" sz="2400" dirty="0" smtClean="0"/>
              <a:t>()”, a la cuál le colocaremos un nombre, colocaremos unos parámetros de la función, el algoritmo y sus resultados.</a:t>
            </a:r>
          </a:p>
          <a:p>
            <a:pPr>
              <a:buNone/>
            </a:pPr>
            <a:r>
              <a:rPr lang="es-CO" sz="2400" dirty="0" smtClean="0"/>
              <a:t>Ejemplo: Se quiere calcular el cuadrado de un número en particular</a:t>
            </a:r>
          </a:p>
          <a:p>
            <a:pPr>
              <a:buNone/>
            </a:pPr>
            <a:r>
              <a:rPr lang="es-CO" sz="2400" dirty="0" smtClean="0">
                <a:solidFill>
                  <a:srgbClr val="FF0000"/>
                </a:solidFill>
              </a:rPr>
              <a:t>Cuadrado &lt;- </a:t>
            </a:r>
            <a:r>
              <a:rPr lang="es-CO" sz="2400" dirty="0" err="1" smtClean="0">
                <a:solidFill>
                  <a:srgbClr val="FF0000"/>
                </a:solidFill>
              </a:rPr>
              <a:t>function</a:t>
            </a:r>
            <a:r>
              <a:rPr lang="es-CO" sz="2400" dirty="0" smtClean="0">
                <a:solidFill>
                  <a:srgbClr val="FF0000"/>
                </a:solidFill>
              </a:rPr>
              <a:t>(x) { </a:t>
            </a:r>
          </a:p>
          <a:p>
            <a:pPr>
              <a:buNone/>
            </a:pPr>
            <a:r>
              <a:rPr lang="es-CO" sz="2400" dirty="0" smtClean="0">
                <a:solidFill>
                  <a:srgbClr val="FF0000"/>
                </a:solidFill>
              </a:rPr>
              <a:t>     </a:t>
            </a:r>
            <a:r>
              <a:rPr lang="es-CO" sz="2400" dirty="0" err="1" smtClean="0">
                <a:solidFill>
                  <a:srgbClr val="FF0000"/>
                </a:solidFill>
              </a:rPr>
              <a:t>xx</a:t>
            </a:r>
            <a:r>
              <a:rPr lang="es-CO" sz="2400" dirty="0" smtClean="0">
                <a:solidFill>
                  <a:srgbClr val="FF0000"/>
                </a:solidFill>
              </a:rPr>
              <a:t> &lt;- x*x ; </a:t>
            </a:r>
            <a:r>
              <a:rPr lang="es-CO" sz="2400" dirty="0" err="1" smtClean="0">
                <a:solidFill>
                  <a:srgbClr val="FF0000"/>
                </a:solidFill>
              </a:rPr>
              <a:t>return</a:t>
            </a:r>
            <a:r>
              <a:rPr lang="es-CO" sz="2400" dirty="0" smtClean="0">
                <a:solidFill>
                  <a:srgbClr val="FF0000"/>
                </a:solidFill>
              </a:rPr>
              <a:t>(</a:t>
            </a:r>
            <a:r>
              <a:rPr lang="es-CO" sz="2400" dirty="0" err="1" smtClean="0">
                <a:solidFill>
                  <a:srgbClr val="FF0000"/>
                </a:solidFill>
              </a:rPr>
              <a:t>xx</a:t>
            </a:r>
            <a:r>
              <a:rPr lang="es-CO" sz="2400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s-CO" sz="2400" dirty="0" smtClean="0">
                <a:solidFill>
                  <a:srgbClr val="FF0000"/>
                </a:solidFill>
              </a:rPr>
              <a:t>	}  ## Importante cerrar las llaves</a:t>
            </a:r>
            <a:endParaRPr lang="es-CO" sz="2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sz="2400" dirty="0" smtClean="0">
                <a:solidFill>
                  <a:srgbClr val="FF0000"/>
                </a:solidFill>
              </a:rPr>
              <a:t>Cuadrado(5) ; Cuadrado(</a:t>
            </a:r>
            <a:r>
              <a:rPr lang="es-CO" sz="2400" dirty="0" err="1" smtClean="0">
                <a:solidFill>
                  <a:srgbClr val="FF0000"/>
                </a:solidFill>
              </a:rPr>
              <a:t>matrix</a:t>
            </a:r>
            <a:r>
              <a:rPr lang="es-CO" sz="2400" dirty="0" smtClean="0">
                <a:solidFill>
                  <a:srgbClr val="FF0000"/>
                </a:solidFill>
              </a:rPr>
              <a:t>(1:10,5,2))</a:t>
            </a:r>
            <a:endParaRPr lang="es-CO" sz="24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s-CO" sz="2000" dirty="0" smtClean="0"/>
          </a:p>
        </p:txBody>
      </p:sp>
    </p:spTree>
    <p:extLst>
      <p:ext uri="{BB962C8B-B14F-4D97-AF65-F5344CB8AC3E}">
        <p14:creationId xmlns="" xmlns:p14="http://schemas.microsoft.com/office/powerpoint/2010/main" val="112672342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Creación de Funciones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Ejemplo: Construya una función que calcule el área de un rectángulo.</a:t>
            </a:r>
          </a:p>
          <a:p>
            <a:pPr>
              <a:buNone/>
            </a:pP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</a:t>
            </a:r>
            <a:r>
              <a:rPr lang="es-CO" dirty="0" err="1" smtClean="0">
                <a:solidFill>
                  <a:srgbClr val="FF0000"/>
                </a:solidFill>
              </a:rPr>
              <a:t>area.rectangulo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&lt;- </a:t>
            </a:r>
            <a:r>
              <a:rPr lang="es-CO" dirty="0" err="1" smtClean="0">
                <a:solidFill>
                  <a:srgbClr val="FF0000"/>
                </a:solidFill>
              </a:rPr>
              <a:t>function</a:t>
            </a:r>
            <a:r>
              <a:rPr lang="es-CO" dirty="0" smtClean="0">
                <a:solidFill>
                  <a:srgbClr val="FF0000"/>
                </a:solidFill>
              </a:rPr>
              <a:t>(base, altura</a:t>
            </a:r>
            <a:r>
              <a:rPr lang="es-CO" dirty="0" smtClean="0">
                <a:solidFill>
                  <a:srgbClr val="FF0000"/>
                </a:solidFill>
              </a:rPr>
              <a:t>) {</a:t>
            </a:r>
            <a:r>
              <a:rPr lang="es-CO" dirty="0" smtClean="0">
                <a:solidFill>
                  <a:srgbClr val="FF0000"/>
                </a:solidFill>
              </a:rPr>
              <a:t/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err="1" smtClean="0">
                <a:solidFill>
                  <a:srgbClr val="FF0000"/>
                </a:solidFill>
              </a:rPr>
              <a:t>area</a:t>
            </a:r>
            <a:r>
              <a:rPr lang="es-CO" dirty="0" smtClean="0">
                <a:solidFill>
                  <a:srgbClr val="FF0000"/>
                </a:solidFill>
              </a:rPr>
              <a:t> = base*altura</a:t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err="1" smtClean="0">
                <a:solidFill>
                  <a:srgbClr val="FF0000"/>
                </a:solidFill>
              </a:rPr>
              <a:t>return</a:t>
            </a:r>
            <a:r>
              <a:rPr lang="es-CO" dirty="0" smtClean="0">
                <a:solidFill>
                  <a:srgbClr val="FF0000"/>
                </a:solidFill>
              </a:rPr>
              <a:t>(</a:t>
            </a:r>
            <a:r>
              <a:rPr lang="es-CO" dirty="0" err="1" smtClean="0">
                <a:solidFill>
                  <a:srgbClr val="FF0000"/>
                </a:solidFill>
              </a:rPr>
              <a:t>area</a:t>
            </a:r>
            <a:r>
              <a:rPr lang="es-CO" dirty="0" smtClean="0">
                <a:solidFill>
                  <a:srgbClr val="FF0000"/>
                </a:solidFill>
              </a:rPr>
              <a:t>)</a:t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smtClean="0">
                <a:solidFill>
                  <a:srgbClr val="FF0000"/>
                </a:solidFill>
              </a:rPr>
              <a:t>}</a:t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err="1" smtClean="0">
                <a:solidFill>
                  <a:srgbClr val="FF0000"/>
                </a:solidFill>
              </a:rPr>
              <a:t>area.rectangulo</a:t>
            </a:r>
            <a:r>
              <a:rPr lang="es-CO" dirty="0" smtClean="0">
                <a:solidFill>
                  <a:srgbClr val="FF0000"/>
                </a:solidFill>
              </a:rPr>
              <a:t>(7, 5) # Esta función calcula el área de un rectángulo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Creación de funciones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CO" sz="3400" dirty="0" smtClean="0"/>
              <a:t>Ejemplo: Construya una función que calcule la desviación estándar poblacional. </a:t>
            </a:r>
          </a:p>
          <a:p>
            <a:endParaRPr lang="es-CO" dirty="0" smtClean="0"/>
          </a:p>
          <a:p>
            <a:pPr>
              <a:buNone/>
            </a:pPr>
            <a:r>
              <a:rPr lang="es-CO" sz="3800" dirty="0" err="1" smtClean="0">
                <a:solidFill>
                  <a:srgbClr val="FF0000"/>
                </a:solidFill>
              </a:rPr>
              <a:t>desviacionP</a:t>
            </a:r>
            <a:r>
              <a:rPr lang="es-CO" sz="3800" dirty="0" smtClean="0">
                <a:solidFill>
                  <a:srgbClr val="FF0000"/>
                </a:solidFill>
              </a:rPr>
              <a:t> &lt;- </a:t>
            </a:r>
            <a:r>
              <a:rPr lang="es-CO" sz="3800" dirty="0" err="1" smtClean="0">
                <a:solidFill>
                  <a:srgbClr val="FF0000"/>
                </a:solidFill>
              </a:rPr>
              <a:t>function</a:t>
            </a:r>
            <a:r>
              <a:rPr lang="es-CO" sz="3800" dirty="0" smtClean="0">
                <a:solidFill>
                  <a:srgbClr val="FF0000"/>
                </a:solidFill>
              </a:rPr>
              <a:t>(x) { </a:t>
            </a:r>
            <a:r>
              <a:rPr lang="es-CO" sz="3800" dirty="0" smtClean="0">
                <a:solidFill>
                  <a:srgbClr val="FF0000"/>
                </a:solidFill>
              </a:rPr>
              <a:t>  </a:t>
            </a:r>
            <a:endParaRPr lang="es-CO" sz="3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sz="3800" dirty="0" smtClean="0">
                <a:solidFill>
                  <a:srgbClr val="FF0000"/>
                </a:solidFill>
              </a:rPr>
              <a:t>sd2 </a:t>
            </a:r>
            <a:r>
              <a:rPr lang="es-CO" sz="3800" dirty="0" smtClean="0">
                <a:solidFill>
                  <a:srgbClr val="FF0000"/>
                </a:solidFill>
              </a:rPr>
              <a:t>&lt;- </a:t>
            </a:r>
            <a:r>
              <a:rPr lang="es-CO" sz="3800" dirty="0" err="1" smtClean="0">
                <a:solidFill>
                  <a:srgbClr val="FF0000"/>
                </a:solidFill>
              </a:rPr>
              <a:t>sqrt</a:t>
            </a:r>
            <a:r>
              <a:rPr lang="es-CO" sz="3800" dirty="0" smtClean="0">
                <a:solidFill>
                  <a:srgbClr val="FF0000"/>
                </a:solidFill>
              </a:rPr>
              <a:t>(</a:t>
            </a:r>
            <a:r>
              <a:rPr lang="es-CO" sz="3800" dirty="0" err="1" smtClean="0">
                <a:solidFill>
                  <a:srgbClr val="FF0000"/>
                </a:solidFill>
              </a:rPr>
              <a:t>sum</a:t>
            </a:r>
            <a:r>
              <a:rPr lang="es-CO" sz="3800" dirty="0" smtClean="0">
                <a:solidFill>
                  <a:srgbClr val="FF0000"/>
                </a:solidFill>
              </a:rPr>
              <a:t>((x - mean(x))^2)/(</a:t>
            </a:r>
            <a:r>
              <a:rPr lang="es-CO" sz="3800" dirty="0" err="1" smtClean="0">
                <a:solidFill>
                  <a:srgbClr val="FF0000"/>
                </a:solidFill>
              </a:rPr>
              <a:t>length</a:t>
            </a:r>
            <a:r>
              <a:rPr lang="es-CO" sz="3800" dirty="0" smtClean="0">
                <a:solidFill>
                  <a:srgbClr val="FF0000"/>
                </a:solidFill>
              </a:rPr>
              <a:t>(x)))</a:t>
            </a:r>
          </a:p>
          <a:p>
            <a:pPr>
              <a:buNone/>
            </a:pPr>
            <a:r>
              <a:rPr lang="es-CO" sz="3800" dirty="0" err="1" smtClean="0">
                <a:solidFill>
                  <a:srgbClr val="FF0000"/>
                </a:solidFill>
              </a:rPr>
              <a:t>return</a:t>
            </a:r>
            <a:r>
              <a:rPr lang="es-CO" sz="3800" dirty="0" smtClean="0">
                <a:solidFill>
                  <a:srgbClr val="FF0000"/>
                </a:solidFill>
              </a:rPr>
              <a:t>(sd2)</a:t>
            </a:r>
          </a:p>
          <a:p>
            <a:pPr>
              <a:buNone/>
            </a:pPr>
            <a:r>
              <a:rPr lang="es-CO" sz="3800" dirty="0" smtClean="0">
                <a:solidFill>
                  <a:srgbClr val="FF0000"/>
                </a:solidFill>
              </a:rPr>
              <a:t>}</a:t>
            </a:r>
            <a:endParaRPr lang="es-CO" sz="3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sz="3800" dirty="0" err="1" smtClean="0">
                <a:solidFill>
                  <a:srgbClr val="FF0000"/>
                </a:solidFill>
              </a:rPr>
              <a:t>desviacionP</a:t>
            </a:r>
            <a:r>
              <a:rPr lang="es-CO" sz="3800" dirty="0" smtClean="0">
                <a:solidFill>
                  <a:srgbClr val="FF0000"/>
                </a:solidFill>
              </a:rPr>
              <a:t>(c(1:20</a:t>
            </a:r>
            <a:r>
              <a:rPr lang="es-CO" sz="3800" dirty="0" smtClean="0">
                <a:solidFill>
                  <a:srgbClr val="FF0000"/>
                </a:solidFill>
              </a:rPr>
              <a:t>))</a:t>
            </a:r>
          </a:p>
          <a:p>
            <a:pPr>
              <a:buNone/>
            </a:pPr>
            <a:r>
              <a:rPr lang="es-CO" sz="3800" dirty="0" err="1" smtClean="0">
                <a:solidFill>
                  <a:srgbClr val="FF0000"/>
                </a:solidFill>
              </a:rPr>
              <a:t>sd</a:t>
            </a:r>
            <a:r>
              <a:rPr lang="es-CO" sz="3800" dirty="0" smtClean="0">
                <a:solidFill>
                  <a:srgbClr val="FF0000"/>
                </a:solidFill>
              </a:rPr>
              <a:t>(1:20</a:t>
            </a:r>
            <a:r>
              <a:rPr lang="es-CO" sz="3800" dirty="0" smtClean="0">
                <a:solidFill>
                  <a:srgbClr val="FF0000"/>
                </a:solidFill>
              </a:rPr>
              <a:t>)  ## esta sería desviación </a:t>
            </a:r>
            <a:r>
              <a:rPr lang="es-CO" sz="3800" dirty="0" err="1" smtClean="0">
                <a:solidFill>
                  <a:srgbClr val="FF0000"/>
                </a:solidFill>
              </a:rPr>
              <a:t>estandar</a:t>
            </a:r>
            <a:r>
              <a:rPr lang="es-CO" sz="3800" dirty="0" smtClean="0">
                <a:solidFill>
                  <a:srgbClr val="FF0000"/>
                </a:solidFill>
              </a:rPr>
              <a:t> muestral dividida sobre n-1</a:t>
            </a:r>
            <a:r>
              <a:rPr lang="es-CO" dirty="0" smtClean="0">
                <a:solidFill>
                  <a:srgbClr val="FF0000"/>
                </a:solidFill>
              </a:rPr>
              <a:t/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smtClean="0"/>
              <a:t/>
            </a:r>
            <a:br>
              <a:rPr lang="es-CO" dirty="0" smtClean="0"/>
            </a:br>
            <a:endParaRPr lang="es-CO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Creación de funciones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460058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Ejemplo: Construya una función que se llame </a:t>
            </a:r>
            <a:r>
              <a:rPr lang="es-CO" dirty="0" err="1" smtClean="0"/>
              <a:t>convertidorPD</a:t>
            </a:r>
            <a:r>
              <a:rPr lang="es-CO" dirty="0" smtClean="0"/>
              <a:t>. La cuál va convertir de dólares a pesos colombianos</a:t>
            </a:r>
          </a:p>
          <a:p>
            <a:pPr>
              <a:buNone/>
            </a:pPr>
            <a:r>
              <a:rPr lang="es-CO" dirty="0" smtClean="0"/>
              <a:t>    Suponga que 1 dólar equivale a 2800 pesos colombianos.</a:t>
            </a:r>
          </a:p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dirty="0" err="1" smtClean="0">
                <a:solidFill>
                  <a:srgbClr val="FF0000"/>
                </a:solidFill>
              </a:rPr>
              <a:t>ConvertidorPD</a:t>
            </a:r>
            <a:r>
              <a:rPr lang="es-CO" dirty="0" smtClean="0">
                <a:solidFill>
                  <a:srgbClr val="FF0000"/>
                </a:solidFill>
              </a:rPr>
              <a:t> &lt;- </a:t>
            </a:r>
            <a:r>
              <a:rPr lang="es-CO" dirty="0" err="1" smtClean="0">
                <a:solidFill>
                  <a:srgbClr val="FF0000"/>
                </a:solidFill>
              </a:rPr>
              <a:t>function</a:t>
            </a:r>
            <a:r>
              <a:rPr lang="es-CO" dirty="0" smtClean="0">
                <a:solidFill>
                  <a:srgbClr val="FF0000"/>
                </a:solidFill>
              </a:rPr>
              <a:t>(x){ ##  x es el no de dólares a convertir 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x1&lt;- x*2800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paste(x," </a:t>
            </a:r>
            <a:r>
              <a:rPr lang="es-CO" dirty="0" err="1" smtClean="0">
                <a:solidFill>
                  <a:srgbClr val="FF0000"/>
                </a:solidFill>
              </a:rPr>
              <a:t>Dolares</a:t>
            </a:r>
            <a:r>
              <a:rPr lang="es-CO" dirty="0" smtClean="0">
                <a:solidFill>
                  <a:srgbClr val="FF0000"/>
                </a:solidFill>
              </a:rPr>
              <a:t>"," son", x1," Pesos Colombianos")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}</a:t>
            </a:r>
          </a:p>
          <a:p>
            <a:pPr>
              <a:buNone/>
            </a:pPr>
            <a:r>
              <a:rPr lang="es-CO" dirty="0" err="1" smtClean="0">
                <a:solidFill>
                  <a:srgbClr val="FF0000"/>
                </a:solidFill>
              </a:rPr>
              <a:t>ConvertidorPD</a:t>
            </a:r>
            <a:r>
              <a:rPr lang="es-CO" dirty="0" smtClean="0">
                <a:solidFill>
                  <a:srgbClr val="FF0000"/>
                </a:solidFill>
              </a:rPr>
              <a:t>(2.5) ; </a:t>
            </a:r>
            <a:r>
              <a:rPr lang="es-CO" dirty="0" err="1" smtClean="0">
                <a:solidFill>
                  <a:srgbClr val="FF0000"/>
                </a:solidFill>
              </a:rPr>
              <a:t>ConvertidorPD</a:t>
            </a:r>
            <a:r>
              <a:rPr lang="es-CO" dirty="0" smtClean="0">
                <a:solidFill>
                  <a:srgbClr val="FF0000"/>
                </a:solidFill>
              </a:rPr>
              <a:t>(2000)</a:t>
            </a:r>
            <a:endParaRPr lang="es-CO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Función con dos </a:t>
            </a:r>
            <a:r>
              <a:rPr lang="es-CO" dirty="0" smtClean="0"/>
              <a:t>o más argumentos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 smtClean="0"/>
              <a:t>Ejemplo: Función que calcula la potencia de un número</a:t>
            </a:r>
          </a:p>
          <a:p>
            <a:endParaRPr lang="es-CO" dirty="0" smtClean="0"/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potencia &lt;- </a:t>
            </a:r>
            <a:r>
              <a:rPr lang="es-CO" b="1" dirty="0" err="1" smtClean="0">
                <a:solidFill>
                  <a:srgbClr val="0070C0"/>
                </a:solidFill>
              </a:rPr>
              <a:t>function</a:t>
            </a:r>
            <a:r>
              <a:rPr lang="es-CO" b="1" dirty="0" smtClean="0">
                <a:solidFill>
                  <a:srgbClr val="0070C0"/>
                </a:solidFill>
              </a:rPr>
              <a:t> (x, </a:t>
            </a:r>
            <a:r>
              <a:rPr lang="es-CO" b="1" dirty="0" smtClean="0">
                <a:solidFill>
                  <a:srgbClr val="0070C0"/>
                </a:solidFill>
              </a:rPr>
              <a:t>k) </a:t>
            </a:r>
            <a:r>
              <a:rPr lang="es-CO" b="1" dirty="0" smtClean="0">
                <a:solidFill>
                  <a:srgbClr val="0070C0"/>
                </a:solidFill>
              </a:rPr>
              <a:t>{ </a:t>
            </a:r>
            <a:r>
              <a:rPr lang="es-CO" b="1" dirty="0" err="1" smtClean="0">
                <a:solidFill>
                  <a:srgbClr val="0070C0"/>
                </a:solidFill>
              </a:rPr>
              <a:t>x^k</a:t>
            </a:r>
            <a:r>
              <a:rPr lang="es-CO" b="1" dirty="0" smtClean="0">
                <a:solidFill>
                  <a:srgbClr val="0070C0"/>
                </a:solidFill>
              </a:rPr>
              <a:t>}</a:t>
            </a:r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potencia (5,2) ##  5^2</a:t>
            </a:r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x </a:t>
            </a:r>
            <a:r>
              <a:rPr lang="es-CO" b="1" dirty="0" smtClean="0">
                <a:solidFill>
                  <a:srgbClr val="0070C0"/>
                </a:solidFill>
              </a:rPr>
              <a:t>&lt;- </a:t>
            </a:r>
            <a:r>
              <a:rPr lang="es-CO" b="1" dirty="0" smtClean="0">
                <a:solidFill>
                  <a:srgbClr val="0070C0"/>
                </a:solidFill>
              </a:rPr>
              <a:t>c(2,3,4)</a:t>
            </a:r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potencia(x</a:t>
            </a:r>
            <a:r>
              <a:rPr lang="es-CO" b="1" dirty="0" smtClean="0">
                <a:solidFill>
                  <a:srgbClr val="0070C0"/>
                </a:solidFill>
              </a:rPr>
              <a:t>, 3)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47434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   Modificar </a:t>
            </a:r>
            <a:r>
              <a:rPr lang="es-CO" b="1" dirty="0" smtClean="0">
                <a:solidFill>
                  <a:srgbClr val="0070C0"/>
                </a:solidFill>
              </a:rPr>
              <a:t>funciones </a:t>
            </a:r>
            <a:r>
              <a:rPr lang="es-CO" b="1" dirty="0" err="1" smtClean="0">
                <a:solidFill>
                  <a:srgbClr val="0070C0"/>
                </a:solidFill>
              </a:rPr>
              <a:t>fix</a:t>
            </a:r>
            <a:r>
              <a:rPr lang="es-CO" b="1" dirty="0" smtClean="0">
                <a:solidFill>
                  <a:srgbClr val="0070C0"/>
                </a:solidFill>
              </a:rPr>
              <a:t>()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 La función </a:t>
            </a:r>
            <a:r>
              <a:rPr lang="es-CO" dirty="0" err="1" smtClean="0"/>
              <a:t>fix</a:t>
            </a:r>
            <a:r>
              <a:rPr lang="es-CO" dirty="0" smtClean="0"/>
              <a:t>() permite crear una función o editar una función ya existente, </a:t>
            </a:r>
            <a:r>
              <a:rPr lang="es-CO" dirty="0" smtClean="0"/>
              <a:t>y reemplazarla </a:t>
            </a:r>
            <a:r>
              <a:rPr lang="es-CO" dirty="0" smtClean="0"/>
              <a:t>por una nueva versión. 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 </a:t>
            </a:r>
            <a:r>
              <a:rPr lang="es-CO" dirty="0" smtClean="0"/>
              <a:t>   Si </a:t>
            </a:r>
            <a:r>
              <a:rPr lang="es-CO" dirty="0" smtClean="0"/>
              <a:t>se teclea </a:t>
            </a:r>
            <a:r>
              <a:rPr lang="es-CO" dirty="0" err="1" smtClean="0">
                <a:solidFill>
                  <a:srgbClr val="FF0000"/>
                </a:solidFill>
              </a:rPr>
              <a:t>fix</a:t>
            </a:r>
            <a:r>
              <a:rPr lang="es-CO" dirty="0" smtClean="0">
                <a:solidFill>
                  <a:srgbClr val="FF0000"/>
                </a:solidFill>
              </a:rPr>
              <a:t>(potencia)</a:t>
            </a:r>
            <a:r>
              <a:rPr lang="es-CO" dirty="0" smtClean="0"/>
              <a:t>, se abre una </a:t>
            </a:r>
            <a:r>
              <a:rPr lang="es-CO" dirty="0" smtClean="0"/>
              <a:t>ventana de </a:t>
            </a:r>
            <a:r>
              <a:rPr lang="es-CO" dirty="0" smtClean="0"/>
              <a:t>edición en la que aparece la función especificada lista para ser editada. Una vez modificada, los cambios introducidos quedan automáticamente almacenados en la </a:t>
            </a:r>
            <a:r>
              <a:rPr lang="es-CO" dirty="0" smtClean="0"/>
              <a:t>función “potencia</a:t>
            </a:r>
            <a:r>
              <a:rPr lang="es-CO" dirty="0" smtClean="0"/>
              <a:t>”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 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>
                <a:solidFill>
                  <a:srgbClr val="FF0000"/>
                </a:solidFill>
              </a:rPr>
              <a:t>¿ Como acceder al código fuente de las funciones de </a:t>
            </a:r>
            <a:r>
              <a:rPr lang="es-CO" dirty="0" smtClean="0">
                <a:solidFill>
                  <a:srgbClr val="FF0000"/>
                </a:solidFill>
              </a:rPr>
              <a:t>R?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4314836"/>
          </a:xfrm>
        </p:spPr>
        <p:txBody>
          <a:bodyPr/>
          <a:lstStyle/>
          <a:p>
            <a:r>
              <a:rPr lang="es-CO" dirty="0" smtClean="0"/>
              <a:t>Para acceder al código fuente </a:t>
            </a:r>
            <a:r>
              <a:rPr lang="es-CO" dirty="0" smtClean="0"/>
              <a:t>de función de R, </a:t>
            </a:r>
            <a:r>
              <a:rPr lang="es-CO" dirty="0" smtClean="0"/>
              <a:t>simplemente se ejecuta </a:t>
            </a:r>
            <a:r>
              <a:rPr lang="es-CO" dirty="0" smtClean="0"/>
              <a:t>la función en la consola </a:t>
            </a:r>
            <a:r>
              <a:rPr lang="es-CO" dirty="0" smtClean="0"/>
              <a:t>y automáticamente se genera </a:t>
            </a:r>
            <a:r>
              <a:rPr lang="es-CO" dirty="0" smtClean="0"/>
              <a:t>el </a:t>
            </a:r>
            <a:r>
              <a:rPr lang="es-CO" dirty="0" smtClean="0"/>
              <a:t>código de </a:t>
            </a:r>
            <a:r>
              <a:rPr lang="es-CO" dirty="0" smtClean="0"/>
              <a:t>como fue programada dicha </a:t>
            </a:r>
            <a:r>
              <a:rPr lang="es-CO" dirty="0" smtClean="0"/>
              <a:t>función</a:t>
            </a:r>
          </a:p>
          <a:p>
            <a:pPr>
              <a:buNone/>
            </a:pPr>
            <a:r>
              <a:rPr lang="es-CO" dirty="0" smtClean="0"/>
              <a:t>   </a:t>
            </a:r>
            <a:r>
              <a:rPr lang="es-CO" dirty="0" err="1" smtClean="0"/>
              <a:t>library</a:t>
            </a:r>
            <a:r>
              <a:rPr lang="es-CO" dirty="0" smtClean="0"/>
              <a:t>(ade4</a:t>
            </a:r>
            <a:r>
              <a:rPr lang="es-CO" dirty="0" smtClean="0"/>
              <a:t>)</a:t>
            </a:r>
          </a:p>
          <a:p>
            <a:pPr>
              <a:buNone/>
            </a:pPr>
            <a:r>
              <a:rPr lang="es-CO" dirty="0" smtClean="0"/>
              <a:t>   dudi.pca  ## función para realizar un Análisis de Componentes #Principales con la librería ade4</a:t>
            </a:r>
            <a:endParaRPr lang="es-CO" dirty="0" smtClean="0"/>
          </a:p>
          <a:p>
            <a:r>
              <a:rPr lang="es-CO" dirty="0" smtClean="0">
                <a:hlinkClick r:id="rId2"/>
              </a:rPr>
              <a:t>https://github.com/</a:t>
            </a:r>
            <a:endParaRPr lang="es-CO" dirty="0" smtClean="0"/>
          </a:p>
          <a:p>
            <a:r>
              <a:rPr lang="es-CO" dirty="0" smtClean="0"/>
              <a:t>Una pagina donde muchos usuarios comparten sus </a:t>
            </a:r>
            <a:r>
              <a:rPr lang="es-CO" dirty="0" err="1" smtClean="0"/>
              <a:t>fuciones</a:t>
            </a:r>
            <a:r>
              <a:rPr lang="es-CO" dirty="0" smtClean="0"/>
              <a:t>.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Condicionales </a:t>
            </a:r>
            <a:r>
              <a:rPr lang="es-CO" dirty="0" err="1" smtClean="0"/>
              <a:t>if</a:t>
            </a:r>
            <a:r>
              <a:rPr lang="es-CO" dirty="0" smtClean="0"/>
              <a:t>() {}  </a:t>
            </a:r>
            <a:r>
              <a:rPr lang="es-CO" dirty="0" err="1" smtClean="0"/>
              <a:t>else</a:t>
            </a:r>
            <a:r>
              <a:rPr lang="es-CO" dirty="0" smtClean="0"/>
              <a:t> {}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79438" y="685800"/>
            <a:ext cx="10701375" cy="4171960"/>
          </a:xfrm>
        </p:spPr>
        <p:txBody>
          <a:bodyPr>
            <a:normAutofit/>
          </a:bodyPr>
          <a:lstStyle/>
          <a:p>
            <a:r>
              <a:rPr lang="es-CO" dirty="0" smtClean="0"/>
              <a:t>Estas construcciones </a:t>
            </a:r>
            <a:r>
              <a:rPr lang="es-CO" dirty="0" smtClean="0">
                <a:solidFill>
                  <a:srgbClr val="FF0000"/>
                </a:solidFill>
              </a:rPr>
              <a:t>son semejantes a las de otros lenguajes de </a:t>
            </a:r>
            <a:r>
              <a:rPr lang="es-CO" dirty="0" smtClean="0">
                <a:solidFill>
                  <a:srgbClr val="FF0000"/>
                </a:solidFill>
              </a:rPr>
              <a:t>programación</a:t>
            </a:r>
            <a:r>
              <a:rPr lang="es-CO" dirty="0" smtClean="0"/>
              <a:t>, con una salvedad que puede ser capitalizada por los usuarios del </a:t>
            </a:r>
            <a:r>
              <a:rPr lang="es-CO" dirty="0" smtClean="0"/>
              <a:t>lenguaje</a:t>
            </a:r>
            <a:r>
              <a:rPr lang="es-CO" dirty="0" smtClean="0"/>
              <a:t>: la construcción en sí misma regresa un valor, que puede, si se quiere, </a:t>
            </a:r>
            <a:r>
              <a:rPr lang="es-CO" dirty="0" smtClean="0"/>
              <a:t>ser asignado </a:t>
            </a:r>
            <a:r>
              <a:rPr lang="es-CO" dirty="0" smtClean="0"/>
              <a:t>a una variable o utilizado de otras maneras</a:t>
            </a:r>
            <a:r>
              <a:rPr lang="es-CO" dirty="0" smtClean="0"/>
              <a:t>.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err="1" smtClean="0"/>
              <a:t>aa</a:t>
            </a:r>
            <a:r>
              <a:rPr lang="en-US" dirty="0" smtClean="0"/>
              <a:t> </a:t>
            </a:r>
            <a:r>
              <a:rPr lang="en-US" dirty="0" smtClean="0"/>
              <a:t>&lt;- 15</a:t>
            </a:r>
          </a:p>
          <a:p>
            <a:pPr>
              <a:buNone/>
            </a:pPr>
            <a:r>
              <a:rPr lang="en-US" dirty="0" smtClean="0"/>
              <a:t>   if </a:t>
            </a:r>
            <a:r>
              <a:rPr lang="en-US" dirty="0" smtClean="0"/>
              <a:t>(</a:t>
            </a:r>
            <a:r>
              <a:rPr lang="en-US" dirty="0" err="1" smtClean="0"/>
              <a:t>aa</a:t>
            </a:r>
            <a:r>
              <a:rPr lang="en-US" dirty="0" smtClean="0"/>
              <a:t> &gt; 14</a:t>
            </a:r>
            <a:r>
              <a:rPr lang="en-US" dirty="0" smtClean="0"/>
              <a:t>)  { # </a:t>
            </a:r>
            <a:r>
              <a:rPr lang="en-US" dirty="0" smtClean="0"/>
              <a:t>if sin else</a:t>
            </a:r>
          </a:p>
          <a:p>
            <a:pPr>
              <a:buNone/>
            </a:pPr>
            <a:r>
              <a:rPr lang="en-US" dirty="0" smtClean="0"/>
              <a:t>   print</a:t>
            </a:r>
            <a:r>
              <a:rPr lang="en-US" dirty="0" smtClean="0"/>
              <a:t>("SI MAYOR</a:t>
            </a:r>
            <a:r>
              <a:rPr lang="en-US" dirty="0" smtClean="0"/>
              <a:t>") }</a:t>
            </a:r>
            <a:endParaRPr lang="en-US" dirty="0" smtClean="0"/>
          </a:p>
          <a:p>
            <a:endParaRPr lang="es-CO" dirty="0" smtClean="0"/>
          </a:p>
          <a:p>
            <a:endParaRPr lang="es-CO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Condicionales </a:t>
            </a:r>
            <a:r>
              <a:rPr lang="es-CO" dirty="0" err="1" smtClean="0"/>
              <a:t>if</a:t>
            </a:r>
            <a:r>
              <a:rPr lang="es-CO" dirty="0" smtClean="0"/>
              <a:t>() {}  </a:t>
            </a:r>
            <a:r>
              <a:rPr lang="es-CO" dirty="0" err="1" smtClean="0"/>
              <a:t>else</a:t>
            </a:r>
            <a:r>
              <a:rPr lang="es-CO" dirty="0" smtClean="0"/>
              <a:t> </a:t>
            </a:r>
            <a:r>
              <a:rPr lang="es-CO" dirty="0" smtClean="0"/>
              <a:t>{}  o función </a:t>
            </a:r>
            <a:r>
              <a:rPr lang="es-CO" dirty="0" err="1" smtClean="0"/>
              <a:t>ifelse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4386274"/>
          </a:xfrm>
        </p:spPr>
        <p:txBody>
          <a:bodyPr/>
          <a:lstStyle/>
          <a:p>
            <a:r>
              <a:rPr lang="es-CO" dirty="0" smtClean="0"/>
              <a:t>Ejemplo: Si se tiene un vector x, si x&gt;2 entonces x </a:t>
            </a:r>
            <a:r>
              <a:rPr lang="es-CO" dirty="0" err="1" smtClean="0"/>
              <a:t>multipliquelo</a:t>
            </a:r>
            <a:r>
              <a:rPr lang="es-CO" dirty="0" smtClean="0"/>
              <a:t> por 3, si no cumple condición entonces iguale x a cero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  </a:t>
            </a:r>
            <a:r>
              <a:rPr lang="es-CO" dirty="0" smtClean="0">
                <a:solidFill>
                  <a:srgbClr val="FF0000"/>
                </a:solidFill>
              </a:rPr>
              <a:t>  x </a:t>
            </a:r>
            <a:r>
              <a:rPr lang="es-CO" dirty="0" smtClean="0">
                <a:solidFill>
                  <a:srgbClr val="FF0000"/>
                </a:solidFill>
              </a:rPr>
              <a:t>&lt;- 3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</a:t>
            </a:r>
            <a:r>
              <a:rPr lang="es-CO" dirty="0" err="1" smtClean="0">
                <a:solidFill>
                  <a:srgbClr val="FF0000"/>
                </a:solidFill>
              </a:rPr>
              <a:t>if</a:t>
            </a:r>
            <a:r>
              <a:rPr lang="es-CO" dirty="0" smtClean="0">
                <a:solidFill>
                  <a:srgbClr val="FF0000"/>
                </a:solidFill>
              </a:rPr>
              <a:t>(x </a:t>
            </a:r>
            <a:r>
              <a:rPr lang="es-CO" dirty="0" smtClean="0">
                <a:solidFill>
                  <a:srgbClr val="FF0000"/>
                </a:solidFill>
              </a:rPr>
              <a:t>&gt;2 ){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y </a:t>
            </a:r>
            <a:r>
              <a:rPr lang="es-CO" dirty="0" smtClean="0">
                <a:solidFill>
                  <a:srgbClr val="FF0000"/>
                </a:solidFill>
              </a:rPr>
              <a:t>&lt;- 3*x; y} 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err="1" smtClean="0">
                <a:solidFill>
                  <a:srgbClr val="FF0000"/>
                </a:solidFill>
              </a:rPr>
              <a:t>else</a:t>
            </a:r>
            <a:r>
              <a:rPr lang="es-CO" dirty="0" smtClean="0">
                <a:solidFill>
                  <a:srgbClr val="FF0000"/>
                </a:solidFill>
              </a:rPr>
              <a:t> {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y </a:t>
            </a:r>
            <a:r>
              <a:rPr lang="es-CO" dirty="0" smtClean="0">
                <a:solidFill>
                  <a:srgbClr val="FF0000"/>
                </a:solidFill>
              </a:rPr>
              <a:t>&lt;- </a:t>
            </a:r>
            <a:r>
              <a:rPr lang="es-CO" dirty="0" smtClean="0">
                <a:solidFill>
                  <a:srgbClr val="FF0000"/>
                </a:solidFill>
              </a:rPr>
              <a:t>0; </a:t>
            </a:r>
            <a:r>
              <a:rPr lang="es-CO" dirty="0" smtClean="0">
                <a:solidFill>
                  <a:srgbClr val="FF0000"/>
                </a:solidFill>
              </a:rPr>
              <a:t>y}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</a:t>
            </a:r>
            <a:r>
              <a:rPr lang="es-CO" dirty="0" err="1" smtClean="0">
                <a:solidFill>
                  <a:srgbClr val="FF0000"/>
                </a:solidFill>
              </a:rPr>
              <a:t>ifelse</a:t>
            </a:r>
            <a:r>
              <a:rPr lang="es-CO" dirty="0" smtClean="0">
                <a:solidFill>
                  <a:srgbClr val="FF0000"/>
                </a:solidFill>
              </a:rPr>
              <a:t>(x&gt;2,3*x,0)  ## equivalente a lo anterior</a:t>
            </a:r>
            <a:endParaRPr lang="es-CO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93686" y="714356"/>
            <a:ext cx="10929942" cy="557216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es-CO" dirty="0" smtClean="0"/>
          </a:p>
          <a:p>
            <a:pPr>
              <a:buNone/>
            </a:pPr>
            <a:r>
              <a:rPr lang="es-CO" sz="6000" dirty="0" smtClean="0"/>
              <a:t>   La </a:t>
            </a:r>
            <a:r>
              <a:rPr lang="es-CO" sz="6000" dirty="0" smtClean="0"/>
              <a:t>función </a:t>
            </a:r>
            <a:r>
              <a:rPr lang="es-CO" sz="6000" dirty="0" err="1" smtClean="0"/>
              <a:t>if</a:t>
            </a:r>
            <a:r>
              <a:rPr lang="es-CO" sz="6000" dirty="0" smtClean="0"/>
              <a:t>(),se utiliza a menudo dentro de funciones definidas por el usuario. Por </a:t>
            </a:r>
            <a:r>
              <a:rPr lang="es-CO" sz="6000" dirty="0" smtClean="0"/>
              <a:t>ejemplo:</a:t>
            </a:r>
            <a:endParaRPr lang="es-CO" sz="6000" dirty="0" smtClean="0"/>
          </a:p>
          <a:p>
            <a:pPr>
              <a:buNone/>
            </a:pPr>
            <a:r>
              <a:rPr lang="es-CO" dirty="0" err="1" smtClean="0">
                <a:solidFill>
                  <a:srgbClr val="FF0000"/>
                </a:solidFill>
              </a:rPr>
              <a:t>corgraf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&lt;- </a:t>
            </a:r>
            <a:r>
              <a:rPr lang="es-CO" dirty="0" err="1" smtClean="0">
                <a:solidFill>
                  <a:srgbClr val="FF0000"/>
                </a:solidFill>
              </a:rPr>
              <a:t>function</a:t>
            </a:r>
            <a:r>
              <a:rPr lang="es-CO" dirty="0" smtClean="0">
                <a:solidFill>
                  <a:srgbClr val="FF0000"/>
                </a:solidFill>
              </a:rPr>
              <a:t> (</a:t>
            </a:r>
            <a:r>
              <a:rPr lang="es-CO" dirty="0" err="1" smtClean="0">
                <a:solidFill>
                  <a:srgbClr val="FF0000"/>
                </a:solidFill>
              </a:rPr>
              <a:t>x,y,graf</a:t>
            </a:r>
            <a:r>
              <a:rPr lang="es-CO" dirty="0" smtClean="0">
                <a:solidFill>
                  <a:srgbClr val="FF0000"/>
                </a:solidFill>
              </a:rPr>
              <a:t>) {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</a:t>
            </a:r>
            <a:r>
              <a:rPr lang="es-CO" dirty="0" err="1" smtClean="0">
                <a:solidFill>
                  <a:srgbClr val="FF0000"/>
                </a:solidFill>
              </a:rPr>
              <a:t>if</a:t>
            </a:r>
            <a:r>
              <a:rPr lang="es-CO" dirty="0" smtClean="0">
                <a:solidFill>
                  <a:srgbClr val="FF0000"/>
                </a:solidFill>
              </a:rPr>
              <a:t> (</a:t>
            </a:r>
            <a:r>
              <a:rPr lang="es-CO" dirty="0" err="1" smtClean="0">
                <a:solidFill>
                  <a:srgbClr val="FF0000"/>
                </a:solidFill>
              </a:rPr>
              <a:t>graf</a:t>
            </a:r>
            <a:r>
              <a:rPr lang="es-CO" dirty="0" smtClean="0">
                <a:solidFill>
                  <a:srgbClr val="FF0000"/>
                </a:solidFill>
              </a:rPr>
              <a:t>==TRUE) {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</a:t>
            </a:r>
            <a:r>
              <a:rPr lang="es-CO" dirty="0" err="1" smtClean="0">
                <a:solidFill>
                  <a:srgbClr val="FF0000"/>
                </a:solidFill>
              </a:rPr>
              <a:t>plot</a:t>
            </a:r>
            <a:r>
              <a:rPr lang="es-CO" dirty="0" smtClean="0">
                <a:solidFill>
                  <a:srgbClr val="FF0000"/>
                </a:solidFill>
              </a:rPr>
              <a:t>(</a:t>
            </a:r>
            <a:r>
              <a:rPr lang="es-CO" dirty="0" err="1" smtClean="0">
                <a:solidFill>
                  <a:srgbClr val="FF0000"/>
                </a:solidFill>
              </a:rPr>
              <a:t>x,y</a:t>
            </a:r>
            <a:r>
              <a:rPr lang="es-CO" dirty="0" smtClean="0">
                <a:solidFill>
                  <a:srgbClr val="FF0000"/>
                </a:solidFill>
              </a:rPr>
              <a:t>) } </a:t>
            </a:r>
            <a:r>
              <a:rPr lang="es-CO" dirty="0" err="1" smtClean="0">
                <a:solidFill>
                  <a:srgbClr val="FF0000"/>
                </a:solidFill>
              </a:rPr>
              <a:t>else</a:t>
            </a:r>
            <a:r>
              <a:rPr lang="es-CO" dirty="0" smtClean="0">
                <a:solidFill>
                  <a:srgbClr val="FF0000"/>
                </a:solidFill>
              </a:rPr>
              <a:t> {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	</a:t>
            </a:r>
            <a:r>
              <a:rPr lang="es-CO" dirty="0" err="1" smtClean="0">
                <a:solidFill>
                  <a:srgbClr val="FF0000"/>
                </a:solidFill>
              </a:rPr>
              <a:t>cor</a:t>
            </a:r>
            <a:r>
              <a:rPr lang="es-CO" dirty="0" smtClean="0">
                <a:solidFill>
                  <a:srgbClr val="FF0000"/>
                </a:solidFill>
              </a:rPr>
              <a:t>(</a:t>
            </a:r>
            <a:r>
              <a:rPr lang="es-CO" dirty="0" err="1" smtClean="0">
                <a:solidFill>
                  <a:srgbClr val="FF0000"/>
                </a:solidFill>
              </a:rPr>
              <a:t>x,y</a:t>
            </a:r>
            <a:r>
              <a:rPr lang="es-CO" dirty="0" smtClean="0">
                <a:solidFill>
                  <a:srgbClr val="FF0000"/>
                </a:solidFill>
              </a:rPr>
              <a:t>) 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	}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</a:t>
            </a:r>
            <a:r>
              <a:rPr lang="es-CO" dirty="0" smtClean="0">
                <a:solidFill>
                  <a:srgbClr val="FF0000"/>
                </a:solidFill>
              </a:rPr>
              <a:t>}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err="1" smtClean="0"/>
              <a:t>corgraf</a:t>
            </a:r>
            <a:r>
              <a:rPr lang="es-CO" dirty="0" smtClean="0"/>
              <a:t>(</a:t>
            </a:r>
            <a:r>
              <a:rPr lang="es-CO" dirty="0" err="1" smtClean="0"/>
              <a:t>runif</a:t>
            </a:r>
            <a:r>
              <a:rPr lang="es-CO" dirty="0" smtClean="0"/>
              <a:t>(20),</a:t>
            </a:r>
            <a:r>
              <a:rPr lang="es-CO" dirty="0" err="1" smtClean="0"/>
              <a:t>runif</a:t>
            </a:r>
            <a:r>
              <a:rPr lang="es-CO" dirty="0" smtClean="0"/>
              <a:t>(20),TRUE) </a:t>
            </a:r>
            <a:r>
              <a:rPr lang="es-CO" dirty="0" smtClean="0"/>
              <a:t> ## </a:t>
            </a:r>
            <a:r>
              <a:rPr lang="es-CO" dirty="0" smtClean="0"/>
              <a:t>Representa </a:t>
            </a:r>
            <a:r>
              <a:rPr lang="es-CO" dirty="0" smtClean="0"/>
              <a:t>gráficamente </a:t>
            </a:r>
            <a:r>
              <a:rPr lang="es-CO" dirty="0" smtClean="0"/>
              <a:t>los vectores</a:t>
            </a:r>
          </a:p>
          <a:p>
            <a:pPr>
              <a:buNone/>
            </a:pPr>
            <a:r>
              <a:rPr lang="es-CO" dirty="0" err="1" smtClean="0"/>
              <a:t>corgraf</a:t>
            </a:r>
            <a:r>
              <a:rPr lang="es-CO" dirty="0" smtClean="0"/>
              <a:t>(</a:t>
            </a:r>
            <a:r>
              <a:rPr lang="es-CO" dirty="0" err="1" smtClean="0"/>
              <a:t>runif</a:t>
            </a:r>
            <a:r>
              <a:rPr lang="es-CO" dirty="0" smtClean="0"/>
              <a:t>(20),</a:t>
            </a:r>
            <a:r>
              <a:rPr lang="es-CO" dirty="0" err="1" smtClean="0"/>
              <a:t>runif</a:t>
            </a:r>
            <a:r>
              <a:rPr lang="es-CO" dirty="0" smtClean="0"/>
              <a:t>(20),FALSE) </a:t>
            </a:r>
            <a:r>
              <a:rPr lang="es-CO" dirty="0" smtClean="0"/>
              <a:t> ## </a:t>
            </a:r>
            <a:r>
              <a:rPr lang="es-CO" dirty="0" smtClean="0"/>
              <a:t>solo se imprime el valor del coeficiente de correlación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65124" y="4429132"/>
            <a:ext cx="10971372" cy="1066800"/>
          </a:xfrm>
        </p:spPr>
        <p:txBody>
          <a:bodyPr/>
          <a:lstStyle/>
          <a:p>
            <a:r>
              <a:rPr lang="es-CO" dirty="0" smtClean="0"/>
              <a:t>Condicionales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4243398"/>
          </a:xfrm>
        </p:spPr>
        <p:txBody>
          <a:bodyPr>
            <a:normAutofit/>
          </a:bodyPr>
          <a:lstStyle/>
          <a:p>
            <a:r>
              <a:rPr lang="es-CO" dirty="0" smtClean="0"/>
              <a:t>Ejercicio:</a:t>
            </a:r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>   Mejore el convertidor de dólares a pesos colombianos, cuando se seleccione un parámetro = TRUE y cuando sea = FALSE. Realice la conversión de pesos colombianos a dólares.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93813" y="685800"/>
            <a:ext cx="10287000" cy="517209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CO" dirty="0" smtClean="0"/>
              <a:t>    ConvertidorPD2 </a:t>
            </a:r>
            <a:r>
              <a:rPr lang="es-CO" dirty="0" smtClean="0"/>
              <a:t>&lt;- </a:t>
            </a:r>
            <a:r>
              <a:rPr lang="es-CO" dirty="0" err="1" smtClean="0"/>
              <a:t>function</a:t>
            </a:r>
            <a:r>
              <a:rPr lang="es-CO" dirty="0" smtClean="0"/>
              <a:t>(</a:t>
            </a:r>
            <a:r>
              <a:rPr lang="es-CO" dirty="0" err="1" smtClean="0"/>
              <a:t>x,y</a:t>
            </a:r>
            <a:r>
              <a:rPr lang="es-CO" dirty="0" smtClean="0"/>
              <a:t>){ ## Y== true </a:t>
            </a:r>
            <a:r>
              <a:rPr lang="es-CO" dirty="0" err="1" smtClean="0"/>
              <a:t>dolares</a:t>
            </a:r>
            <a:r>
              <a:rPr lang="es-CO" dirty="0" smtClean="0"/>
              <a:t> a </a:t>
            </a:r>
            <a:r>
              <a:rPr lang="es-CO" dirty="0" smtClean="0"/>
              <a:t>pesos #colombianos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	</a:t>
            </a:r>
            <a:r>
              <a:rPr lang="es-CO" dirty="0" err="1" smtClean="0"/>
              <a:t>if</a:t>
            </a:r>
            <a:r>
              <a:rPr lang="es-CO" dirty="0" smtClean="0"/>
              <a:t>(y==TRUE) { </a:t>
            </a:r>
          </a:p>
          <a:p>
            <a:pPr>
              <a:buNone/>
            </a:pPr>
            <a:r>
              <a:rPr lang="es-CO" dirty="0" smtClean="0"/>
              <a:t>	x1&lt;- x*2800</a:t>
            </a:r>
          </a:p>
          <a:p>
            <a:pPr>
              <a:buNone/>
            </a:pPr>
            <a:r>
              <a:rPr lang="es-CO" dirty="0" smtClean="0"/>
              <a:t>	paste(x," </a:t>
            </a:r>
            <a:r>
              <a:rPr lang="es-CO" dirty="0" err="1" smtClean="0"/>
              <a:t>Dolares</a:t>
            </a:r>
            <a:r>
              <a:rPr lang="es-CO" dirty="0" smtClean="0"/>
              <a:t> son", x1," Pesos Colombianos") } </a:t>
            </a:r>
            <a:r>
              <a:rPr lang="es-CO" dirty="0" err="1" smtClean="0"/>
              <a:t>else</a:t>
            </a:r>
            <a:r>
              <a:rPr lang="es-CO" dirty="0" smtClean="0"/>
              <a:t> { </a:t>
            </a:r>
          </a:p>
          <a:p>
            <a:pPr>
              <a:buNone/>
            </a:pPr>
            <a:r>
              <a:rPr lang="es-CO" dirty="0" smtClean="0"/>
              <a:t>	x2&lt;- round(x/2800,4)</a:t>
            </a:r>
          </a:p>
          <a:p>
            <a:pPr>
              <a:buNone/>
            </a:pPr>
            <a:r>
              <a:rPr lang="es-CO" dirty="0" smtClean="0"/>
              <a:t>	paste(x," Pesos Colombianos son",x2," </a:t>
            </a:r>
            <a:r>
              <a:rPr lang="es-CO" dirty="0" err="1" smtClean="0"/>
              <a:t>Dolares</a:t>
            </a:r>
            <a:r>
              <a:rPr lang="es-CO" dirty="0" smtClean="0"/>
              <a:t>") }</a:t>
            </a:r>
          </a:p>
          <a:p>
            <a:pPr>
              <a:buNone/>
            </a:pPr>
            <a:r>
              <a:rPr lang="es-CO" dirty="0" smtClean="0"/>
              <a:t>}</a:t>
            </a:r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>ConvertidorPD2(1000,FALSE) ; ConvertidorPD2(2000,TRUE)</a:t>
            </a:r>
          </a:p>
          <a:p>
            <a:endParaRPr lang="es-CO" dirty="0" smtClean="0"/>
          </a:p>
          <a:p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3686" y="4857760"/>
            <a:ext cx="10971372" cy="1066800"/>
          </a:xfrm>
        </p:spPr>
        <p:txBody>
          <a:bodyPr/>
          <a:lstStyle/>
          <a:p>
            <a:r>
              <a:rPr lang="es-CO" dirty="0" smtClean="0">
                <a:solidFill>
                  <a:srgbClr val="0070C0"/>
                </a:solidFill>
              </a:rPr>
              <a:t>Ciclo </a:t>
            </a:r>
            <a:r>
              <a:rPr lang="es-CO" dirty="0" err="1" smtClean="0">
                <a:solidFill>
                  <a:srgbClr val="0070C0"/>
                </a:solidFill>
              </a:rPr>
              <a:t>for</a:t>
            </a:r>
            <a:r>
              <a:rPr lang="es-CO" dirty="0" smtClean="0">
                <a:solidFill>
                  <a:srgbClr val="0070C0"/>
                </a:solidFill>
              </a:rPr>
              <a:t>()</a:t>
            </a:r>
            <a:endParaRPr lang="es-CO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CO" dirty="0" smtClean="0"/>
              <a:t>Sirve para </a:t>
            </a:r>
            <a:r>
              <a:rPr lang="es-CO" b="1" dirty="0" smtClean="0">
                <a:solidFill>
                  <a:srgbClr val="0070C0"/>
                </a:solidFill>
              </a:rPr>
              <a:t>realizar una acción repetida un número determinado de</a:t>
            </a:r>
            <a:br>
              <a:rPr lang="es-CO" b="1" dirty="0" smtClean="0">
                <a:solidFill>
                  <a:srgbClr val="0070C0"/>
                </a:solidFill>
              </a:rPr>
            </a:br>
            <a:r>
              <a:rPr lang="es-CO" b="1" dirty="0" smtClean="0">
                <a:solidFill>
                  <a:srgbClr val="0070C0"/>
                </a:solidFill>
              </a:rPr>
              <a:t>veces. </a:t>
            </a:r>
            <a:endParaRPr lang="es-CO" b="1" dirty="0" smtClean="0">
              <a:solidFill>
                <a:srgbClr val="0070C0"/>
              </a:solidFill>
            </a:endParaRPr>
          </a:p>
          <a:p>
            <a:r>
              <a:rPr lang="es-CO" dirty="0" smtClean="0"/>
              <a:t>Si </a:t>
            </a:r>
            <a:r>
              <a:rPr lang="es-CO" dirty="0" smtClean="0"/>
              <a:t>sabemos a priori el número de iteraciones la instrucción en </a:t>
            </a:r>
            <a:r>
              <a:rPr lang="es-CO" b="1" dirty="0" smtClean="0"/>
              <a:t>R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es: </a:t>
            </a:r>
            <a:r>
              <a:rPr lang="es-CO" b="1" dirty="0" err="1" smtClean="0">
                <a:solidFill>
                  <a:srgbClr val="FF0000"/>
                </a:solidFill>
              </a:rPr>
              <a:t>for</a:t>
            </a:r>
            <a:r>
              <a:rPr lang="es-CO" b="1" dirty="0" smtClean="0">
                <a:solidFill>
                  <a:srgbClr val="FF0000"/>
                </a:solidFill>
              </a:rPr>
              <a:t>(</a:t>
            </a:r>
            <a:r>
              <a:rPr lang="es-CO" dirty="0" smtClean="0">
                <a:solidFill>
                  <a:srgbClr val="FF0000"/>
                </a:solidFill>
              </a:rPr>
              <a:t>contador </a:t>
            </a:r>
            <a:r>
              <a:rPr lang="es-CO" b="1" dirty="0" smtClean="0">
                <a:solidFill>
                  <a:srgbClr val="FF0000"/>
                </a:solidFill>
              </a:rPr>
              <a:t>in </a:t>
            </a:r>
            <a:r>
              <a:rPr lang="es-CO" dirty="0" smtClean="0">
                <a:solidFill>
                  <a:srgbClr val="FF0000"/>
                </a:solidFill>
              </a:rPr>
              <a:t>inicio</a:t>
            </a:r>
            <a:r>
              <a:rPr lang="es-CO" b="1" dirty="0" smtClean="0">
                <a:solidFill>
                  <a:srgbClr val="FF0000"/>
                </a:solidFill>
              </a:rPr>
              <a:t>: </a:t>
            </a:r>
            <a:r>
              <a:rPr lang="es-CO" dirty="0" smtClean="0">
                <a:solidFill>
                  <a:srgbClr val="FF0000"/>
                </a:solidFill>
              </a:rPr>
              <a:t>fin</a:t>
            </a:r>
            <a:r>
              <a:rPr lang="es-CO" b="1" dirty="0" smtClean="0">
                <a:solidFill>
                  <a:srgbClr val="FF0000"/>
                </a:solidFill>
              </a:rPr>
              <a:t>){</a:t>
            </a:r>
            <a:r>
              <a:rPr lang="es-CO" dirty="0" smtClean="0">
                <a:solidFill>
                  <a:srgbClr val="FF0000"/>
                </a:solidFill>
              </a:rPr>
              <a:t>acción</a:t>
            </a:r>
            <a:r>
              <a:rPr lang="es-CO" b="1" dirty="0" smtClean="0">
                <a:solidFill>
                  <a:srgbClr val="FF0000"/>
                </a:solidFill>
              </a:rPr>
              <a:t>}</a:t>
            </a:r>
          </a:p>
          <a:p>
            <a:r>
              <a:rPr lang="es-CO" b="1" dirty="0" smtClean="0"/>
              <a:t>Ejemplo: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err="1" smtClean="0"/>
              <a:t>for</a:t>
            </a:r>
            <a:r>
              <a:rPr lang="es-CO" dirty="0" smtClean="0"/>
              <a:t> (i in 1:5)</a:t>
            </a:r>
            <a:br>
              <a:rPr lang="es-CO" dirty="0" smtClean="0"/>
            </a:br>
            <a:r>
              <a:rPr lang="es-CO" dirty="0" smtClean="0"/>
              <a:t>{</a:t>
            </a:r>
            <a:br>
              <a:rPr lang="es-CO" dirty="0" smtClean="0"/>
            </a:br>
            <a:r>
              <a:rPr lang="es-CO" dirty="0" err="1" smtClean="0"/>
              <a:t>print</a:t>
            </a:r>
            <a:r>
              <a:rPr lang="es-CO" dirty="0" smtClean="0"/>
              <a:t>(i^2)</a:t>
            </a:r>
            <a:br>
              <a:rPr lang="es-CO" dirty="0" smtClean="0"/>
            </a:br>
            <a:r>
              <a:rPr lang="es-CO" dirty="0" smtClean="0"/>
              <a:t>}</a:t>
            </a: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93686" y="4786322"/>
            <a:ext cx="10971372" cy="1066800"/>
          </a:xfrm>
        </p:spPr>
        <p:txBody>
          <a:bodyPr/>
          <a:lstStyle/>
          <a:p>
            <a:r>
              <a:rPr lang="es-CO" dirty="0" smtClean="0">
                <a:solidFill>
                  <a:srgbClr val="0070C0"/>
                </a:solidFill>
              </a:rPr>
              <a:t>Ciclo </a:t>
            </a:r>
            <a:r>
              <a:rPr lang="es-CO" dirty="0" err="1" smtClean="0">
                <a:solidFill>
                  <a:srgbClr val="0070C0"/>
                </a:solidFill>
              </a:rPr>
              <a:t>for</a:t>
            </a:r>
            <a:r>
              <a:rPr lang="es-CO" dirty="0" smtClean="0">
                <a:solidFill>
                  <a:srgbClr val="0070C0"/>
                </a:solidFill>
              </a:rPr>
              <a:t>()</a:t>
            </a:r>
            <a:endParaRPr lang="es-CO" dirty="0">
              <a:solidFill>
                <a:srgbClr val="0070C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736562" y="714356"/>
            <a:ext cx="10701375" cy="4457712"/>
          </a:xfrm>
        </p:spPr>
        <p:txBody>
          <a:bodyPr>
            <a:normAutofit fontScale="77500" lnSpcReduction="20000"/>
          </a:bodyPr>
          <a:lstStyle/>
          <a:p>
            <a:r>
              <a:rPr lang="es-CO" sz="3600" dirty="0" smtClean="0"/>
              <a:t>Ejemplo: Si se tiene el </a:t>
            </a:r>
            <a:r>
              <a:rPr lang="es-CO" sz="3600" dirty="0" smtClean="0"/>
              <a:t>vector y &lt;-c(3,3,3,5,5,5,8,8,8</a:t>
            </a:r>
            <a:r>
              <a:rPr lang="es-CO" sz="3600" dirty="0" smtClean="0"/>
              <a:t>), codifique los valores de y iguales 5 como “a” y los diferentes como “b”.</a:t>
            </a:r>
          </a:p>
          <a:p>
            <a:endParaRPr lang="es-CO" dirty="0" smtClean="0"/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y </a:t>
            </a:r>
            <a:r>
              <a:rPr lang="es-CO" dirty="0" smtClean="0">
                <a:solidFill>
                  <a:srgbClr val="FF0000"/>
                </a:solidFill>
              </a:rPr>
              <a:t>&lt;-c(3,3,3,5,5,5,8,8,8</a:t>
            </a:r>
            <a:r>
              <a:rPr lang="es-CO" dirty="0" smtClean="0">
                <a:solidFill>
                  <a:srgbClr val="FF0000"/>
                </a:solidFill>
              </a:rPr>
              <a:t>)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err="1" smtClean="0">
                <a:solidFill>
                  <a:srgbClr val="FF0000"/>
                </a:solidFill>
              </a:rPr>
              <a:t>for</a:t>
            </a:r>
            <a:r>
              <a:rPr lang="es-CO" dirty="0" smtClean="0">
                <a:solidFill>
                  <a:srgbClr val="FF0000"/>
                </a:solidFill>
              </a:rPr>
              <a:t>(j in 1:length(y</a:t>
            </a:r>
            <a:r>
              <a:rPr lang="es-CO" dirty="0" smtClean="0">
                <a:solidFill>
                  <a:srgbClr val="FF0000"/>
                </a:solidFill>
              </a:rPr>
              <a:t>)){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</a:t>
            </a:r>
            <a:r>
              <a:rPr lang="es-CO" dirty="0" smtClean="0">
                <a:solidFill>
                  <a:srgbClr val="FF0000"/>
                </a:solidFill>
              </a:rPr>
              <a:t>   </a:t>
            </a:r>
            <a:r>
              <a:rPr lang="es-CO" dirty="0" err="1" smtClean="0">
                <a:solidFill>
                  <a:srgbClr val="FF0000"/>
                </a:solidFill>
              </a:rPr>
              <a:t>if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(y[j]==5</a:t>
            </a:r>
            <a:r>
              <a:rPr lang="es-CO" dirty="0" smtClean="0">
                <a:solidFill>
                  <a:srgbClr val="FF0000"/>
                </a:solidFill>
              </a:rPr>
              <a:t>){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</a:t>
            </a:r>
            <a:r>
              <a:rPr lang="es-CO" dirty="0" smtClean="0">
                <a:solidFill>
                  <a:srgbClr val="FF0000"/>
                </a:solidFill>
              </a:rPr>
              <a:t>  y[j</a:t>
            </a:r>
            <a:r>
              <a:rPr lang="es-CO" dirty="0" smtClean="0">
                <a:solidFill>
                  <a:srgbClr val="FF0000"/>
                </a:solidFill>
              </a:rPr>
              <a:t>]="a"} </a:t>
            </a:r>
            <a:r>
              <a:rPr lang="es-CO" dirty="0" err="1" smtClean="0">
                <a:solidFill>
                  <a:srgbClr val="FF0000"/>
                </a:solidFill>
              </a:rPr>
              <a:t>else</a:t>
            </a:r>
            <a:r>
              <a:rPr lang="es-CO" dirty="0" smtClean="0">
                <a:solidFill>
                  <a:srgbClr val="FF0000"/>
                </a:solidFill>
              </a:rPr>
              <a:t>{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		y[j]="b</a:t>
            </a:r>
            <a:r>
              <a:rPr lang="es-CO" dirty="0" smtClean="0">
                <a:solidFill>
                  <a:srgbClr val="FF0000"/>
                </a:solidFill>
              </a:rPr>
              <a:t>"}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 </a:t>
            </a:r>
            <a:r>
              <a:rPr lang="es-CO" dirty="0" smtClean="0">
                <a:solidFill>
                  <a:srgbClr val="FF0000"/>
                </a:solidFill>
              </a:rPr>
              <a:t>	</a:t>
            </a:r>
            <a:r>
              <a:rPr lang="es-CO" dirty="0" smtClean="0">
                <a:solidFill>
                  <a:srgbClr val="FF0000"/>
                </a:solidFill>
              </a:rPr>
              <a:t>}</a:t>
            </a: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y </a:t>
            </a:r>
            <a:endParaRPr lang="es-CO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Ciclo </a:t>
            </a:r>
            <a:r>
              <a:rPr lang="es-CO" dirty="0" err="1" smtClean="0"/>
              <a:t>while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 smtClean="0"/>
              <a:t>Sirve para realizar una acción repetida un número determinado de</a:t>
            </a:r>
            <a:br>
              <a:rPr lang="es-CO" dirty="0" smtClean="0"/>
            </a:br>
            <a:r>
              <a:rPr lang="es-CO" dirty="0" smtClean="0"/>
              <a:t>veces. Si el número de iteraciones depende de los cálculos que se</a:t>
            </a:r>
            <a:br>
              <a:rPr lang="es-CO" dirty="0" smtClean="0"/>
            </a:br>
            <a:r>
              <a:rPr lang="es-CO" dirty="0" smtClean="0"/>
              <a:t>efectúen en el propio ciclo la instrucción adecuada en </a:t>
            </a:r>
            <a:r>
              <a:rPr lang="es-CO" b="1" dirty="0" smtClean="0"/>
              <a:t>R </a:t>
            </a:r>
            <a:r>
              <a:rPr lang="es-CO" dirty="0" smtClean="0"/>
              <a:t>es:</a:t>
            </a:r>
            <a:br>
              <a:rPr lang="es-CO" dirty="0" smtClean="0"/>
            </a:br>
            <a:r>
              <a:rPr lang="es-CO" b="1" dirty="0" err="1" smtClean="0">
                <a:solidFill>
                  <a:srgbClr val="FF0000"/>
                </a:solidFill>
              </a:rPr>
              <a:t>while</a:t>
            </a:r>
            <a:r>
              <a:rPr lang="es-CO" b="1" dirty="0" smtClean="0">
                <a:solidFill>
                  <a:srgbClr val="FF0000"/>
                </a:solidFill>
              </a:rPr>
              <a:t>(</a:t>
            </a:r>
            <a:r>
              <a:rPr lang="es-CO" dirty="0" smtClean="0">
                <a:solidFill>
                  <a:srgbClr val="FF0000"/>
                </a:solidFill>
              </a:rPr>
              <a:t>condición</a:t>
            </a:r>
            <a:r>
              <a:rPr lang="es-CO" b="1" dirty="0" smtClean="0">
                <a:solidFill>
                  <a:srgbClr val="FF0000"/>
                </a:solidFill>
              </a:rPr>
              <a:t>){</a:t>
            </a:r>
            <a:r>
              <a:rPr lang="es-CO" dirty="0" smtClean="0">
                <a:solidFill>
                  <a:srgbClr val="FF0000"/>
                </a:solidFill>
              </a:rPr>
              <a:t>acción</a:t>
            </a:r>
            <a:r>
              <a:rPr lang="es-CO" b="1" dirty="0" smtClean="0">
                <a:solidFill>
                  <a:srgbClr val="FF0000"/>
                </a:solidFill>
              </a:rPr>
              <a:t>}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Ejemplo: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 &lt;- 4</a:t>
            </a:r>
          </a:p>
          <a:p>
            <a:pPr>
              <a:buNone/>
            </a:pPr>
            <a:r>
              <a:rPr lang="en-US" dirty="0" smtClean="0"/>
              <a:t>while (a &lt; 5 ) {</a:t>
            </a:r>
          </a:p>
          <a:p>
            <a:pPr>
              <a:buNone/>
            </a:pPr>
            <a:r>
              <a:rPr lang="en-US" dirty="0" smtClean="0"/>
              <a:t>a &lt;- </a:t>
            </a:r>
            <a:r>
              <a:rPr lang="en-US" dirty="0" smtClean="0"/>
              <a:t>a+1; print </a:t>
            </a:r>
            <a:r>
              <a:rPr lang="en-US" dirty="0" smtClean="0"/>
              <a:t>(a)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6165850" y="2714620"/>
            <a:ext cx="3071834" cy="2071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/>
              <a:t>a &lt;- 2</a:t>
            </a:r>
          </a:p>
          <a:p>
            <a:r>
              <a:rPr lang="en-US" sz="2800" dirty="0" smtClean="0"/>
              <a:t>while (a &lt; 5 ) {</a:t>
            </a:r>
          </a:p>
          <a:p>
            <a:r>
              <a:rPr lang="en-US" sz="2800" dirty="0" smtClean="0"/>
              <a:t>a &lt;- a+1; print (a)</a:t>
            </a:r>
          </a:p>
          <a:p>
            <a:r>
              <a:rPr lang="en-US" sz="2800" dirty="0" smtClean="0"/>
              <a:t>}</a:t>
            </a:r>
            <a:endParaRPr lang="es-CO" sz="2800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Ciclo </a:t>
            </a:r>
            <a:r>
              <a:rPr lang="es-CO" dirty="0" err="1" smtClean="0"/>
              <a:t>while</a:t>
            </a:r>
            <a:r>
              <a:rPr lang="es-CO" dirty="0" smtClean="0"/>
              <a:t>()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dirty="0" smtClean="0">
                <a:solidFill>
                  <a:srgbClr val="FF0000"/>
                </a:solidFill>
              </a:rPr>
              <a:t>Repeticiones mientras se cumple una condición</a:t>
            </a:r>
            <a:endParaRPr lang="es-CO" dirty="0" smtClean="0">
              <a:solidFill>
                <a:srgbClr val="FF0000"/>
              </a:solidFill>
            </a:endParaRPr>
          </a:p>
          <a:p>
            <a:endParaRPr lang="es-CO" dirty="0" smtClean="0"/>
          </a:p>
          <a:p>
            <a:pPr>
              <a:buNone/>
            </a:pPr>
            <a:r>
              <a:rPr lang="es-CO" dirty="0" smtClean="0"/>
              <a:t> letras </a:t>
            </a:r>
            <a:r>
              <a:rPr lang="es-CO" dirty="0" smtClean="0"/>
              <a:t>&lt;- c</a:t>
            </a:r>
            <a:r>
              <a:rPr lang="es-CO" dirty="0" smtClean="0"/>
              <a:t>("a", "b", "c", "d", "e", "f")</a:t>
            </a:r>
            <a:endParaRPr lang="es-CO" dirty="0" smtClean="0"/>
          </a:p>
          <a:p>
            <a:pPr>
              <a:buNone/>
            </a:pPr>
            <a:r>
              <a:rPr lang="es-CO" dirty="0" smtClean="0"/>
              <a:t>  i </a:t>
            </a:r>
            <a:r>
              <a:rPr lang="es-CO" dirty="0" smtClean="0"/>
              <a:t>&lt;- 1</a:t>
            </a:r>
          </a:p>
          <a:p>
            <a:pPr>
              <a:buNone/>
            </a:pPr>
            <a:r>
              <a:rPr lang="es-CO" dirty="0" smtClean="0"/>
              <a:t>  </a:t>
            </a:r>
            <a:r>
              <a:rPr lang="es-CO" dirty="0" err="1" smtClean="0"/>
              <a:t>while</a:t>
            </a:r>
            <a:r>
              <a:rPr lang="es-CO" dirty="0" smtClean="0"/>
              <a:t> </a:t>
            </a:r>
            <a:r>
              <a:rPr lang="es-CO" dirty="0" smtClean="0"/>
              <a:t>(i &lt;= 6) {</a:t>
            </a:r>
          </a:p>
          <a:p>
            <a:pPr>
              <a:buNone/>
            </a:pPr>
            <a:r>
              <a:rPr lang="es-CO" dirty="0" err="1" smtClean="0"/>
              <a:t>print</a:t>
            </a:r>
            <a:r>
              <a:rPr lang="es-CO" dirty="0" smtClean="0"/>
              <a:t>(letras[i])</a:t>
            </a:r>
          </a:p>
          <a:p>
            <a:pPr>
              <a:buNone/>
            </a:pPr>
            <a:r>
              <a:rPr lang="es-CO" dirty="0" smtClean="0"/>
              <a:t>i &lt;- i + 1</a:t>
            </a:r>
          </a:p>
          <a:p>
            <a:pPr>
              <a:buNone/>
            </a:pPr>
            <a:r>
              <a:rPr lang="es-CO" dirty="0" smtClean="0"/>
              <a:t>}</a:t>
            </a:r>
          </a:p>
          <a:p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Ciclo </a:t>
            </a:r>
            <a:r>
              <a:rPr lang="es-CO" dirty="0" err="1" smtClean="0"/>
              <a:t>repeat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50876" y="685800"/>
            <a:ext cx="10629937" cy="4814902"/>
          </a:xfrm>
        </p:spPr>
        <p:txBody>
          <a:bodyPr>
            <a:noAutofit/>
          </a:bodyPr>
          <a:lstStyle/>
          <a:p>
            <a:r>
              <a:rPr lang="es-CO" sz="2400" dirty="0" smtClean="0"/>
              <a:t>Sirve para realizar una acción repetida un número determinado </a:t>
            </a:r>
            <a:r>
              <a:rPr lang="es-CO" sz="2400" dirty="0" smtClean="0"/>
              <a:t>de veces</a:t>
            </a:r>
            <a:r>
              <a:rPr lang="es-CO" sz="2400" dirty="0" smtClean="0"/>
              <a:t>. El comando </a:t>
            </a:r>
            <a:r>
              <a:rPr lang="es-CO" sz="2400" b="1" dirty="0" err="1" smtClean="0"/>
              <a:t>repeat</a:t>
            </a:r>
            <a:r>
              <a:rPr lang="es-CO" sz="2400" b="1" dirty="0" smtClean="0"/>
              <a:t>() </a:t>
            </a:r>
            <a:r>
              <a:rPr lang="es-CO" sz="2400" dirty="0" smtClean="0"/>
              <a:t>repite una sucesión de comandos </a:t>
            </a:r>
            <a:r>
              <a:rPr lang="es-CO" sz="2400" dirty="0" smtClean="0"/>
              <a:t>hasta que </a:t>
            </a:r>
            <a:r>
              <a:rPr lang="es-CO" sz="2400" dirty="0" smtClean="0"/>
              <a:t>se ejecuta la función </a:t>
            </a:r>
            <a:r>
              <a:rPr lang="es-CO" sz="2400" b="1" dirty="0" smtClean="0">
                <a:solidFill>
                  <a:srgbClr val="FF0000"/>
                </a:solidFill>
              </a:rPr>
              <a:t>break</a:t>
            </a:r>
            <a:r>
              <a:rPr lang="es-CO" sz="2400" dirty="0" smtClean="0">
                <a:solidFill>
                  <a:srgbClr val="FF0000"/>
                </a:solidFill>
              </a:rPr>
              <a:t>: </a:t>
            </a:r>
            <a:r>
              <a:rPr lang="es-CO" sz="2400" b="1" dirty="0" err="1" smtClean="0">
                <a:solidFill>
                  <a:srgbClr val="FF0000"/>
                </a:solidFill>
              </a:rPr>
              <a:t>repeat</a:t>
            </a:r>
            <a:r>
              <a:rPr lang="es-CO" sz="2400" b="1" dirty="0" smtClean="0">
                <a:solidFill>
                  <a:srgbClr val="FF0000"/>
                </a:solidFill>
              </a:rPr>
              <a:t>{acción … break </a:t>
            </a:r>
            <a:r>
              <a:rPr lang="es-CO" sz="2400" b="1" dirty="0" smtClean="0">
                <a:solidFill>
                  <a:srgbClr val="FF0000"/>
                </a:solidFill>
              </a:rPr>
              <a:t>...}</a:t>
            </a:r>
            <a:endParaRPr lang="es-CO" sz="2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sz="2400" dirty="0" smtClean="0"/>
              <a:t>Ejemplo:</a:t>
            </a:r>
          </a:p>
          <a:p>
            <a:pPr>
              <a:buNone/>
            </a:pPr>
            <a:r>
              <a:rPr lang="es-CO" sz="1800" dirty="0" smtClean="0"/>
              <a:t>x &lt;- 2; y&lt;-</a:t>
            </a:r>
            <a:r>
              <a:rPr lang="es-CO" sz="1800" dirty="0" smtClean="0"/>
              <a:t>0</a:t>
            </a:r>
            <a:endParaRPr lang="es-CO" sz="1800" dirty="0" smtClean="0"/>
          </a:p>
          <a:p>
            <a:pPr>
              <a:buNone/>
            </a:pPr>
            <a:r>
              <a:rPr lang="es-CO" sz="1800" dirty="0" err="1" smtClean="0"/>
              <a:t>repeat</a:t>
            </a:r>
            <a:r>
              <a:rPr lang="es-CO" sz="1800" dirty="0" smtClean="0"/>
              <a:t> { </a:t>
            </a:r>
          </a:p>
          <a:p>
            <a:pPr>
              <a:buNone/>
            </a:pPr>
            <a:r>
              <a:rPr lang="es-CO" sz="1800" dirty="0" smtClean="0"/>
              <a:t>y &lt;- x^2+1</a:t>
            </a:r>
          </a:p>
          <a:p>
            <a:pPr>
              <a:buNone/>
            </a:pPr>
            <a:r>
              <a:rPr lang="es-CO" sz="1800" dirty="0" err="1" smtClean="0"/>
              <a:t>if</a:t>
            </a:r>
            <a:r>
              <a:rPr lang="es-CO" sz="1800" dirty="0" smtClean="0"/>
              <a:t>(y&gt;30) break</a:t>
            </a:r>
          </a:p>
          <a:p>
            <a:pPr>
              <a:buNone/>
            </a:pPr>
            <a:r>
              <a:rPr lang="es-CO" sz="1800" dirty="0" err="1" smtClean="0"/>
              <a:t>print</a:t>
            </a:r>
            <a:r>
              <a:rPr lang="es-CO" sz="1800" dirty="0" smtClean="0"/>
              <a:t>(y)</a:t>
            </a:r>
          </a:p>
          <a:p>
            <a:pPr>
              <a:buNone/>
            </a:pPr>
            <a:r>
              <a:rPr lang="es-CO" sz="1800" dirty="0" smtClean="0"/>
              <a:t>x &lt;- </a:t>
            </a:r>
            <a:r>
              <a:rPr lang="es-CO" sz="1800" dirty="0" smtClean="0"/>
              <a:t>x+1 }</a:t>
            </a:r>
            <a:endParaRPr lang="es-CO" sz="1800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Familia de funciones </a:t>
            </a:r>
            <a:r>
              <a:rPr lang="es-CO" dirty="0" err="1" smtClean="0">
                <a:solidFill>
                  <a:srgbClr val="FF0000"/>
                </a:solidFill>
              </a:rPr>
              <a:t>apply</a:t>
            </a:r>
            <a:r>
              <a:rPr lang="es-CO" dirty="0" smtClean="0"/>
              <a:t>, </a:t>
            </a:r>
            <a:r>
              <a:rPr lang="es-CO" dirty="0" err="1" smtClean="0"/>
              <a:t>sapply</a:t>
            </a:r>
            <a:r>
              <a:rPr lang="es-CO" dirty="0" smtClean="0"/>
              <a:t>, </a:t>
            </a:r>
            <a:r>
              <a:rPr lang="es-CO" dirty="0" err="1" smtClean="0"/>
              <a:t>lapply</a:t>
            </a:r>
            <a:r>
              <a:rPr lang="es-CO" dirty="0" smtClean="0"/>
              <a:t>, </a:t>
            </a:r>
            <a:r>
              <a:rPr lang="es-CO" dirty="0" err="1" smtClean="0"/>
              <a:t>tapply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08000" y="685800"/>
            <a:ext cx="10772813" cy="41909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   </a:t>
            </a:r>
            <a:r>
              <a:rPr lang="es-CO" dirty="0" err="1" smtClean="0">
                <a:solidFill>
                  <a:srgbClr val="FF0000"/>
                </a:solidFill>
              </a:rPr>
              <a:t>apply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() </a:t>
            </a:r>
            <a:r>
              <a:rPr lang="es-CO" dirty="0" smtClean="0"/>
              <a:t>permite la ejecución de funciones sobre partes de una matriz (o </a:t>
            </a:r>
            <a:r>
              <a:rPr lang="es-CO" dirty="0" err="1" smtClean="0"/>
              <a:t>array</a:t>
            </a:r>
            <a:r>
              <a:rPr lang="es-CO" dirty="0" smtClean="0"/>
              <a:t>); sólo </a:t>
            </a:r>
            <a:r>
              <a:rPr lang="es-CO" dirty="0" smtClean="0"/>
              <a:t>será necesario indicar la función a ejecutar (suma, producto, media, varianza…) </a:t>
            </a:r>
            <a:r>
              <a:rPr lang="es-CO" dirty="0" smtClean="0"/>
              <a:t>y si </a:t>
            </a:r>
            <a:r>
              <a:rPr lang="es-CO" dirty="0" smtClean="0"/>
              <a:t>ésta se aplicará sobre las filas de la matriz (1), o sobre las columnas (2)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>
                <a:solidFill>
                  <a:srgbClr val="FF0000"/>
                </a:solidFill>
              </a:rPr>
              <a:t>x &lt;- </a:t>
            </a:r>
            <a:r>
              <a:rPr lang="es-CO" dirty="0" err="1" smtClean="0">
                <a:solidFill>
                  <a:srgbClr val="FF0000"/>
                </a:solidFill>
              </a:rPr>
              <a:t>matrix</a:t>
            </a:r>
            <a:r>
              <a:rPr lang="es-CO" dirty="0" smtClean="0">
                <a:solidFill>
                  <a:srgbClr val="FF0000"/>
                </a:solidFill>
              </a:rPr>
              <a:t> (1:8, </a:t>
            </a:r>
            <a:r>
              <a:rPr lang="es-CO" dirty="0" err="1" smtClean="0">
                <a:solidFill>
                  <a:srgbClr val="FF0000"/>
                </a:solidFill>
              </a:rPr>
              <a:t>ncol</a:t>
            </a:r>
            <a:r>
              <a:rPr lang="es-CO" dirty="0" smtClean="0">
                <a:solidFill>
                  <a:srgbClr val="FF0000"/>
                </a:solidFill>
              </a:rPr>
              <a:t> = 2)</a:t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smtClean="0">
                <a:solidFill>
                  <a:srgbClr val="FF0000"/>
                </a:solidFill>
              </a:rPr>
              <a:t>x</a:t>
            </a:r>
            <a:r>
              <a:rPr lang="es-CO" dirty="0" smtClean="0">
                <a:solidFill>
                  <a:srgbClr val="FF0000"/>
                </a:solidFill>
              </a:rPr>
              <a:t/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err="1" smtClean="0">
                <a:solidFill>
                  <a:srgbClr val="FF0000"/>
                </a:solidFill>
              </a:rPr>
              <a:t>apply</a:t>
            </a:r>
            <a:r>
              <a:rPr lang="es-CO" dirty="0" smtClean="0">
                <a:solidFill>
                  <a:srgbClr val="FF0000"/>
                </a:solidFill>
              </a:rPr>
              <a:t> (x, 1, </a:t>
            </a:r>
            <a:r>
              <a:rPr lang="es-CO" dirty="0" err="1" smtClean="0">
                <a:solidFill>
                  <a:srgbClr val="FF0000"/>
                </a:solidFill>
              </a:rPr>
              <a:t>sum</a:t>
            </a:r>
            <a:r>
              <a:rPr lang="es-CO" dirty="0" smtClean="0">
                <a:solidFill>
                  <a:srgbClr val="FF0000"/>
                </a:solidFill>
              </a:rPr>
              <a:t>)# suma los valores de las filas de x</a:t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err="1" smtClean="0">
                <a:solidFill>
                  <a:srgbClr val="FF0000"/>
                </a:solidFill>
              </a:rPr>
              <a:t>apply</a:t>
            </a:r>
            <a:r>
              <a:rPr lang="es-CO" dirty="0" smtClean="0">
                <a:solidFill>
                  <a:srgbClr val="FF0000"/>
                </a:solidFill>
              </a:rPr>
              <a:t> (x, 2, </a:t>
            </a:r>
            <a:r>
              <a:rPr lang="es-CO" dirty="0" err="1" smtClean="0">
                <a:solidFill>
                  <a:srgbClr val="FF0000"/>
                </a:solidFill>
              </a:rPr>
              <a:t>prod</a:t>
            </a:r>
            <a:r>
              <a:rPr lang="es-CO" dirty="0" smtClean="0">
                <a:solidFill>
                  <a:srgbClr val="FF0000"/>
                </a:solidFill>
              </a:rPr>
              <a:t>)# multiplica los valores de </a:t>
            </a:r>
            <a:r>
              <a:rPr lang="es-CO" dirty="0" smtClean="0">
                <a:solidFill>
                  <a:srgbClr val="FF0000"/>
                </a:solidFill>
              </a:rPr>
              <a:t>las columnas de x</a:t>
            </a:r>
            <a:r>
              <a:rPr lang="es-CO" dirty="0" smtClean="0">
                <a:solidFill>
                  <a:srgbClr val="FF0000"/>
                </a:solidFill>
              </a:rPr>
              <a:t/>
            </a:r>
            <a:br>
              <a:rPr lang="es-CO" dirty="0" smtClean="0">
                <a:solidFill>
                  <a:srgbClr val="FF0000"/>
                </a:solidFill>
              </a:rPr>
            </a:br>
            <a:r>
              <a:rPr lang="es-CO" dirty="0" err="1" smtClean="0">
                <a:solidFill>
                  <a:srgbClr val="FF0000"/>
                </a:solidFill>
              </a:rPr>
              <a:t>apply</a:t>
            </a:r>
            <a:r>
              <a:rPr lang="es-CO" dirty="0" smtClean="0">
                <a:solidFill>
                  <a:srgbClr val="FF0000"/>
                </a:solidFill>
              </a:rPr>
              <a:t> (x,1, mean) # calcula la media de cada </a:t>
            </a:r>
            <a:r>
              <a:rPr lang="es-CO" dirty="0" smtClean="0">
                <a:solidFill>
                  <a:srgbClr val="FF0000"/>
                </a:solidFill>
              </a:rPr>
              <a:t>fila</a:t>
            </a:r>
            <a:endParaRPr lang="es-CO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Familia de funciones </a:t>
            </a:r>
            <a:r>
              <a:rPr lang="es-CO" dirty="0" err="1" smtClean="0">
                <a:solidFill>
                  <a:srgbClr val="FF0000"/>
                </a:solidFill>
              </a:rPr>
              <a:t>apply</a:t>
            </a:r>
            <a:r>
              <a:rPr lang="es-CO" dirty="0" smtClean="0"/>
              <a:t>, </a:t>
            </a:r>
            <a:r>
              <a:rPr lang="es-CO" dirty="0" err="1" smtClean="0"/>
              <a:t>sapply</a:t>
            </a:r>
            <a:r>
              <a:rPr lang="es-CO" dirty="0" smtClean="0"/>
              <a:t>, </a:t>
            </a:r>
            <a:r>
              <a:rPr lang="es-CO" dirty="0" err="1" smtClean="0"/>
              <a:t>lapply</a:t>
            </a:r>
            <a:r>
              <a:rPr lang="es-CO" dirty="0" smtClean="0"/>
              <a:t>, </a:t>
            </a:r>
            <a:r>
              <a:rPr lang="es-CO" dirty="0" err="1" smtClean="0"/>
              <a:t>tapply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 smtClean="0">
                <a:solidFill>
                  <a:srgbClr val="0070C0"/>
                </a:solidFill>
              </a:rPr>
              <a:t>Ejemplo: </a:t>
            </a:r>
            <a:r>
              <a:rPr lang="es-CO" dirty="0" err="1" smtClean="0">
                <a:solidFill>
                  <a:srgbClr val="0070C0"/>
                </a:solidFill>
              </a:rPr>
              <a:t>apply</a:t>
            </a:r>
            <a:r>
              <a:rPr lang="es-CO" dirty="0" smtClean="0">
                <a:solidFill>
                  <a:srgbClr val="0070C0"/>
                </a:solidFill>
              </a:rPr>
              <a:t> con funciones que construyamos</a:t>
            </a:r>
          </a:p>
          <a:p>
            <a:endParaRPr lang="es-CO" dirty="0" smtClean="0"/>
          </a:p>
          <a:p>
            <a:r>
              <a:rPr lang="es-CO" dirty="0" err="1" smtClean="0"/>
              <a:t>dos.cosas</a:t>
            </a:r>
            <a:r>
              <a:rPr lang="es-CO" dirty="0" smtClean="0"/>
              <a:t> &lt;- </a:t>
            </a:r>
            <a:r>
              <a:rPr lang="es-CO" dirty="0" err="1" smtClean="0"/>
              <a:t>function</a:t>
            </a:r>
            <a:r>
              <a:rPr lang="es-CO" dirty="0" smtClean="0"/>
              <a:t>(y){</a:t>
            </a:r>
            <a:r>
              <a:rPr lang="es-CO" dirty="0" err="1" smtClean="0"/>
              <a:t>return</a:t>
            </a:r>
            <a:r>
              <a:rPr lang="es-CO" dirty="0" smtClean="0"/>
              <a:t>(c(mean(y), </a:t>
            </a:r>
            <a:r>
              <a:rPr lang="es-CO" dirty="0" err="1" smtClean="0"/>
              <a:t>var</a:t>
            </a:r>
            <a:r>
              <a:rPr lang="es-CO" dirty="0" smtClean="0"/>
              <a:t>(y)))}</a:t>
            </a:r>
            <a:br>
              <a:rPr lang="es-CO" dirty="0" smtClean="0"/>
            </a:br>
            <a:r>
              <a:rPr lang="es-CO" dirty="0" err="1" smtClean="0"/>
              <a:t>apply</a:t>
            </a:r>
            <a:r>
              <a:rPr lang="es-CO" dirty="0" smtClean="0"/>
              <a:t>(x, 1, </a:t>
            </a:r>
            <a:r>
              <a:rPr lang="es-CO" dirty="0" err="1" smtClean="0"/>
              <a:t>dos.cosas</a:t>
            </a:r>
            <a:r>
              <a:rPr lang="es-CO" dirty="0" smtClean="0"/>
              <a:t>)</a:t>
            </a:r>
          </a:p>
          <a:p>
            <a:r>
              <a:rPr lang="es-CO" dirty="0" err="1" smtClean="0"/>
              <a:t>apply</a:t>
            </a:r>
            <a:r>
              <a:rPr lang="es-CO" dirty="0" smtClean="0"/>
              <a:t>(x, 2, </a:t>
            </a:r>
            <a:r>
              <a:rPr lang="es-CO" dirty="0" err="1" smtClean="0"/>
              <a:t>dos.cosas</a:t>
            </a:r>
            <a:r>
              <a:rPr lang="es-CO" dirty="0" smtClean="0"/>
              <a:t>)</a:t>
            </a:r>
          </a:p>
          <a:p>
            <a:r>
              <a:rPr lang="es-CO" dirty="0" err="1" smtClean="0"/>
              <a:t>apply</a:t>
            </a:r>
            <a:r>
              <a:rPr lang="es-CO" dirty="0" smtClean="0"/>
              <a:t>(x,2,dos.cosas,na.rm=T)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Familia de funciones </a:t>
            </a:r>
            <a:r>
              <a:rPr lang="es-CO" dirty="0" err="1" smtClean="0"/>
              <a:t>apply</a:t>
            </a:r>
            <a:r>
              <a:rPr lang="es-CO" dirty="0" smtClean="0"/>
              <a:t>, </a:t>
            </a:r>
            <a:r>
              <a:rPr lang="es-CO" dirty="0" err="1" smtClean="0">
                <a:solidFill>
                  <a:srgbClr val="FF0000"/>
                </a:solidFill>
              </a:rPr>
              <a:t>sapply</a:t>
            </a:r>
            <a:r>
              <a:rPr lang="es-CO" dirty="0" smtClean="0">
                <a:solidFill>
                  <a:srgbClr val="FF0000"/>
                </a:solidFill>
              </a:rPr>
              <a:t>, </a:t>
            </a:r>
            <a:r>
              <a:rPr lang="es-CO" dirty="0" err="1" smtClean="0">
                <a:solidFill>
                  <a:srgbClr val="FF0000"/>
                </a:solidFill>
              </a:rPr>
              <a:t>lapply</a:t>
            </a:r>
            <a:r>
              <a:rPr lang="es-CO" dirty="0" smtClean="0"/>
              <a:t>, </a:t>
            </a:r>
            <a:r>
              <a:rPr lang="es-CO" dirty="0" err="1" smtClean="0"/>
              <a:t>tapply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 smtClean="0"/>
              <a:t>Existen </a:t>
            </a:r>
            <a:r>
              <a:rPr lang="es-CO" dirty="0" smtClean="0"/>
              <a:t>funciones como </a:t>
            </a:r>
            <a:r>
              <a:rPr lang="es-CO" dirty="0" err="1" smtClean="0">
                <a:solidFill>
                  <a:srgbClr val="FF0000"/>
                </a:solidFill>
              </a:rPr>
              <a:t>lapply</a:t>
            </a:r>
            <a:r>
              <a:rPr lang="es-CO" dirty="0" smtClean="0">
                <a:solidFill>
                  <a:srgbClr val="FF0000"/>
                </a:solidFill>
              </a:rPr>
              <a:t>() o </a:t>
            </a:r>
            <a:r>
              <a:rPr lang="es-CO" dirty="0" err="1" smtClean="0">
                <a:solidFill>
                  <a:srgbClr val="FF0000"/>
                </a:solidFill>
              </a:rPr>
              <a:t>sapply</a:t>
            </a:r>
            <a:r>
              <a:rPr lang="es-CO" dirty="0" smtClean="0">
                <a:solidFill>
                  <a:srgbClr val="FF0000"/>
                </a:solidFill>
              </a:rPr>
              <a:t>() </a:t>
            </a:r>
            <a:r>
              <a:rPr lang="es-CO" dirty="0" smtClean="0"/>
              <a:t>que </a:t>
            </a:r>
            <a:r>
              <a:rPr lang="es-CO" dirty="0" smtClean="0"/>
              <a:t>se aplican </a:t>
            </a:r>
            <a:r>
              <a:rPr lang="es-CO" dirty="0" smtClean="0"/>
              <a:t>sobre los elementos de una lista. El resultado de </a:t>
            </a:r>
            <a:r>
              <a:rPr lang="es-CO" dirty="0" err="1" smtClean="0">
                <a:solidFill>
                  <a:srgbClr val="FF0000"/>
                </a:solidFill>
              </a:rPr>
              <a:t>lapply</a:t>
            </a:r>
            <a:r>
              <a:rPr lang="es-CO" dirty="0" smtClean="0">
                <a:solidFill>
                  <a:srgbClr val="FF0000"/>
                </a:solidFill>
              </a:rPr>
              <a:t>() </a:t>
            </a:r>
            <a:r>
              <a:rPr lang="es-CO" dirty="0" smtClean="0"/>
              <a:t>es siempre </a:t>
            </a:r>
            <a:r>
              <a:rPr lang="es-CO" dirty="0" smtClean="0"/>
              <a:t>una lista</a:t>
            </a:r>
            <a:r>
              <a:rPr lang="es-CO" dirty="0" smtClean="0"/>
              <a:t>, y el resultado de </a:t>
            </a:r>
            <a:r>
              <a:rPr lang="es-CO" dirty="0" err="1" smtClean="0">
                <a:solidFill>
                  <a:srgbClr val="FF0000"/>
                </a:solidFill>
              </a:rPr>
              <a:t>sapply</a:t>
            </a:r>
            <a:r>
              <a:rPr lang="es-CO" dirty="0" smtClean="0">
                <a:solidFill>
                  <a:srgbClr val="FF0000"/>
                </a:solidFill>
              </a:rPr>
              <a:t>() </a:t>
            </a:r>
            <a:r>
              <a:rPr lang="es-CO" dirty="0" smtClean="0"/>
              <a:t>es un vector o </a:t>
            </a:r>
            <a:r>
              <a:rPr lang="es-CO" dirty="0" err="1" smtClean="0"/>
              <a:t>array</a:t>
            </a:r>
            <a:r>
              <a:rPr lang="es-CO" dirty="0" smtClean="0"/>
              <a:t>.</a:t>
            </a:r>
          </a:p>
          <a:p>
            <a:pPr>
              <a:buNone/>
            </a:pPr>
            <a:r>
              <a:rPr lang="es-CO" dirty="0" smtClean="0"/>
              <a:t>   </a:t>
            </a:r>
          </a:p>
          <a:p>
            <a:pPr>
              <a:buNone/>
            </a:pPr>
            <a:r>
              <a:rPr lang="es-CO" dirty="0" smtClean="0"/>
              <a:t> </a:t>
            </a:r>
            <a:r>
              <a:rPr lang="es-CO" dirty="0" smtClean="0"/>
              <a:t>  </a:t>
            </a:r>
            <a:r>
              <a:rPr lang="es-CO" dirty="0" smtClean="0">
                <a:solidFill>
                  <a:srgbClr val="FF0000"/>
                </a:solidFill>
              </a:rPr>
              <a:t>x </a:t>
            </a:r>
            <a:r>
              <a:rPr lang="es-CO" dirty="0" smtClean="0">
                <a:solidFill>
                  <a:srgbClr val="FF0000"/>
                </a:solidFill>
              </a:rPr>
              <a:t>&lt;- </a:t>
            </a:r>
            <a:r>
              <a:rPr lang="es-CO" dirty="0" err="1" smtClean="0">
                <a:solidFill>
                  <a:srgbClr val="FF0000"/>
                </a:solidFill>
              </a:rPr>
              <a:t>list</a:t>
            </a:r>
            <a:r>
              <a:rPr lang="es-CO" dirty="0" smtClean="0">
                <a:solidFill>
                  <a:srgbClr val="FF0000"/>
                </a:solidFill>
              </a:rPr>
              <a:t> (a = </a:t>
            </a:r>
            <a:r>
              <a:rPr lang="es-CO" dirty="0" err="1" smtClean="0">
                <a:solidFill>
                  <a:srgbClr val="FF0000"/>
                </a:solidFill>
              </a:rPr>
              <a:t>rnorm</a:t>
            </a:r>
            <a:r>
              <a:rPr lang="es-CO" dirty="0" smtClean="0">
                <a:solidFill>
                  <a:srgbClr val="FF0000"/>
                </a:solidFill>
              </a:rPr>
              <a:t>(10), b = </a:t>
            </a:r>
            <a:r>
              <a:rPr lang="es-CO" dirty="0" err="1" smtClean="0">
                <a:solidFill>
                  <a:srgbClr val="FF0000"/>
                </a:solidFill>
              </a:rPr>
              <a:t>rnorm</a:t>
            </a:r>
            <a:r>
              <a:rPr lang="es-CO" dirty="0" smtClean="0">
                <a:solidFill>
                  <a:srgbClr val="FF0000"/>
                </a:solidFill>
              </a:rPr>
              <a:t>(100), c = </a:t>
            </a:r>
            <a:r>
              <a:rPr lang="es-CO" dirty="0" err="1" smtClean="0">
                <a:solidFill>
                  <a:srgbClr val="FF0000"/>
                </a:solidFill>
              </a:rPr>
              <a:t>rnorm</a:t>
            </a:r>
            <a:r>
              <a:rPr lang="es-CO" dirty="0" smtClean="0">
                <a:solidFill>
                  <a:srgbClr val="FF0000"/>
                </a:solidFill>
              </a:rPr>
              <a:t>(25</a:t>
            </a:r>
            <a:r>
              <a:rPr lang="es-CO" dirty="0" smtClean="0">
                <a:solidFill>
                  <a:srgbClr val="FF0000"/>
                </a:solidFill>
              </a:rPr>
              <a:t>)) ; x</a:t>
            </a: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  </a:t>
            </a:r>
            <a:r>
              <a:rPr lang="es-CO" dirty="0" err="1" smtClean="0">
                <a:solidFill>
                  <a:srgbClr val="FF0000"/>
                </a:solidFill>
              </a:rPr>
              <a:t>sapply</a:t>
            </a: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(x, mean)</a:t>
            </a:r>
            <a:br>
              <a:rPr lang="es-CO" dirty="0" smtClean="0">
                <a:solidFill>
                  <a:srgbClr val="FF0000"/>
                </a:solidFill>
              </a:rPr>
            </a:br>
            <a:endParaRPr lang="es-CO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CO" dirty="0" smtClean="0">
                <a:solidFill>
                  <a:srgbClr val="FF0000"/>
                </a:solidFill>
              </a:rPr>
              <a:t> </a:t>
            </a:r>
            <a:r>
              <a:rPr lang="es-CO" dirty="0" smtClean="0">
                <a:solidFill>
                  <a:srgbClr val="FF0000"/>
                </a:solidFill>
              </a:rPr>
              <a:t>  </a:t>
            </a:r>
            <a:r>
              <a:rPr lang="es-CO" dirty="0" err="1" smtClean="0">
                <a:solidFill>
                  <a:srgbClr val="FF0000"/>
                </a:solidFill>
              </a:rPr>
              <a:t>lapply</a:t>
            </a:r>
            <a:r>
              <a:rPr lang="es-CO" dirty="0" smtClean="0">
                <a:solidFill>
                  <a:srgbClr val="FF0000"/>
                </a:solidFill>
              </a:rPr>
              <a:t>(x</a:t>
            </a:r>
            <a:r>
              <a:rPr lang="es-CO" dirty="0" smtClean="0">
                <a:solidFill>
                  <a:srgbClr val="FF0000"/>
                </a:solidFill>
              </a:rPr>
              <a:t>, mean)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 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Familia de funciones </a:t>
            </a:r>
            <a:r>
              <a:rPr lang="es-CO" dirty="0" err="1" smtClean="0"/>
              <a:t>apply</a:t>
            </a:r>
            <a:r>
              <a:rPr lang="es-CO" dirty="0" smtClean="0"/>
              <a:t>, </a:t>
            </a:r>
            <a:r>
              <a:rPr lang="es-CO" dirty="0" err="1" smtClean="0"/>
              <a:t>sapply</a:t>
            </a:r>
            <a:r>
              <a:rPr lang="es-CO" dirty="0" smtClean="0"/>
              <a:t>, </a:t>
            </a:r>
            <a:r>
              <a:rPr lang="es-CO" dirty="0" err="1" smtClean="0"/>
              <a:t>lapply</a:t>
            </a:r>
            <a:r>
              <a:rPr lang="es-CO" dirty="0" smtClean="0"/>
              <a:t>, </a:t>
            </a:r>
            <a:r>
              <a:rPr lang="es-CO" dirty="0" err="1" smtClean="0">
                <a:solidFill>
                  <a:srgbClr val="FF0000"/>
                </a:solidFill>
              </a:rPr>
              <a:t>tapply</a:t>
            </a:r>
            <a:endParaRPr lang="es-CO" dirty="0">
              <a:solidFill>
                <a:srgbClr val="FF000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50876" y="685800"/>
            <a:ext cx="10629937" cy="4386274"/>
          </a:xfrm>
        </p:spPr>
        <p:txBody>
          <a:bodyPr>
            <a:normAutofit/>
          </a:bodyPr>
          <a:lstStyle/>
          <a:p>
            <a:r>
              <a:rPr lang="es-CO" dirty="0" smtClean="0"/>
              <a:t>Si el objetivo es realizar cálculos condicionados sobre una variable en función </a:t>
            </a:r>
            <a:r>
              <a:rPr lang="es-CO" dirty="0" smtClean="0"/>
              <a:t>de los </a:t>
            </a:r>
            <a:r>
              <a:rPr lang="es-CO" dirty="0" smtClean="0"/>
              <a:t>niveles de un factor la función a utilizar es </a:t>
            </a:r>
            <a:r>
              <a:rPr lang="es-CO" dirty="0" err="1" smtClean="0">
                <a:solidFill>
                  <a:srgbClr val="FF0000"/>
                </a:solidFill>
              </a:rPr>
              <a:t>tapply</a:t>
            </a:r>
            <a:r>
              <a:rPr lang="es-CO" dirty="0" smtClean="0">
                <a:solidFill>
                  <a:srgbClr val="FF0000"/>
                </a:solidFill>
              </a:rPr>
              <a:t>(). </a:t>
            </a:r>
            <a:r>
              <a:rPr lang="es-CO" dirty="0" smtClean="0"/>
              <a:t>Por ejemplo, calcular </a:t>
            </a:r>
            <a:r>
              <a:rPr lang="es-CO" dirty="0" smtClean="0"/>
              <a:t>las medias </a:t>
            </a:r>
            <a:r>
              <a:rPr lang="es-CO" dirty="0" smtClean="0"/>
              <a:t>de la variable altura en función del sexo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b="1" dirty="0" smtClean="0">
                <a:solidFill>
                  <a:srgbClr val="0070C0"/>
                </a:solidFill>
              </a:rPr>
              <a:t> sexo &lt;- factor(c("mujer", "</a:t>
            </a:r>
            <a:r>
              <a:rPr lang="es-CO" b="1" dirty="0" err="1" smtClean="0">
                <a:solidFill>
                  <a:srgbClr val="0070C0"/>
                </a:solidFill>
              </a:rPr>
              <a:t>varon</a:t>
            </a:r>
            <a:r>
              <a:rPr lang="es-CO" b="1" dirty="0" smtClean="0">
                <a:solidFill>
                  <a:srgbClr val="0070C0"/>
                </a:solidFill>
              </a:rPr>
              <a:t>", "</a:t>
            </a:r>
            <a:r>
              <a:rPr lang="es-CO" b="1" dirty="0" err="1" smtClean="0">
                <a:solidFill>
                  <a:srgbClr val="0070C0"/>
                </a:solidFill>
              </a:rPr>
              <a:t>varon</a:t>
            </a:r>
            <a:r>
              <a:rPr lang="es-CO" b="1" dirty="0" smtClean="0">
                <a:solidFill>
                  <a:srgbClr val="0070C0"/>
                </a:solidFill>
              </a:rPr>
              <a:t>", "mujer", "mujer</a:t>
            </a:r>
            <a:r>
              <a:rPr lang="es-CO" b="1" dirty="0" smtClean="0">
                <a:solidFill>
                  <a:srgbClr val="0070C0"/>
                </a:solidFill>
              </a:rPr>
              <a:t>", "</a:t>
            </a:r>
            <a:r>
              <a:rPr lang="es-CO" b="1" dirty="0" err="1" smtClean="0">
                <a:solidFill>
                  <a:srgbClr val="0070C0"/>
                </a:solidFill>
              </a:rPr>
              <a:t>varon</a:t>
            </a:r>
            <a:r>
              <a:rPr lang="es-CO" b="1" dirty="0" smtClean="0">
                <a:solidFill>
                  <a:srgbClr val="0070C0"/>
                </a:solidFill>
              </a:rPr>
              <a:t>", "</a:t>
            </a:r>
            <a:r>
              <a:rPr lang="es-CO" b="1" dirty="0" err="1" smtClean="0">
                <a:solidFill>
                  <a:srgbClr val="0070C0"/>
                </a:solidFill>
              </a:rPr>
              <a:t>varon</a:t>
            </a:r>
            <a:r>
              <a:rPr lang="es-CO" b="1" dirty="0" smtClean="0">
                <a:solidFill>
                  <a:srgbClr val="0070C0"/>
                </a:solidFill>
              </a:rPr>
              <a:t>", "</a:t>
            </a:r>
            <a:r>
              <a:rPr lang="es-CO" b="1" dirty="0" err="1" smtClean="0">
                <a:solidFill>
                  <a:srgbClr val="0070C0"/>
                </a:solidFill>
              </a:rPr>
              <a:t>varon</a:t>
            </a:r>
            <a:r>
              <a:rPr lang="es-CO" b="1" dirty="0" smtClean="0">
                <a:solidFill>
                  <a:srgbClr val="0070C0"/>
                </a:solidFill>
              </a:rPr>
              <a:t>"))</a:t>
            </a:r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    altura </a:t>
            </a:r>
            <a:r>
              <a:rPr lang="es-CO" b="1" dirty="0" smtClean="0">
                <a:solidFill>
                  <a:srgbClr val="0070C0"/>
                </a:solidFill>
              </a:rPr>
              <a:t>&lt;- c(1.60, 1.87, 1.70, 1.69, 1.58, 1.4, 1.80,1.79</a:t>
            </a:r>
            <a:r>
              <a:rPr lang="es-CO" b="1" dirty="0" smtClean="0">
                <a:solidFill>
                  <a:srgbClr val="0070C0"/>
                </a:solidFill>
              </a:rPr>
              <a:t>)</a:t>
            </a:r>
            <a:endParaRPr lang="es-CO" b="1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   data </a:t>
            </a:r>
            <a:r>
              <a:rPr lang="es-CO" b="1" dirty="0" smtClean="0">
                <a:solidFill>
                  <a:srgbClr val="0070C0"/>
                </a:solidFill>
              </a:rPr>
              <a:t>&lt;- </a:t>
            </a:r>
            <a:r>
              <a:rPr lang="es-CO" b="1" dirty="0" err="1" smtClean="0">
                <a:solidFill>
                  <a:srgbClr val="0070C0"/>
                </a:solidFill>
              </a:rPr>
              <a:t>data.frame</a:t>
            </a:r>
            <a:r>
              <a:rPr lang="es-CO" b="1" dirty="0" smtClean="0">
                <a:solidFill>
                  <a:srgbClr val="0070C0"/>
                </a:solidFill>
              </a:rPr>
              <a:t>(</a:t>
            </a:r>
            <a:r>
              <a:rPr lang="es-CO" b="1" dirty="0" err="1" smtClean="0">
                <a:solidFill>
                  <a:srgbClr val="0070C0"/>
                </a:solidFill>
              </a:rPr>
              <a:t>sexo,altura</a:t>
            </a:r>
            <a:r>
              <a:rPr lang="es-CO" b="1" dirty="0" smtClean="0">
                <a:solidFill>
                  <a:srgbClr val="0070C0"/>
                </a:solidFill>
              </a:rPr>
              <a:t>)</a:t>
            </a:r>
          </a:p>
          <a:p>
            <a:pPr>
              <a:buNone/>
            </a:pPr>
            <a:r>
              <a:rPr lang="es-CO" b="1" dirty="0" smtClean="0">
                <a:solidFill>
                  <a:srgbClr val="0070C0"/>
                </a:solidFill>
              </a:rPr>
              <a:t>    </a:t>
            </a:r>
            <a:r>
              <a:rPr lang="es-CO" b="1" dirty="0" err="1" smtClean="0">
                <a:solidFill>
                  <a:srgbClr val="0070C0"/>
                </a:solidFill>
              </a:rPr>
              <a:t>tapply</a:t>
            </a:r>
            <a:r>
              <a:rPr lang="es-CO" b="1" dirty="0" smtClean="0">
                <a:solidFill>
                  <a:srgbClr val="0070C0"/>
                </a:solidFill>
              </a:rPr>
              <a:t>(</a:t>
            </a:r>
            <a:r>
              <a:rPr lang="es-CO" b="1" dirty="0" err="1" smtClean="0">
                <a:solidFill>
                  <a:srgbClr val="0070C0"/>
                </a:solidFill>
              </a:rPr>
              <a:t>data$altura,data$sexo,mean</a:t>
            </a:r>
            <a:r>
              <a:rPr lang="es-CO" b="1" dirty="0" smtClean="0">
                <a:solidFill>
                  <a:srgbClr val="0070C0"/>
                </a:solidFill>
              </a:rPr>
              <a:t>)</a:t>
            </a:r>
            <a:endParaRPr lang="es-CO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Valores faltantes NA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 smtClean="0"/>
              <a:t>Cuando falta un elemento, lo que se denomina valor faltante, se le</a:t>
            </a:r>
            <a:br>
              <a:rPr lang="es-CO" dirty="0" smtClean="0"/>
            </a:br>
            <a:r>
              <a:rPr lang="es-CO" dirty="0" smtClean="0"/>
              <a:t>asigna un valor especial, </a:t>
            </a:r>
            <a:r>
              <a:rPr lang="es-CO" dirty="0" smtClean="0">
                <a:solidFill>
                  <a:srgbClr val="0070C0"/>
                </a:solidFill>
              </a:rPr>
              <a:t>NA (</a:t>
            </a:r>
            <a:r>
              <a:rPr lang="es-CO" dirty="0" err="1" smtClean="0">
                <a:solidFill>
                  <a:srgbClr val="0070C0"/>
                </a:solidFill>
              </a:rPr>
              <a:t>Not</a:t>
            </a:r>
            <a:r>
              <a:rPr lang="es-CO" dirty="0" smtClean="0">
                <a:solidFill>
                  <a:srgbClr val="0070C0"/>
                </a:solidFill>
              </a:rPr>
              <a:t> </a:t>
            </a:r>
            <a:r>
              <a:rPr lang="es-CO" dirty="0" err="1" smtClean="0">
                <a:solidFill>
                  <a:srgbClr val="0070C0"/>
                </a:solidFill>
              </a:rPr>
              <a:t>Available</a:t>
            </a:r>
            <a:r>
              <a:rPr lang="es-CO" dirty="0" smtClean="0">
                <a:solidFill>
                  <a:srgbClr val="0070C0"/>
                </a:solidFill>
              </a:rPr>
              <a:t>). </a:t>
            </a:r>
            <a:r>
              <a:rPr lang="es-CO" dirty="0" smtClean="0"/>
              <a:t>En general, casi </a:t>
            </a:r>
            <a:r>
              <a:rPr lang="es-CO" dirty="0" smtClean="0"/>
              <a:t>cualquier operación </a:t>
            </a:r>
            <a:r>
              <a:rPr lang="es-CO" dirty="0" smtClean="0"/>
              <a:t>donde intervenga un valor NA da por resultado NA</a:t>
            </a:r>
            <a:br>
              <a:rPr lang="es-CO" dirty="0" smtClean="0"/>
            </a:br>
            <a:endParaRPr lang="es-CO" dirty="0" smtClean="0"/>
          </a:p>
          <a:p>
            <a:r>
              <a:rPr lang="es-CO" dirty="0" smtClean="0"/>
              <a:t>NA </a:t>
            </a:r>
            <a:r>
              <a:rPr lang="es-CO" dirty="0" smtClean="0"/>
              <a:t>no es lo mismo que 0</a:t>
            </a:r>
            <a:r>
              <a:rPr lang="es-CO" dirty="0" smtClean="0"/>
              <a:t>.</a:t>
            </a:r>
          </a:p>
          <a:p>
            <a:r>
              <a:rPr lang="es-CO" dirty="0" smtClean="0"/>
              <a:t> </a:t>
            </a:r>
            <a:r>
              <a:rPr lang="es-CO" dirty="0" smtClean="0"/>
              <a:t>NA no es lo mismo que “ </a:t>
            </a:r>
            <a:r>
              <a:rPr lang="es-CO" dirty="0" smtClean="0"/>
              <a:t>”.</a:t>
            </a:r>
          </a:p>
          <a:p>
            <a:r>
              <a:rPr lang="es-CO" dirty="0" smtClean="0"/>
              <a:t>NA </a:t>
            </a:r>
            <a:r>
              <a:rPr lang="es-CO" dirty="0" smtClean="0"/>
              <a:t>no es lo mismo que </a:t>
            </a:r>
            <a:r>
              <a:rPr lang="es-CO" dirty="0" smtClean="0"/>
              <a:t>FALSE.</a:t>
            </a:r>
          </a:p>
          <a:p>
            <a:r>
              <a:rPr lang="es-CO" dirty="0" smtClean="0"/>
              <a:t>NA </a:t>
            </a:r>
            <a:r>
              <a:rPr lang="es-CO" dirty="0" smtClean="0"/>
              <a:t>no es lo mismo que NULL.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Valores faltantes NA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smtClean="0"/>
              <a:t>Ejemplos: Trabajando con NA</a:t>
            </a:r>
          </a:p>
          <a:p>
            <a:pPr>
              <a:buNone/>
            </a:pPr>
            <a:r>
              <a:rPr lang="es-CO" dirty="0" smtClean="0"/>
              <a:t>   faltante </a:t>
            </a:r>
            <a:r>
              <a:rPr lang="es-CO" dirty="0" smtClean="0"/>
              <a:t>&lt;- NA; faltante</a:t>
            </a:r>
            <a:br>
              <a:rPr lang="es-CO" dirty="0" smtClean="0"/>
            </a:br>
            <a:r>
              <a:rPr lang="es-CO" dirty="0" err="1" smtClean="0"/>
              <a:t>nodato</a:t>
            </a:r>
            <a:r>
              <a:rPr lang="es-CO" dirty="0" smtClean="0"/>
              <a:t> &lt;- c(1, 2, 3, NA); </a:t>
            </a:r>
            <a:r>
              <a:rPr lang="es-CO" dirty="0" err="1" smtClean="0"/>
              <a:t>nodato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err="1" smtClean="0"/>
              <a:t>nodato</a:t>
            </a:r>
            <a:r>
              <a:rPr lang="es-CO" dirty="0" smtClean="0"/>
              <a:t> + 3</a:t>
            </a:r>
            <a:br>
              <a:rPr lang="es-CO" dirty="0" smtClean="0"/>
            </a:br>
            <a:r>
              <a:rPr lang="es-CO" dirty="0" err="1" smtClean="0"/>
              <a:t>max</a:t>
            </a:r>
            <a:r>
              <a:rPr lang="es-CO" dirty="0" smtClean="0"/>
              <a:t>(</a:t>
            </a:r>
            <a:r>
              <a:rPr lang="es-CO" dirty="0" err="1" smtClean="0"/>
              <a:t>nodato</a:t>
            </a:r>
            <a:r>
              <a:rPr lang="es-CO" dirty="0" smtClean="0"/>
              <a:t>)</a:t>
            </a:r>
            <a:br>
              <a:rPr lang="es-CO" dirty="0" smtClean="0"/>
            </a:br>
            <a:r>
              <a:rPr lang="es-CO" dirty="0" err="1" smtClean="0"/>
              <a:t>max</a:t>
            </a:r>
            <a:r>
              <a:rPr lang="es-CO" dirty="0" smtClean="0"/>
              <a:t>(</a:t>
            </a:r>
            <a:r>
              <a:rPr lang="es-CO" dirty="0" err="1" smtClean="0"/>
              <a:t>nodato</a:t>
            </a:r>
            <a:r>
              <a:rPr lang="es-CO" dirty="0" smtClean="0"/>
              <a:t>, </a:t>
            </a:r>
            <a:r>
              <a:rPr lang="es-CO" dirty="0" smtClean="0"/>
              <a:t>na.rm=T)</a:t>
            </a:r>
          </a:p>
          <a:p>
            <a:pPr>
              <a:buNone/>
            </a:pPr>
            <a:r>
              <a:rPr lang="es-CO" dirty="0" smtClean="0"/>
              <a:t> </a:t>
            </a:r>
            <a:r>
              <a:rPr lang="es-CO" dirty="0" smtClean="0"/>
              <a:t>  mean(</a:t>
            </a:r>
            <a:r>
              <a:rPr lang="es-CO" dirty="0" err="1" smtClean="0"/>
              <a:t>nodato</a:t>
            </a:r>
            <a:r>
              <a:rPr lang="es-CO" dirty="0" smtClean="0"/>
              <a:t>); mean(</a:t>
            </a:r>
            <a:r>
              <a:rPr lang="es-CO" dirty="0" err="1" smtClean="0"/>
              <a:t>nodato</a:t>
            </a:r>
            <a:r>
              <a:rPr lang="es-CO" dirty="0" smtClean="0"/>
              <a:t>, na.rm=T) </a:t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 El argumento </a:t>
            </a:r>
            <a:r>
              <a:rPr lang="es-CO" b="1" dirty="0" smtClean="0">
                <a:solidFill>
                  <a:srgbClr val="0070C0"/>
                </a:solidFill>
              </a:rPr>
              <a:t>na.rm=T</a:t>
            </a:r>
            <a:r>
              <a:rPr lang="es-CO" b="1" dirty="0" smtClean="0"/>
              <a:t> </a:t>
            </a:r>
            <a:r>
              <a:rPr lang="es-CO" dirty="0" smtClean="0"/>
              <a:t>permite usar funciones sobre ese </a:t>
            </a:r>
            <a:r>
              <a:rPr lang="es-CO" dirty="0" smtClean="0"/>
              <a:t>objeto</a:t>
            </a: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smtClean="0"/>
              <a:t>Valores faltantes NA</a:t>
            </a:r>
            <a:endParaRPr lang="es-C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Además hay una segunda clase de valores faltantes, producidos por </a:t>
            </a:r>
            <a:r>
              <a:rPr lang="es-CO" dirty="0" smtClean="0"/>
              <a:t>el cálculo</a:t>
            </a:r>
            <a:r>
              <a:rPr lang="es-CO" dirty="0" smtClean="0"/>
              <a:t>, son los llamados </a:t>
            </a:r>
            <a:r>
              <a:rPr lang="es-CO" dirty="0" err="1" smtClean="0">
                <a:solidFill>
                  <a:srgbClr val="0070C0"/>
                </a:solidFill>
              </a:rPr>
              <a:t>NaN</a:t>
            </a:r>
            <a:r>
              <a:rPr lang="es-CO" dirty="0" smtClean="0">
                <a:solidFill>
                  <a:srgbClr val="0070C0"/>
                </a:solidFill>
              </a:rPr>
              <a:t> (</a:t>
            </a:r>
            <a:r>
              <a:rPr lang="es-CO" dirty="0" err="1" smtClean="0">
                <a:solidFill>
                  <a:srgbClr val="0070C0"/>
                </a:solidFill>
              </a:rPr>
              <a:t>Not</a:t>
            </a:r>
            <a:r>
              <a:rPr lang="es-CO" dirty="0" smtClean="0">
                <a:solidFill>
                  <a:srgbClr val="0070C0"/>
                </a:solidFill>
              </a:rPr>
              <a:t> a </a:t>
            </a:r>
            <a:r>
              <a:rPr lang="es-CO" dirty="0" err="1" smtClean="0">
                <a:solidFill>
                  <a:srgbClr val="0070C0"/>
                </a:solidFill>
              </a:rPr>
              <a:t>Number</a:t>
            </a:r>
            <a:r>
              <a:rPr lang="es-CO" dirty="0" smtClean="0">
                <a:solidFill>
                  <a:srgbClr val="0070C0"/>
                </a:solidFill>
              </a:rPr>
              <a:t>)</a:t>
            </a:r>
          </a:p>
          <a:p>
            <a:r>
              <a:rPr lang="es-CO" b="1" dirty="0" smtClean="0"/>
              <a:t>Ejemplo: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>0/0</a:t>
            </a:r>
            <a:br>
              <a:rPr lang="es-CO" dirty="0" smtClean="0"/>
            </a:br>
            <a:r>
              <a:rPr lang="es-CO" dirty="0" err="1" smtClean="0"/>
              <a:t>Inf</a:t>
            </a:r>
            <a:r>
              <a:rPr lang="es-CO" dirty="0" smtClean="0"/>
              <a:t> - </a:t>
            </a:r>
            <a:r>
              <a:rPr lang="es-CO" dirty="0" err="1" smtClean="0"/>
              <a:t>Inf</a:t>
            </a: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r>
              <a:rPr lang="es-CO" dirty="0" smtClean="0"/>
              <a:t/>
            </a:r>
            <a:br>
              <a:rPr lang="es-CO" dirty="0" smtClean="0"/>
            </a:br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f02801084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_13666347_TF02801084" id="{CD88FFC4-256B-4A8B-A834-3ED1FB95D122}" vid="{8EBA3372-4352-4BB3-92A0-2911D09DA088}"/>
    </a:ext>
  </a:extLst>
</a:theme>
</file>

<file path=ppt/theme/theme2.xml><?xml version="1.0" encoding="utf-8"?>
<a:theme xmlns:a="http://schemas.openxmlformats.org/drawingml/2006/main" name="Tema de Offic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Marketing_16x9">
      <a:dk1>
        <a:srgbClr val="404040"/>
      </a:dk1>
      <a:lt1>
        <a:sysClr val="window" lastClr="FFFFFF"/>
      </a:lt1>
      <a:dk2>
        <a:srgbClr val="000000"/>
      </a:dk2>
      <a:lt2>
        <a:srgbClr val="A1C1DE"/>
      </a:lt2>
      <a:accent1>
        <a:srgbClr val="39527B"/>
      </a:accent1>
      <a:accent2>
        <a:srgbClr val="528DC2"/>
      </a:accent2>
      <a:accent3>
        <a:srgbClr val="7EA939"/>
      </a:accent3>
      <a:accent4>
        <a:srgbClr val="30AEAB"/>
      </a:accent4>
      <a:accent5>
        <a:srgbClr val="31A962"/>
      </a:accent5>
      <a:accent6>
        <a:srgbClr val="78648E"/>
      </a:accent6>
      <a:hlink>
        <a:srgbClr val="7EA939"/>
      </a:hlink>
      <a:folHlink>
        <a:srgbClr val="7F7F7F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4400000" scaled="0"/>
          <a:tileRect/>
        </a:gradFill>
        <a:gradFill flip="none" rotWithShape="1">
          <a:gsLst>
            <a:gs pos="0">
              <a:schemeClr val="phClr">
                <a:lumMod val="20000"/>
                <a:lumOff val="80000"/>
              </a:schemeClr>
            </a:gs>
            <a:gs pos="58000">
              <a:schemeClr val="phClr">
                <a:lumMod val="40000"/>
                <a:lumOff val="60000"/>
              </a:schemeClr>
            </a:gs>
            <a:gs pos="100000">
              <a:schemeClr val="phClr"/>
            </a:gs>
          </a:gsLst>
          <a:lin ang="17400000" scaled="0"/>
          <a:tileRect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5CCB2C71-1ED8-4540-B003-293B5E75C7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9B8BCC-BF24-4800-92E1-9F891BBB27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AACE6D-8EB6-447A-8DFD-C2C0C52916AC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tf02801084</Template>
  <TotalTime>1451</TotalTime>
  <Words>1020</Words>
  <Application>Microsoft Office PowerPoint</Application>
  <PresentationFormat>Personalizado</PresentationFormat>
  <Paragraphs>179</Paragraphs>
  <Slides>29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0" baseType="lpstr">
      <vt:lpstr>tf02801084</vt:lpstr>
      <vt:lpstr>Creación de funciones</vt:lpstr>
      <vt:lpstr>Contenido</vt:lpstr>
      <vt:lpstr>Diapositiva 3</vt:lpstr>
      <vt:lpstr>Creación de funciones</vt:lpstr>
      <vt:lpstr>Creación de funciones</vt:lpstr>
      <vt:lpstr>Creación de funciones</vt:lpstr>
      <vt:lpstr>Creación de Funciones</vt:lpstr>
      <vt:lpstr>Creación de funciones</vt:lpstr>
      <vt:lpstr>Creación de funciones</vt:lpstr>
      <vt:lpstr>Función con dos o más argumentos</vt:lpstr>
      <vt:lpstr>Diapositiva 11</vt:lpstr>
      <vt:lpstr>¿ Como acceder al código fuente de las funciones de R?</vt:lpstr>
      <vt:lpstr>Condicionales if() {}  else {}</vt:lpstr>
      <vt:lpstr>Condicionales if() {}  else {}  o función ifelse()</vt:lpstr>
      <vt:lpstr>Diapositiva 15</vt:lpstr>
      <vt:lpstr>Condicionales</vt:lpstr>
      <vt:lpstr>Diapositiva 17</vt:lpstr>
      <vt:lpstr>Ciclo for()</vt:lpstr>
      <vt:lpstr>Ciclo for()</vt:lpstr>
      <vt:lpstr>Ciclo while()</vt:lpstr>
      <vt:lpstr>Ciclo while()</vt:lpstr>
      <vt:lpstr>Ciclo repeat</vt:lpstr>
      <vt:lpstr>Familia de funciones apply, sapply, lapply, tapply</vt:lpstr>
      <vt:lpstr>Familia de funciones apply, sapply, lapply, tapply</vt:lpstr>
      <vt:lpstr>Familia de funciones apply, sapply, lapply, tapply</vt:lpstr>
      <vt:lpstr>Familia de funciones apply, sapply, lapply, tapply</vt:lpstr>
      <vt:lpstr>Valores faltantes NA</vt:lpstr>
      <vt:lpstr>Valores faltantes NA</vt:lpstr>
      <vt:lpstr>Valores faltantes NA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Andres</dc:creator>
  <cp:lastModifiedBy>Andres</cp:lastModifiedBy>
  <cp:revision>180</cp:revision>
  <dcterms:created xsi:type="dcterms:W3CDTF">2018-04-11T20:09:05Z</dcterms:created>
  <dcterms:modified xsi:type="dcterms:W3CDTF">2018-05-07T08:38:18Z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